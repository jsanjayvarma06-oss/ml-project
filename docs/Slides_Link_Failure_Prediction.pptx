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Fault in span 1</c:v>
                </c:pt>
              </c:strCache>
            </c:strRef>
          </c:tx>
          <c:spPr>
            <a:ln w="38100">
              <a:solidFill>
                <a:srgbClr val="EB6834"/>
              </a:solidFill>
            </a:ln>
          </c:spPr>
          <c:marker>
            <c:symbol val="none"/>
          </c:marker>
          <c:xVal>
            <c:numRef>
              <c:f>Sheet1!$A$2:$A$30</c:f>
              <c:numCache>
                <c:formatCode>General</c:formatCode>
                <c:ptCount val="29"/>
                <c:pt idx="0">
                  <c:v>0.0</c:v>
                </c:pt>
                <c:pt idx="1">
                  <c:v>0.5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pt idx="25">
                  <c:v>12.5</c:v>
                </c:pt>
                <c:pt idx="26">
                  <c:v>13.0</c:v>
                </c:pt>
                <c:pt idx="27">
                  <c:v>13.5</c:v>
                </c:pt>
                <c:pt idx="28">
                  <c:v>14.0</c:v>
                </c:pt>
              </c:numCache>
            </c:numRef>
          </c:xVal>
          <c:yVal>
            <c:numRef>
              <c:f>Sheet1!$B$2:$B$30</c:f>
              <c:numCache>
                <c:formatCode>General</c:formatCode>
                <c:ptCount val="29"/>
                <c:pt idx="0">
                  <c:v>19.88</c:v>
                </c:pt>
                <c:pt idx="1">
                  <c:v>20.07</c:v>
                </c:pt>
                <c:pt idx="2">
                  <c:v>20.13</c:v>
                </c:pt>
                <c:pt idx="3">
                  <c:v>20.08</c:v>
                </c:pt>
                <c:pt idx="4">
                  <c:v>19.94</c:v>
                </c:pt>
                <c:pt idx="5">
                  <c:v>19.71</c:v>
                </c:pt>
                <c:pt idx="6">
                  <c:v>19.41</c:v>
                </c:pt>
                <c:pt idx="7">
                  <c:v>19.06</c:v>
                </c:pt>
                <c:pt idx="8">
                  <c:v>18.68</c:v>
                </c:pt>
                <c:pt idx="9">
                  <c:v>18.26</c:v>
                </c:pt>
                <c:pt idx="10">
                  <c:v>17.82</c:v>
                </c:pt>
                <c:pt idx="11">
                  <c:v>17.37</c:v>
                </c:pt>
                <c:pt idx="12">
                  <c:v>16.91</c:v>
                </c:pt>
                <c:pt idx="13">
                  <c:v>16.43</c:v>
                </c:pt>
                <c:pt idx="14">
                  <c:v>15.95</c:v>
                </c:pt>
                <c:pt idx="15">
                  <c:v>15.46</c:v>
                </c:pt>
                <c:pt idx="16">
                  <c:v>14.98</c:v>
                </c:pt>
                <c:pt idx="17">
                  <c:v>14.48</c:v>
                </c:pt>
                <c:pt idx="18">
                  <c:v>13.99</c:v>
                </c:pt>
                <c:pt idx="19">
                  <c:v>13.5</c:v>
                </c:pt>
                <c:pt idx="20">
                  <c:v>13.0</c:v>
                </c:pt>
                <c:pt idx="21">
                  <c:v>12.51</c:v>
                </c:pt>
                <c:pt idx="22">
                  <c:v>12.01</c:v>
                </c:pt>
                <c:pt idx="23">
                  <c:v>11.51</c:v>
                </c:pt>
                <c:pt idx="24">
                  <c:v>11.01</c:v>
                </c:pt>
                <c:pt idx="25">
                  <c:v>10.51</c:v>
                </c:pt>
                <c:pt idx="26">
                  <c:v>10.02</c:v>
                </c:pt>
                <c:pt idx="27">
                  <c:v>9.52</c:v>
                </c:pt>
                <c:pt idx="28">
                  <c:v>9.02</c:v>
                </c:pt>
              </c:numCache>
            </c:numRef>
          </c:yVal>
          <c:smooth val="0"/>
        </c:ser>
        <c:ser>
          <c:idx val="1"/>
          <c:order val="1"/>
          <c:tx>
            <c:strRef>
              <c:f>Sheet1!$B$32</c:f>
              <c:strCache>
                <c:ptCount val="1"/>
                <c:pt idx="0">
                  <c:v>Fault in span 10</c:v>
                </c:pt>
              </c:strCache>
            </c:strRef>
          </c:tx>
          <c:spPr>
            <a:ln w="38100">
              <a:solidFill>
                <a:srgbClr val="2A78D6"/>
              </a:solidFill>
            </a:ln>
          </c:spPr>
          <c:marker>
            <c:symbol val="none"/>
          </c:marker>
          <c:xVal>
            <c:numRef>
              <c:f>Sheet1!$A$33:$A$61</c:f>
              <c:numCache>
                <c:formatCode>General</c:formatCode>
                <c:ptCount val="29"/>
                <c:pt idx="0">
                  <c:v>0.0</c:v>
                </c:pt>
                <c:pt idx="1">
                  <c:v>0.5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pt idx="25">
                  <c:v>12.5</c:v>
                </c:pt>
                <c:pt idx="26">
                  <c:v>13.0</c:v>
                </c:pt>
                <c:pt idx="27">
                  <c:v>13.5</c:v>
                </c:pt>
                <c:pt idx="28">
                  <c:v>14.0</c:v>
                </c:pt>
              </c:numCache>
            </c:numRef>
          </c:xVal>
          <c:yVal>
            <c:numRef>
              <c:f>Sheet1!$B$33:$B$61</c:f>
              <c:numCache>
                <c:formatCode>General</c:formatCode>
                <c:ptCount val="29"/>
                <c:pt idx="0">
                  <c:v>19.88</c:v>
                </c:pt>
                <c:pt idx="1">
                  <c:v>19.99</c:v>
                </c:pt>
                <c:pt idx="2">
                  <c:v>20.03</c:v>
                </c:pt>
                <c:pt idx="3">
                  <c:v>20.02</c:v>
                </c:pt>
                <c:pt idx="4">
                  <c:v>19.96</c:v>
                </c:pt>
                <c:pt idx="5">
                  <c:v>19.86</c:v>
                </c:pt>
                <c:pt idx="6">
                  <c:v>19.72</c:v>
                </c:pt>
                <c:pt idx="7">
                  <c:v>19.54</c:v>
                </c:pt>
                <c:pt idx="8">
                  <c:v>19.34</c:v>
                </c:pt>
                <c:pt idx="9">
                  <c:v>19.11</c:v>
                </c:pt>
                <c:pt idx="10">
                  <c:v>18.86</c:v>
                </c:pt>
                <c:pt idx="11">
                  <c:v>18.59</c:v>
                </c:pt>
                <c:pt idx="12">
                  <c:v>18.29</c:v>
                </c:pt>
                <c:pt idx="13">
                  <c:v>17.98</c:v>
                </c:pt>
                <c:pt idx="14">
                  <c:v>17.66</c:v>
                </c:pt>
                <c:pt idx="15">
                  <c:v>17.31</c:v>
                </c:pt>
                <c:pt idx="16">
                  <c:v>16.96</c:v>
                </c:pt>
                <c:pt idx="17">
                  <c:v>16.59</c:v>
                </c:pt>
                <c:pt idx="18">
                  <c:v>16.21</c:v>
                </c:pt>
                <c:pt idx="19">
                  <c:v>15.82</c:v>
                </c:pt>
                <c:pt idx="20">
                  <c:v>15.42</c:v>
                </c:pt>
                <c:pt idx="21">
                  <c:v>15.01</c:v>
                </c:pt>
                <c:pt idx="22">
                  <c:v>14.59</c:v>
                </c:pt>
                <c:pt idx="23">
                  <c:v>14.17</c:v>
                </c:pt>
                <c:pt idx="24">
                  <c:v>13.73</c:v>
                </c:pt>
                <c:pt idx="25">
                  <c:v>13.3</c:v>
                </c:pt>
                <c:pt idx="26">
                  <c:v>12.85</c:v>
                </c:pt>
                <c:pt idx="27">
                  <c:v>12.4</c:v>
                </c:pt>
                <c:pt idx="28">
                  <c:v>11.94</c:v>
                </c:pt>
              </c:numCache>
            </c:numRef>
          </c:yVal>
          <c:smooth val="0"/>
        </c:ser>
        <c:ser>
          <c:idx val="2"/>
          <c:order val="2"/>
          <c:tx>
            <c:strRef>
              <c:f>Sheet1!$B$63</c:f>
              <c:strCache>
                <c:ptCount val="1"/>
                <c:pt idx="0">
                  <c:v>Fault in span 19</c:v>
                </c:pt>
              </c:strCache>
            </c:strRef>
          </c:tx>
          <c:spPr>
            <a:ln w="38100">
              <a:solidFill>
                <a:srgbClr val="1BAF7A"/>
              </a:solidFill>
            </a:ln>
          </c:spPr>
          <c:marker>
            <c:symbol val="none"/>
          </c:marker>
          <c:xVal>
            <c:numRef>
              <c:f>Sheet1!$A$64:$A$92</c:f>
              <c:numCache>
                <c:formatCode>General</c:formatCode>
                <c:ptCount val="29"/>
                <c:pt idx="0">
                  <c:v>0.0</c:v>
                </c:pt>
                <c:pt idx="1">
                  <c:v>0.5</c:v>
                </c:pt>
                <c:pt idx="2">
                  <c:v>1.0</c:v>
                </c:pt>
                <c:pt idx="3">
                  <c:v>1.5</c:v>
                </c:pt>
                <c:pt idx="4">
                  <c:v>2.0</c:v>
                </c:pt>
                <c:pt idx="5">
                  <c:v>2.5</c:v>
                </c:pt>
                <c:pt idx="6">
                  <c:v>3.0</c:v>
                </c:pt>
                <c:pt idx="7">
                  <c:v>3.5</c:v>
                </c:pt>
                <c:pt idx="8">
                  <c:v>4.0</c:v>
                </c:pt>
                <c:pt idx="9">
                  <c:v>4.5</c:v>
                </c:pt>
                <c:pt idx="10">
                  <c:v>5.0</c:v>
                </c:pt>
                <c:pt idx="11">
                  <c:v>5.5</c:v>
                </c:pt>
                <c:pt idx="12">
                  <c:v>6.0</c:v>
                </c:pt>
                <c:pt idx="13">
                  <c:v>6.5</c:v>
                </c:pt>
                <c:pt idx="14">
                  <c:v>7.0</c:v>
                </c:pt>
                <c:pt idx="15">
                  <c:v>7.5</c:v>
                </c:pt>
                <c:pt idx="16">
                  <c:v>8.0</c:v>
                </c:pt>
                <c:pt idx="17">
                  <c:v>8.5</c:v>
                </c:pt>
                <c:pt idx="18">
                  <c:v>9.0</c:v>
                </c:pt>
                <c:pt idx="19">
                  <c:v>9.5</c:v>
                </c:pt>
                <c:pt idx="20">
                  <c:v>10.0</c:v>
                </c:pt>
                <c:pt idx="21">
                  <c:v>10.5</c:v>
                </c:pt>
                <c:pt idx="22">
                  <c:v>11.0</c:v>
                </c:pt>
                <c:pt idx="23">
                  <c:v>11.5</c:v>
                </c:pt>
                <c:pt idx="24">
                  <c:v>12.0</c:v>
                </c:pt>
                <c:pt idx="25">
                  <c:v>12.5</c:v>
                </c:pt>
                <c:pt idx="26">
                  <c:v>13.0</c:v>
                </c:pt>
                <c:pt idx="27">
                  <c:v>13.5</c:v>
                </c:pt>
                <c:pt idx="28">
                  <c:v>14.0</c:v>
                </c:pt>
              </c:numCache>
            </c:numRef>
          </c:xVal>
          <c:yVal>
            <c:numRef>
              <c:f>Sheet1!$B$64:$B$92</c:f>
              <c:numCache>
                <c:formatCode>General</c:formatCode>
                <c:ptCount val="29"/>
                <c:pt idx="0">
                  <c:v>19.88</c:v>
                </c:pt>
                <c:pt idx="1">
                  <c:v>19.87</c:v>
                </c:pt>
                <c:pt idx="2">
                  <c:v>19.85</c:v>
                </c:pt>
                <c:pt idx="3">
                  <c:v>19.84</c:v>
                </c:pt>
                <c:pt idx="4">
                  <c:v>19.82</c:v>
                </c:pt>
                <c:pt idx="5">
                  <c:v>19.8</c:v>
                </c:pt>
                <c:pt idx="6">
                  <c:v>19.77</c:v>
                </c:pt>
                <c:pt idx="7">
                  <c:v>19.75</c:v>
                </c:pt>
                <c:pt idx="8">
                  <c:v>19.72</c:v>
                </c:pt>
                <c:pt idx="9">
                  <c:v>19.68</c:v>
                </c:pt>
                <c:pt idx="10">
                  <c:v>19.65</c:v>
                </c:pt>
                <c:pt idx="11">
                  <c:v>19.6</c:v>
                </c:pt>
                <c:pt idx="12">
                  <c:v>19.56</c:v>
                </c:pt>
                <c:pt idx="13">
                  <c:v>19.51</c:v>
                </c:pt>
                <c:pt idx="14">
                  <c:v>19.45</c:v>
                </c:pt>
                <c:pt idx="15">
                  <c:v>19.39</c:v>
                </c:pt>
                <c:pt idx="16">
                  <c:v>19.32</c:v>
                </c:pt>
                <c:pt idx="17">
                  <c:v>19.25</c:v>
                </c:pt>
                <c:pt idx="18">
                  <c:v>19.16</c:v>
                </c:pt>
                <c:pt idx="19">
                  <c:v>19.07</c:v>
                </c:pt>
                <c:pt idx="20">
                  <c:v>18.97</c:v>
                </c:pt>
                <c:pt idx="21">
                  <c:v>18.86</c:v>
                </c:pt>
                <c:pt idx="22">
                  <c:v>18.74</c:v>
                </c:pt>
                <c:pt idx="23">
                  <c:v>18.61</c:v>
                </c:pt>
                <c:pt idx="24">
                  <c:v>18.46</c:v>
                </c:pt>
                <c:pt idx="25">
                  <c:v>18.31</c:v>
                </c:pt>
                <c:pt idx="26">
                  <c:v>18.14</c:v>
                </c:pt>
                <c:pt idx="27">
                  <c:v>17.96</c:v>
                </c:pt>
                <c:pt idx="28">
                  <c:v>17.77</c:v>
                </c:pt>
              </c:numCache>
            </c:numRef>
          </c:yVal>
          <c:smooth val="0"/>
        </c:ser>
        <c:ser>
          <c:idx val="3"/>
          <c:order val="3"/>
          <c:tx>
            <c:strRef>
              <c:f>Sheet1!$B$94</c:f>
              <c:strCache>
                <c:ptCount val="1"/>
                <c:pt idx="0">
                  <c:v>Unhealthy below 17 dB</c:v>
                </c:pt>
              </c:strCache>
            </c:strRef>
          </c:tx>
          <c:spPr>
            <a:ln w="22225">
              <a:solidFill>
                <a:srgbClr val="52514E"/>
              </a:solidFill>
              <a:prstDash val="dash"/>
            </a:ln>
          </c:spPr>
          <c:marker>
            <c:symbol val="none"/>
          </c:marker>
          <c:xVal>
            <c:numRef>
              <c:f>Sheet1!$A$95:$A$96</c:f>
              <c:numCache>
                <c:formatCode>General</c:formatCode>
                <c:ptCount val="2"/>
                <c:pt idx="0">
                  <c:v>0.0</c:v>
                </c:pt>
                <c:pt idx="1">
                  <c:v>14.0</c:v>
                </c:pt>
              </c:numCache>
            </c:numRef>
          </c:xVal>
          <c:yVal>
            <c:numRef>
              <c:f>Sheet1!$B$95:$B$96</c:f>
              <c:numCache>
                <c:formatCode>General</c:formatCode>
                <c:ptCount val="2"/>
                <c:pt idx="0">
                  <c:v>17.0</c:v>
                </c:pt>
                <c:pt idx="1">
                  <c:v>17.0</c:v>
                </c:pt>
              </c:numCache>
            </c:numRef>
          </c:yVal>
          <c:smooth val="0"/>
        </c:ser>
        <c:ser>
          <c:idx val="4"/>
          <c:order val="4"/>
          <c:tx>
            <c:strRef>
              <c:f>Sheet1!$B$98</c:f>
              <c:strCache>
                <c:ptCount val="1"/>
                <c:pt idx="0">
                  <c:v>Rx-power alarm (7 dB)</c:v>
                </c:pt>
              </c:strCache>
            </c:strRef>
          </c:tx>
          <c:spPr>
            <a:ln w="22225">
              <a:solidFill>
                <a:srgbClr val="B0AFA8"/>
              </a:solidFill>
              <a:prstDash val="dash"/>
            </a:ln>
          </c:spPr>
          <c:marker>
            <c:symbol val="none"/>
          </c:marker>
          <c:xVal>
            <c:numRef>
              <c:f>Sheet1!$A$99:$A$100</c:f>
              <c:numCache>
                <c:formatCode>General</c:formatCode>
                <c:ptCount val="2"/>
                <c:pt idx="0">
                  <c:v>7.0</c:v>
                </c:pt>
                <c:pt idx="1">
                  <c:v>7.0</c:v>
                </c:pt>
              </c:numCache>
            </c:numRef>
          </c:xVal>
          <c:yVal>
            <c:numRef>
              <c:f>Sheet1!$B$99:$B$100</c:f>
              <c:numCache>
                <c:formatCode>General</c:formatCode>
                <c:ptCount val="2"/>
                <c:pt idx="0">
                  <c:v>10.0</c:v>
                </c:pt>
                <c:pt idx="1">
                  <c:v>21.0</c:v>
                </c:pt>
              </c:numCache>
            </c:numRef>
          </c:yVal>
          <c:smooth val="0"/>
        </c:ser>
        <c:axId val="-2128940872"/>
        <c:axId val="-2129643912"/>
      </c:scatterChart>
      <c:valAx>
        <c:axId val="-2128940872"/>
        <c:scaling>
          <c:orientation val="minMax"/>
          <c:max val="14.0"/>
          <c:min val="0.0"/>
        </c:scaling>
        <c:delete val="0"/>
        <c:axPos val="b"/>
        <c:title>
          <c:tx>
            <c:rich>
              <a:bodyPr/>
              <a:lstStyle/>
              <a:p>
                <a:r>
                  <a:rPr sz="1200" b="0">
                    <a:solidFill>
                      <a:srgbClr val="52514E"/>
                    </a:solidFill>
                  </a:rPr>
                  <a:t>Extra loss injected into one span [dB]</a:t>
                </a:r>
              </a:p>
            </c:rich>
          </c:tx>
          <c:layout/>
          <c:overlay val="0"/>
        </c:title>
        <c:numFmt formatCode="General" sourceLinked="1"/>
        <c:majorTickMark val="out"/>
        <c:minorTickMark val="none"/>
        <c:tickLblPos val="nextTo"/>
        <c:spPr>
          <a:ln>
            <a:solidFill>
              <a:srgbClr val="B0AFA8"/>
            </a:solidFill>
          </a:ln>
        </c:spPr>
        <c:txPr>
          <a:bodyPr/>
          <a:lstStyle/>
          <a:p>
            <a:pPr>
              <a:defRPr sz="1200"/>
            </a:pPr>
          </a:p>
        </c:txPr>
        <c:crossAx val="-2129643912"/>
        <c:crosses val="autoZero"/>
        <c:crossBetween val="midCat"/>
        <c:majorUnit val="2.0"/>
      </c:valAx>
      <c:valAx>
        <c:axId val="-2129643912"/>
        <c:scaling>
          <c:orientation val="minMax"/>
          <c:max val="21.0"/>
          <c:min val="10.0"/>
        </c:scaling>
        <c:delete val="0"/>
        <c:axPos val="l"/>
        <c:majorGridlines>
          <c:spPr>
            <a:ln w="9525">
              <a:solidFill>
                <a:srgbClr val="E4E3DF"/>
              </a:solidFill>
            </a:ln>
          </c:spPr>
        </c:majorGridlines>
        <c:title>
          <c:tx>
            <c:rich>
              <a:bodyPr/>
              <a:lstStyle/>
              <a:p>
                <a:r>
                  <a:rPr sz="1200" b="0">
                    <a:solidFill>
                      <a:srgbClr val="52514E"/>
                    </a:solidFill>
                  </a:rPr>
                  <a:t>Link OSNR [dB]</a:t>
                </a:r>
              </a:p>
            </c:rich>
          </c:tx>
          <c:layout/>
          <c:overlay val="0"/>
        </c:title>
        <c:numFmt formatCode="General" sourceLinked="1"/>
        <c:majorTickMark val="out"/>
        <c:minorTickMark val="none"/>
        <c:tickLblPos val="nextTo"/>
        <c:spPr>
          <a:ln>
            <a:noFill/>
          </a:ln>
        </c:spPr>
        <c:txPr>
          <a:bodyPr/>
          <a:lstStyle/>
          <a:p>
            <a:pPr>
              <a:defRPr sz="1100"/>
            </a:pPr>
          </a:p>
        </c:txPr>
        <c:crossAx val="-2128940872"/>
        <c:crosses val="autoZero"/>
        <c:crossBetween val="midCat"/>
      </c:valAx>
    </c:plotArea>
    <c:legend>
      <c:legendPos val="t"/>
      <c:layout/>
      <c:overlay val="0"/>
      <c:txPr>
        <a:bodyPr/>
        <a:lstStyle/>
        <a:p>
          <a:pPr>
            <a:defRPr sz="1200">
              <a:solidFill>
                <a:srgbClr val="1A1A19"/>
              </a:solidFill>
            </a:defRPr>
          </a:pPr>
        </a:p>
      </c:txPr>
    </c:legend>
    <c:plotVisOnly val="1"/>
    <c:dispBlanksAs val="gap"/>
    <c:showDLblsOverMax val="0"/>
  </c:chart>
  <c:txPr>
    <a:bodyPr/>
    <a:lstStyle/>
    <a:p>
      <a:pPr>
        <a:defRPr sz="1200">
          <a:solidFill>
            <a:srgbClr val="52514E"/>
          </a:solidFill>
          <a:latin typeface="Calibri"/>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Paper</c:v>
                </c:pt>
              </c:strCache>
            </c:strRef>
          </c:tx>
          <c:spPr>
            <a:solidFill>
              <a:srgbClr val="B0AFA8"/>
            </a:solidFill>
          </c:spPr>
          <c:cat>
            <c:strRef>
              <c:f>Sheet1!$A$2:$A$4</c:f>
              <c:strCache>
                <c:ptCount val="3"/>
                <c:pt idx="0">
                  <c:v>Logistic Regression</c:v>
                </c:pt>
                <c:pt idx="1">
                  <c:v>GDA</c:v>
                </c:pt>
                <c:pt idx="2">
                  <c:v>Linear SVM</c:v>
                </c:pt>
              </c:strCache>
            </c:strRef>
          </c:cat>
          <c:val>
            <c:numRef>
              <c:f>Sheet1!$B$2:$B$4</c:f>
              <c:numCache>
                <c:formatCode>General</c:formatCode>
                <c:ptCount val="3"/>
                <c:pt idx="0">
                  <c:v>99.0</c:v>
                </c:pt>
                <c:pt idx="1">
                  <c:v>97.0</c:v>
                </c:pt>
                <c:pt idx="2">
                  <c:v>99.0</c:v>
                </c:pt>
              </c:numCache>
            </c:numRef>
          </c:val>
        </c:ser>
        <c:ser>
          <c:idx val="1"/>
          <c:order val="1"/>
          <c:tx>
            <c:strRef>
              <c:f>Sheet1!$C$1</c:f>
              <c:strCache>
                <c:ptCount val="1"/>
                <c:pt idx="0">
                  <c:v>This project</c:v>
                </c:pt>
              </c:strCache>
            </c:strRef>
          </c:tx>
          <c:spPr>
            <a:solidFill>
              <a:srgbClr val="2A78D6"/>
            </a:solidFill>
          </c:spPr>
          <c:cat>
            <c:strRef>
              <c:f>Sheet1!$A$2:$A$4</c:f>
              <c:strCache>
                <c:ptCount val="3"/>
                <c:pt idx="0">
                  <c:v>Logistic Regression</c:v>
                </c:pt>
                <c:pt idx="1">
                  <c:v>GDA</c:v>
                </c:pt>
                <c:pt idx="2">
                  <c:v>Linear SVM</c:v>
                </c:pt>
              </c:strCache>
            </c:strRef>
          </c:cat>
          <c:val>
            <c:numRef>
              <c:f>Sheet1!$C$2:$C$4</c:f>
              <c:numCache>
                <c:formatCode>General</c:formatCode>
                <c:ptCount val="3"/>
                <c:pt idx="0">
                  <c:v>96.5</c:v>
                </c:pt>
                <c:pt idx="1">
                  <c:v>88.9</c:v>
                </c:pt>
                <c:pt idx="2">
                  <c:v>96.6</c:v>
                </c:pt>
              </c:numCache>
            </c:numRef>
          </c:val>
        </c:ser>
        <c:dLbls>
          <c:numFmt formatCode="0.0&quot;%&quot;" sourceLinked="0"/>
          <c:txPr>
            <a:bodyPr/>
            <a:lstStyle/>
            <a:p>
              <a:pPr>
                <a:defRPr sz="1300" b="1"/>
              </a:pPr>
            </a:p>
          </c:txPr>
          <c:dLblPos val="outEnd"/>
          <c:showLegendKey val="0"/>
          <c:showVal val="1"/>
          <c:showCatName val="0"/>
          <c:showSerName val="0"/>
          <c:showPercent val="0"/>
          <c:showBubbleSize val="0"/>
          <c:showLeaderLines val="1"/>
        </c:dLbls>
        <c:gapWidth val="70"/>
        <c:overlap val="-8"/>
        <c:axId val="-2068027336"/>
        <c:axId val="-2113994440"/>
      </c:barChart>
      <c:catAx>
        <c:axId val="-2068027336"/>
        <c:scaling>
          <c:orientation val="minMax"/>
        </c:scaling>
        <c:delete val="0"/>
        <c:axPos val="b"/>
        <c:majorTickMark val="out"/>
        <c:minorTickMark val="none"/>
        <c:tickLblPos val="nextTo"/>
        <c:spPr>
          <a:ln>
            <a:solidFill>
              <a:srgbClr val="B0AFA8"/>
            </a:solidFill>
          </a:ln>
        </c:spPr>
        <c:txPr>
          <a:bodyPr/>
          <a:lstStyle/>
          <a:p>
            <a:pPr>
              <a:defRPr sz="1300"/>
            </a:pPr>
          </a:p>
        </c:txPr>
        <c:crossAx val="-2113994440"/>
        <c:crosses val="autoZero"/>
        <c:auto val="1"/>
        <c:lblAlgn val="ctr"/>
        <c:lblOffset val="100"/>
        <c:noMultiLvlLbl val="0"/>
      </c:catAx>
      <c:valAx>
        <c:axId val="-2113994440"/>
        <c:scaling>
          <c:max val="100.0"/>
          <c:min val="80.0"/>
        </c:scaling>
        <c:delete val="0"/>
        <c:axPos val="l"/>
        <c:majorGridlines>
          <c:spPr>
            <a:ln w="9525">
              <a:solidFill>
                <a:srgbClr val="E4E3DF"/>
              </a:solidFill>
            </a:ln>
          </c:spPr>
        </c:majorGridlines>
        <c:title>
          <c:tx>
            <c:rich>
              <a:bodyPr/>
              <a:lstStyle/>
              <a:p>
                <a:r>
                  <a:rPr sz="1200" b="0">
                    <a:solidFill>
                      <a:srgbClr val="52514E"/>
                    </a:solidFill>
                  </a:rPr>
                  <a:t>Test accuracy [%]  (axis starts at 80)</a:t>
                </a:r>
              </a:p>
            </c:rich>
          </c:tx>
          <c:layout/>
          <c:overlay val="0"/>
        </c:title>
        <c:majorTickMark val="out"/>
        <c:minorTickMark val="none"/>
        <c:tickLblPos val="nextTo"/>
        <c:spPr>
          <a:ln>
            <a:noFill/>
          </a:ln>
        </c:spPr>
        <c:txPr>
          <a:bodyPr/>
          <a:lstStyle/>
          <a:p>
            <a:pPr>
              <a:defRPr sz="1200"/>
            </a:pPr>
          </a:p>
        </c:txPr>
        <c:crossAx val="-2068027336"/>
        <c:crosses val="autoZero"/>
        <c:majorUnit val="5.0"/>
      </c:valAx>
    </c:plotArea>
    <c:legend>
      <c:legendPos val="t"/>
      <c:overlay val="0"/>
      <c:txPr>
        <a:bodyPr/>
        <a:lstStyle/>
        <a:p>
          <a:pPr>
            <a:defRPr sz="1300">
              <a:solidFill>
                <a:srgbClr val="1A1A19"/>
              </a:solidFill>
            </a:defRPr>
          </a:pPr>
        </a:p>
      </c:txPr>
    </c:legend>
    <c:dispBlanksAs val="gap"/>
  </c:chart>
  <c:txPr>
    <a:bodyPr/>
    <a:lstStyle/>
    <a:p>
      <a:pPr>
        <a:defRPr sz="1300">
          <a:solidFill>
            <a:srgbClr val="52514E"/>
          </a:solidFill>
          <a:latin typeface="Calibri"/>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Test accuracy</c:v>
                </c:pt>
              </c:strCache>
            </c:strRef>
          </c:tx>
          <c:spPr>
            <a:solidFill>
              <a:srgbClr val="2A78D6"/>
            </a:solidFill>
          </c:spPr>
          <c:dPt>
            <c:idx val="0"/>
            <c:spPr>
              <a:solidFill>
                <a:srgbClr val="1BAF7A"/>
              </a:solidFill>
            </c:spPr>
          </c:dPt>
          <c:dPt>
            <c:idx val="1"/>
            <c:spPr>
              <a:solidFill>
                <a:srgbClr val="1BAF7A"/>
              </a:solidFill>
            </c:spPr>
          </c:dPt>
          <c:dPt>
            <c:idx val="2"/>
            <c:spPr>
              <a:solidFill>
                <a:srgbClr val="2A78D6"/>
              </a:solidFill>
            </c:spPr>
          </c:dPt>
          <c:dPt>
            <c:idx val="3"/>
            <c:spPr>
              <a:solidFill>
                <a:srgbClr val="EB6834"/>
              </a:solidFill>
            </c:spPr>
          </c:dPt>
          <c:dPt>
            <c:idx val="4"/>
            <c:spPr>
              <a:solidFill>
                <a:srgbClr val="2A78D6"/>
              </a:solidFill>
            </c:spPr>
          </c:dPt>
          <c:cat>
            <c:strRef>
              <c:f>Sheet1!$A$2:$A$6</c:f>
              <c:strCache>
                <c:ptCount val="5"/>
                <c:pt idx="0">
                  <c:v>LR + 38 per-span features *</c:v>
                </c:pt>
                <c:pt idx="1">
                  <c:v>SVM, RBF kernel *</c:v>
                </c:pt>
                <c:pt idx="2">
                  <c:v>Linear SVM</c:v>
                </c:pt>
                <c:pt idx="3">
                  <c:v>GDA</c:v>
                </c:pt>
                <c:pt idx="4">
                  <c:v>Logistic Regression</c:v>
                </c:pt>
              </c:strCache>
            </c:strRef>
          </c:cat>
          <c:val>
            <c:numRef>
              <c:f>Sheet1!$B$2:$B$6</c:f>
              <c:numCache>
                <c:formatCode>General</c:formatCode>
                <c:ptCount val="5"/>
                <c:pt idx="0">
                  <c:v>97.4</c:v>
                </c:pt>
                <c:pt idx="1">
                  <c:v>97.2</c:v>
                </c:pt>
                <c:pt idx="2">
                  <c:v>96.6</c:v>
                </c:pt>
                <c:pt idx="3">
                  <c:v>88.9</c:v>
                </c:pt>
                <c:pt idx="4">
                  <c:v>96.5</c:v>
                </c:pt>
              </c:numCache>
            </c:numRef>
          </c:val>
        </c:ser>
        <c:dLbls>
          <c:numFmt formatCode="0.0&quot;%&quot;" sourceLinked="0"/>
          <c:txPr>
            <a:bodyPr/>
            <a:lstStyle/>
            <a:p>
              <a:pPr>
                <a:defRPr sz="1200" b="1"/>
              </a:pPr>
            </a:p>
          </c:txPr>
          <c:dLblPos val="outEnd"/>
          <c:showLegendKey val="0"/>
          <c:showVal val="1"/>
          <c:showCatName val="0"/>
          <c:showSerName val="0"/>
          <c:showPercent val="0"/>
          <c:showBubbleSize val="0"/>
          <c:showLeaderLines val="1"/>
        </c:dLbls>
        <c:gapWidth val="55"/>
        <c:axId val="-2068027336"/>
        <c:axId val="-2113994440"/>
      </c:barChart>
      <c:catAx>
        <c:axId val="-2068027336"/>
        <c:scaling>
          <c:orientation val="minMax"/>
        </c:scaling>
        <c:delete val="0"/>
        <c:axPos val="l"/>
        <c:majorTickMark val="out"/>
        <c:minorTickMark val="none"/>
        <c:tickLblPos val="nextTo"/>
        <c:spPr>
          <a:ln>
            <a:solidFill>
              <a:srgbClr val="B0AFA8"/>
            </a:solidFill>
          </a:ln>
        </c:spPr>
        <c:txPr>
          <a:bodyPr/>
          <a:lstStyle/>
          <a:p>
            <a:pPr>
              <a:defRPr sz="1200"/>
            </a:pPr>
          </a:p>
        </c:txPr>
        <c:crossAx val="-2113994440"/>
        <c:crosses val="autoZero"/>
        <c:auto val="1"/>
        <c:lblAlgn val="ctr"/>
        <c:lblOffset val="100"/>
        <c:noMultiLvlLbl val="0"/>
      </c:catAx>
      <c:valAx>
        <c:axId val="-2113994440"/>
        <c:scaling>
          <c:max val="100.0"/>
          <c:min val="85.0"/>
        </c:scaling>
        <c:delete val="0"/>
        <c:axPos val="b"/>
        <c:majorGridlines>
          <c:spPr>
            <a:ln w="9525">
              <a:solidFill>
                <a:srgbClr val="E4E3DF"/>
              </a:solidFill>
            </a:ln>
          </c:spPr>
        </c:majorGridlines>
        <c:majorTickMark val="out"/>
        <c:minorTickMark val="none"/>
        <c:tickLblPos val="nextTo"/>
        <c:spPr>
          <a:ln>
            <a:noFill/>
          </a:ln>
        </c:spPr>
        <c:txPr>
          <a:bodyPr/>
          <a:lstStyle/>
          <a:p>
            <a:pPr>
              <a:defRPr sz="1100"/>
            </a:pPr>
          </a:p>
        </c:txPr>
        <c:crossAx val="-2068027336"/>
        <c:crosses val="autoZero"/>
        <c:majorUnit val="5.0"/>
      </c:valAx>
    </c:plotArea>
    <c:dispBlanksAs val="gap"/>
  </c:chart>
  <c:txPr>
    <a:bodyPr/>
    <a:lstStyle/>
    <a:p>
      <a:pPr>
        <a:defRPr sz="1200">
          <a:solidFill>
            <a:srgbClr val="52514E"/>
          </a:solidFill>
          <a:latin typeface="Calibri"/>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Introduce the team. One sentence: we reproduce and extend a Stanford paper that predicts optical link failures from span-loss and amplifier-gain telemetry and then localises the failing span. Split: Sanjay covers problem, data and preprocessing, localisation and demo; Kanak covers models, results, implementation and conclusions.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Contrast the two flows. Reactive: customers notice first, then engineers search 19 spans. Proactive: the model raises the alarm during the slow degradation and points at the span, so the repair can be scheduled. We test the paper's claim that this needs only two features and a linear model.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Walk the signal left to right. Each amplifier is designed to give back exactly what the previous fibre span lost. The four telemetry numbers are exactly the paper's raw features. The orange span is the kind of fault we want to find.</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Be upfront: the paper's data is private and its appendix link is dead, so we built a simulator with the same format. That gave us something the paper never had: the true location of every fault, so we could actually measure localisation.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Q&amp;A: why simulate? The paper's data is private. The simulator uses constant-gain amplifiers (a power deficit propagates downstream), ASE OSNR per amplifier = 58 + P_in − NF, and the GN model for nonlinear noise. Labels are the physical outcome, not a rule on X1/X2, so the classifier has to learn it.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This chart is computed live from our simulator. Key message for later: X1 and X2 are sums over spans, so they cannot see WHERE the loss happened. That position effect is the main reason accuracy is ~97 % rather than 99 %.</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Walk through linkfail/preprocessing.py. The fibre-cut special case comes straight from the paper: a gap caused by a root-cause failure is filled with the expected cut value, not interpolated. Handover to Kanak for the models.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Why Newton? Two features means a 3×3 Hessian, so each step is trivial and convergence is quadratic (11 steps). GDA vs LR: GDA assumes Gaussian classes, which helps when true and hurts when not. Pegasos: projected stochastic sub-gradient on the primal, step size 1/(λt). Validation against scikit-learn proves the implementations are correct.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The geometry explains everything that follows: a near-linear boundary (so linear models work), and a multi-cluster failure class (so GDA's single-Gaussian assumption will struggle).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LR and SVM learn nearly identical lines with θ1 ≈ θ2: the rule is 'alarm when X1 + X2 drops below about −7 dB', i.e. net power deficit, which is physically right. GDA's line is tilted by the fibre-cut cluster and misses many failures.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Grey bars are the paper's numbers, blue are ours. The ordering LR ≈ SVM &gt; GDA is reproduced. Our absolute numbers are lower because our labels come from OSNR physics in which fault position matters.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'Unseen routes' holds out whole fibre routes, both directions, so it's accuracy on a link the model has never seen; it matches the random split, so the model generalises. Confusion matrices: LR and SVM make ~26 errors each way; GDA misses 151 failures.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Key Q&amp;A point. If the problem were non-linearity, the RBF SVM would jump; it barely moves. Adding per-span residuals helps more, confirming the missing ingredient is fault position, which the paper's two summed features discard by design. The paper's own conclusion — linear is enough — holds.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The paper only claimed localisation; we measured it because the simulator knows the true span. 100 % on detected failures is expected: a real failure leaves a residual far above the 0.1 dB noise. The honest harder number, including minor faults, is 91.6 %.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a:t>
            </a:r>
          </a:p>
          <a:p/>
          <a:p>
            <a:r>
              <a:t>Scenario URLs append to http://localhost:8501 . The screenshot shows scenario 2: X2 = −8.4 dB, OSNR 15.4 dB, LR and SVM flag it, GDA says healthy (wrong), localiser points to span 8 fibre. Fallback if the app fails: python predict.py --snapshot examples/degraded_span7.csv</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Show the repo briefly if time allows. Emphasise reproducibility: same seed, same numbers. Tests check the models against scikit-learn and the Eq. 2 identity (features equal the sum of residuals).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Kanak Pandey</a:t>
            </a:r>
          </a:p>
          <a:p/>
          <a:p>
            <a:r>
              <a:t>Close on the one-line takeaway: cheap features plus a linear model catch failing links, and the same telemetry tells you where to send the engineer. Then open for questions; backup slides follow.</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 &amp; Kanak Pandey</a:t>
            </a:r>
          </a:p>
          <a:p/>
          <a:p>
            <a:r>
              <a:t>Keep this slide hidden during the talk and jump to it if a question comes up.</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Presenter: J Sanjay Varma &amp; Kanak Pandey</a:t>
            </a:r>
          </a:p>
          <a:p/>
          <a:p>
            <a:r>
              <a:t>Reference slide for derivation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TextBox 1"/>
          <p:cNvSpPr txBox="1"/>
          <p:nvPr/>
        </p:nvSpPr>
        <p:spPr>
          <a:xfrm>
            <a:off x="731520" y="685800"/>
            <a:ext cx="8229600" cy="365760"/>
          </a:xfrm>
          <a:prstGeom prst="rect">
            <a:avLst/>
          </a:prstGeom>
          <a:noFill/>
        </p:spPr>
        <p:txBody>
          <a:bodyPr wrap="square" anchor="t" lIns="0" rIns="0" tIns="0" bIns="0">
            <a:spAutoFit/>
          </a:bodyPr>
          <a:lstStyle/>
          <a:p>
            <a:pPr algn="l">
              <a:spcAft>
                <a:spcPts val="600"/>
              </a:spcAft>
            </a:pPr>
            <a:r>
              <a:rPr sz="1300" b="1" i="0">
                <a:solidFill>
                  <a:srgbClr val="CADCFC"/>
                </a:solidFill>
                <a:latin typeface="Calibri"/>
              </a:rPr>
              <a:t>UE24CS352A  ·  MACHINE LEARNING  ·  MINI-PROJECT</a:t>
            </a:r>
          </a:p>
        </p:txBody>
      </p:sp>
      <p:sp>
        <p:nvSpPr>
          <p:cNvPr id="3" name="TextBox 2"/>
          <p:cNvSpPr txBox="1"/>
          <p:nvPr/>
        </p:nvSpPr>
        <p:spPr>
          <a:xfrm>
            <a:off x="731520" y="1325880"/>
            <a:ext cx="10607040" cy="2011680"/>
          </a:xfrm>
          <a:prstGeom prst="rect">
            <a:avLst/>
          </a:prstGeom>
          <a:noFill/>
        </p:spPr>
        <p:txBody>
          <a:bodyPr wrap="square" anchor="t" lIns="0" rIns="0" tIns="0" bIns="0">
            <a:spAutoFit/>
          </a:bodyPr>
          <a:lstStyle/>
          <a:p>
            <a:pPr algn="l">
              <a:spcAft>
                <a:spcPts val="600"/>
              </a:spcAft>
            </a:pPr>
            <a:r>
              <a:rPr sz="4600" b="1" i="0">
                <a:solidFill>
                  <a:srgbClr val="FFFFFF"/>
                </a:solidFill>
                <a:latin typeface="Cambria"/>
              </a:rPr>
              <a:t>Link Failure Prediction &amp; Localization in Cloud-Scale Networks</a:t>
            </a:r>
          </a:p>
        </p:txBody>
      </p:sp>
      <p:sp>
        <p:nvSpPr>
          <p:cNvPr id="4" name="TextBox 3"/>
          <p:cNvSpPr txBox="1"/>
          <p:nvPr/>
        </p:nvSpPr>
        <p:spPr>
          <a:xfrm>
            <a:off x="731520" y="3337560"/>
            <a:ext cx="10515600" cy="548640"/>
          </a:xfrm>
          <a:prstGeom prst="rect">
            <a:avLst/>
          </a:prstGeom>
          <a:noFill/>
        </p:spPr>
        <p:txBody>
          <a:bodyPr wrap="square" anchor="t" lIns="0" rIns="0" tIns="0" bIns="0">
            <a:spAutoFit/>
          </a:bodyPr>
          <a:lstStyle/>
          <a:p>
            <a:pPr algn="l">
              <a:spcAft>
                <a:spcPts val="600"/>
              </a:spcAft>
            </a:pPr>
            <a:r>
              <a:rPr sz="1900" b="0" i="0">
                <a:solidFill>
                  <a:srgbClr val="CADCFC"/>
                </a:solidFill>
                <a:latin typeface="Calibri"/>
              </a:rPr>
              <a:t>Supervised learning on optical-line telemetry — Logistic Regression · GDA · Linear SVM, built from scratch</a:t>
            </a:r>
          </a:p>
        </p:txBody>
      </p:sp>
      <p:sp>
        <p:nvSpPr>
          <p:cNvPr id="5" name="Oval 4"/>
          <p:cNvSpPr/>
          <p:nvPr/>
        </p:nvSpPr>
        <p:spPr>
          <a:xfrm>
            <a:off x="73152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6" name="Connector 5"/>
          <p:cNvCxnSpPr/>
          <p:nvPr/>
        </p:nvCxnSpPr>
        <p:spPr>
          <a:xfrm>
            <a:off x="104241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7" name="Oval 6"/>
          <p:cNvSpPr/>
          <p:nvPr/>
        </p:nvSpPr>
        <p:spPr>
          <a:xfrm>
            <a:off x="182880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213969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292608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0" name="Connector 9"/>
          <p:cNvCxnSpPr/>
          <p:nvPr/>
        </p:nvCxnSpPr>
        <p:spPr>
          <a:xfrm>
            <a:off x="323697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11" name="Oval 10"/>
          <p:cNvSpPr/>
          <p:nvPr/>
        </p:nvSpPr>
        <p:spPr>
          <a:xfrm>
            <a:off x="4023359"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4334255" y="4727448"/>
            <a:ext cx="786385"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12064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543153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621792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6" name="Connector 15"/>
          <p:cNvCxnSpPr/>
          <p:nvPr/>
        </p:nvCxnSpPr>
        <p:spPr>
          <a:xfrm>
            <a:off x="652881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7315199" y="4572000"/>
            <a:ext cx="310896" cy="310896"/>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762609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19" name="Oval 18"/>
          <p:cNvSpPr/>
          <p:nvPr/>
        </p:nvSpPr>
        <p:spPr>
          <a:xfrm>
            <a:off x="841248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872337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21" name="Oval 20"/>
          <p:cNvSpPr/>
          <p:nvPr/>
        </p:nvSpPr>
        <p:spPr>
          <a:xfrm>
            <a:off x="950976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9820656" y="4727448"/>
            <a:ext cx="786384" cy="0"/>
          </a:xfrm>
          <a:prstGeom prst="line">
            <a:avLst/>
          </a:prstGeom>
          <a:ln w="25400">
            <a:solidFill>
              <a:srgbClr val="CADCFC"/>
            </a:solidFill>
          </a:ln>
        </p:spPr>
        <p:style>
          <a:lnRef idx="2">
            <a:schemeClr val="accent1"/>
          </a:lnRef>
          <a:fillRef idx="0">
            <a:schemeClr val="accent1"/>
          </a:fillRef>
          <a:effectRef idx="1">
            <a:schemeClr val="accent1"/>
          </a:effectRef>
          <a:fontRef idx="minor">
            <a:schemeClr val="tx1"/>
          </a:fontRef>
        </p:style>
      </p:cxnSp>
      <p:sp>
        <p:nvSpPr>
          <p:cNvPr id="23" name="Oval 22"/>
          <p:cNvSpPr/>
          <p:nvPr/>
        </p:nvSpPr>
        <p:spPr>
          <a:xfrm>
            <a:off x="10607040" y="4572000"/>
            <a:ext cx="310896" cy="310896"/>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5029200"/>
            <a:ext cx="10515600" cy="365760"/>
          </a:xfrm>
          <a:prstGeom prst="rect">
            <a:avLst/>
          </a:prstGeom>
          <a:noFill/>
        </p:spPr>
        <p:txBody>
          <a:bodyPr wrap="square" anchor="t" lIns="0" rIns="0" tIns="0" bIns="0">
            <a:spAutoFit/>
          </a:bodyPr>
          <a:lstStyle/>
          <a:p>
            <a:pPr algn="l">
              <a:spcAft>
                <a:spcPts val="600"/>
              </a:spcAft>
            </a:pPr>
            <a:r>
              <a:rPr sz="1300" b="0" i="0">
                <a:solidFill>
                  <a:srgbClr val="CADCFC"/>
                </a:solidFill>
                <a:latin typeface="Calibri"/>
              </a:rPr>
              <a:t>Each dot is an amplifier site on one link. One of them is failing. Can a model spot it from telemetry alone, and say which one?</a:t>
            </a:r>
          </a:p>
        </p:txBody>
      </p:sp>
      <p:sp>
        <p:nvSpPr>
          <p:cNvPr id="25" name="TextBox 24"/>
          <p:cNvSpPr txBox="1"/>
          <p:nvPr/>
        </p:nvSpPr>
        <p:spPr>
          <a:xfrm>
            <a:off x="731520" y="5806440"/>
            <a:ext cx="5029200" cy="320040"/>
          </a:xfrm>
          <a:prstGeom prst="rect">
            <a:avLst/>
          </a:prstGeom>
          <a:noFill/>
        </p:spPr>
        <p:txBody>
          <a:bodyPr wrap="square" anchor="t" lIns="0" rIns="0" tIns="0" bIns="0">
            <a:spAutoFit/>
          </a:bodyPr>
          <a:lstStyle/>
          <a:p>
            <a:pPr algn="l">
              <a:spcAft>
                <a:spcPts val="600"/>
              </a:spcAft>
            </a:pPr>
            <a:r>
              <a:rPr sz="1700" b="1" i="0">
                <a:solidFill>
                  <a:srgbClr val="FFFFFF"/>
                </a:solidFill>
                <a:latin typeface="Calibri"/>
              </a:rPr>
              <a:t>J Sanjay Varma</a:t>
            </a:r>
          </a:p>
        </p:txBody>
      </p:sp>
      <p:sp>
        <p:nvSpPr>
          <p:cNvPr id="26" name="TextBox 25"/>
          <p:cNvSpPr txBox="1"/>
          <p:nvPr/>
        </p:nvSpPr>
        <p:spPr>
          <a:xfrm>
            <a:off x="731520" y="6126480"/>
            <a:ext cx="5029200" cy="274320"/>
          </a:xfrm>
          <a:prstGeom prst="rect">
            <a:avLst/>
          </a:prstGeom>
          <a:noFill/>
        </p:spPr>
        <p:txBody>
          <a:bodyPr wrap="square" anchor="t" lIns="0" rIns="0" tIns="0" bIns="0">
            <a:spAutoFit/>
          </a:bodyPr>
          <a:lstStyle/>
          <a:p>
            <a:pPr algn="l">
              <a:spcAft>
                <a:spcPts val="600"/>
              </a:spcAft>
            </a:pPr>
            <a:r>
              <a:rPr sz="1200" b="0" i="0">
                <a:solidFill>
                  <a:srgbClr val="CADCFC"/>
                </a:solidFill>
                <a:latin typeface="Calibri"/>
              </a:rPr>
              <a:t>PES1UG24CS194</a:t>
            </a:r>
          </a:p>
        </p:txBody>
      </p:sp>
      <p:sp>
        <p:nvSpPr>
          <p:cNvPr id="27" name="TextBox 26"/>
          <p:cNvSpPr txBox="1"/>
          <p:nvPr/>
        </p:nvSpPr>
        <p:spPr>
          <a:xfrm>
            <a:off x="3931920" y="5806440"/>
            <a:ext cx="5029200" cy="320040"/>
          </a:xfrm>
          <a:prstGeom prst="rect">
            <a:avLst/>
          </a:prstGeom>
          <a:noFill/>
        </p:spPr>
        <p:txBody>
          <a:bodyPr wrap="square" anchor="t" lIns="0" rIns="0" tIns="0" bIns="0">
            <a:spAutoFit/>
          </a:bodyPr>
          <a:lstStyle/>
          <a:p>
            <a:pPr algn="l">
              <a:spcAft>
                <a:spcPts val="600"/>
              </a:spcAft>
            </a:pPr>
            <a:r>
              <a:rPr sz="1700" b="1" i="0">
                <a:solidFill>
                  <a:srgbClr val="FFFFFF"/>
                </a:solidFill>
                <a:latin typeface="Calibri"/>
              </a:rPr>
              <a:t>Kanak Pandey</a:t>
            </a:r>
          </a:p>
        </p:txBody>
      </p:sp>
      <p:sp>
        <p:nvSpPr>
          <p:cNvPr id="28" name="TextBox 27"/>
          <p:cNvSpPr txBox="1"/>
          <p:nvPr/>
        </p:nvSpPr>
        <p:spPr>
          <a:xfrm>
            <a:off x="3931920" y="6126480"/>
            <a:ext cx="5029200" cy="274320"/>
          </a:xfrm>
          <a:prstGeom prst="rect">
            <a:avLst/>
          </a:prstGeom>
          <a:noFill/>
        </p:spPr>
        <p:txBody>
          <a:bodyPr wrap="square" anchor="t" lIns="0" rIns="0" tIns="0" bIns="0">
            <a:spAutoFit/>
          </a:bodyPr>
          <a:lstStyle/>
          <a:p>
            <a:pPr algn="l">
              <a:spcAft>
                <a:spcPts val="600"/>
              </a:spcAft>
            </a:pPr>
            <a:r>
              <a:rPr sz="1200" b="0" i="0">
                <a:solidFill>
                  <a:srgbClr val="CADCFC"/>
                </a:solidFill>
                <a:latin typeface="Calibri"/>
              </a:rPr>
              <a:t>PES1UG24CS212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PROBLEM</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2</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Find failing links before customers do</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Every end-to-end link crosses 19 fibre spans and amplifiers — any one of them can degrade</a:t>
            </a:r>
          </a:p>
        </p:txBody>
      </p:sp>
      <p:sp>
        <p:nvSpPr>
          <p:cNvPr id="7" name="TextBox 6"/>
          <p:cNvSpPr txBox="1"/>
          <p:nvPr/>
        </p:nvSpPr>
        <p:spPr>
          <a:xfrm>
            <a:off x="548640" y="1783080"/>
            <a:ext cx="4846320" cy="2926080"/>
          </a:xfrm>
          <a:prstGeom prst="rect">
            <a:avLst/>
          </a:prstGeom>
          <a:noFill/>
        </p:spPr>
        <p:txBody>
          <a:bodyPr wrap="square" lIns="0" rIns="0" tIns="0" bIns="0">
            <a:spAutoFit/>
          </a:bodyPr>
          <a:lstStyle/>
          <a:p>
            <a:pPr>
              <a:spcAft>
                <a:spcPts val="900"/>
              </a:spcAft>
            </a:pPr>
            <a:r>
              <a:rPr sz="1700" b="0" i="0">
                <a:solidFill>
                  <a:srgbClr val="EB6834"/>
                </a:solidFill>
                <a:latin typeface="Calibri"/>
              </a:rPr>
              <a:t>▸  </a:t>
            </a:r>
            <a:r>
              <a:rPr sz="1700" b="0" i="0">
                <a:solidFill>
                  <a:srgbClr val="1A1A19"/>
                </a:solidFill>
                <a:latin typeface="Calibri"/>
              </a:rPr>
              <a:t>Cloud traffic rides on </a:t>
            </a:r>
            <a:r>
              <a:rPr sz="1700" b="1" i="0">
                <a:solidFill>
                  <a:srgbClr val="1A1A19"/>
                </a:solidFill>
                <a:latin typeface="Calibri"/>
              </a:rPr>
              <a:t>IP-over-optical</a:t>
            </a:r>
            <a:r>
              <a:rPr sz="1700" b="0" i="0">
                <a:solidFill>
                  <a:srgbClr val="1A1A19"/>
                </a:solidFill>
                <a:latin typeface="Calibri"/>
              </a:rPr>
              <a:t> links hundreds of km long</a:t>
            </a:r>
          </a:p>
          <a:p>
            <a:pPr>
              <a:spcAft>
                <a:spcPts val="900"/>
              </a:spcAft>
            </a:pPr>
            <a:r>
              <a:rPr sz="1700" b="0" i="0">
                <a:solidFill>
                  <a:srgbClr val="EB6834"/>
                </a:solidFill>
                <a:latin typeface="Calibri"/>
              </a:rPr>
              <a:t>▸  </a:t>
            </a:r>
            <a:r>
              <a:rPr sz="1700" b="0" i="0">
                <a:solidFill>
                  <a:srgbClr val="1A1A19"/>
                </a:solidFill>
                <a:latin typeface="Calibri"/>
              </a:rPr>
              <a:t>Fibres age, bend or get cut; amplifiers lose gain; connectors </a:t>
            </a:r>
            <a:r>
              <a:rPr sz="1700" b="1" i="0">
                <a:solidFill>
                  <a:srgbClr val="1A1A19"/>
                </a:solidFill>
                <a:latin typeface="Calibri"/>
              </a:rPr>
              <a:t>flap</a:t>
            </a:r>
          </a:p>
          <a:p>
            <a:pPr>
              <a:spcAft>
                <a:spcPts val="900"/>
              </a:spcAft>
            </a:pPr>
            <a:r>
              <a:rPr sz="1700" b="0" i="0">
                <a:solidFill>
                  <a:srgbClr val="EB6834"/>
                </a:solidFill>
                <a:latin typeface="Calibri"/>
              </a:rPr>
              <a:t>▸  </a:t>
            </a:r>
            <a:r>
              <a:rPr sz="1700" b="0" i="0">
                <a:solidFill>
                  <a:srgbClr val="1A1A19"/>
                </a:solidFill>
                <a:latin typeface="Calibri"/>
              </a:rPr>
              <a:t>Each fault erodes the </a:t>
            </a:r>
            <a:r>
              <a:rPr sz="1700" b="1" i="0">
                <a:solidFill>
                  <a:srgbClr val="1A1A19"/>
                </a:solidFill>
                <a:latin typeface="Calibri"/>
              </a:rPr>
              <a:t>OSNR</a:t>
            </a:r>
            <a:r>
              <a:rPr sz="1700" b="0" i="0">
                <a:solidFill>
                  <a:srgbClr val="1A1A19"/>
                </a:solidFill>
                <a:latin typeface="Calibri"/>
              </a:rPr>
              <a:t> margin until traffic drops</a:t>
            </a:r>
          </a:p>
          <a:p>
            <a:pPr>
              <a:spcAft>
                <a:spcPts val="900"/>
              </a:spcAft>
            </a:pPr>
            <a:r>
              <a:rPr sz="1700" b="0" i="0">
                <a:solidFill>
                  <a:srgbClr val="EB6834"/>
                </a:solidFill>
                <a:latin typeface="Calibri"/>
              </a:rPr>
              <a:t>▸  </a:t>
            </a:r>
            <a:r>
              <a:rPr sz="1700" b="1" i="0">
                <a:solidFill>
                  <a:srgbClr val="EB6834"/>
                </a:solidFill>
                <a:latin typeface="Calibri"/>
              </a:rPr>
              <a:t>Goal: </a:t>
            </a:r>
            <a:r>
              <a:rPr sz="1700" b="1" i="0">
                <a:solidFill>
                  <a:srgbClr val="1A1A19"/>
                </a:solidFill>
                <a:latin typeface="Calibri"/>
              </a:rPr>
              <a:t>flag marginal links </a:t>
            </a:r>
            <a:r>
              <a:rPr sz="1700" b="1" i="0">
                <a:solidFill>
                  <a:srgbClr val="EB6834"/>
                </a:solidFill>
                <a:latin typeface="Calibri"/>
              </a:rPr>
              <a:t>before</a:t>
            </a:r>
            <a:r>
              <a:rPr sz="1700" b="0" i="0">
                <a:solidFill>
                  <a:srgbClr val="1A1A19"/>
                </a:solidFill>
                <a:latin typeface="Calibri"/>
              </a:rPr>
              <a:t> the outage and </a:t>
            </a:r>
            <a:r>
              <a:rPr sz="1700" b="1" i="0">
                <a:solidFill>
                  <a:srgbClr val="1A1A19"/>
                </a:solidFill>
                <a:latin typeface="Calibri"/>
              </a:rPr>
              <a:t>say which span</a:t>
            </a:r>
          </a:p>
        </p:txBody>
      </p:sp>
      <p:sp>
        <p:nvSpPr>
          <p:cNvPr id="8" name="Rounded Rectangle 7"/>
          <p:cNvSpPr/>
          <p:nvPr/>
        </p:nvSpPr>
        <p:spPr>
          <a:xfrm>
            <a:off x="5760720" y="1828800"/>
            <a:ext cx="5897880" cy="1874519"/>
          </a:xfrm>
          <a:prstGeom prst="roundRect">
            <a:avLst>
              <a:gd name="adj" fmla="val 6000"/>
            </a:avLst>
          </a:prstGeom>
          <a:solidFill>
            <a:srgbClr val="FD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89320" y="1993392"/>
            <a:ext cx="5486400" cy="365760"/>
          </a:xfrm>
          <a:prstGeom prst="rect">
            <a:avLst/>
          </a:prstGeom>
          <a:noFill/>
        </p:spPr>
        <p:txBody>
          <a:bodyPr wrap="square" anchor="t" lIns="0" rIns="0" tIns="0" bIns="0">
            <a:spAutoFit/>
          </a:bodyPr>
          <a:lstStyle/>
          <a:p>
            <a:pPr algn="l">
              <a:spcAft>
                <a:spcPts val="600"/>
              </a:spcAft>
            </a:pPr>
            <a:r>
              <a:rPr sz="1600" b="1" i="0">
                <a:solidFill>
                  <a:srgbClr val="EB6834"/>
                </a:solidFill>
                <a:latin typeface="Calibri"/>
              </a:rPr>
              <a:t>Today: reactive</a:t>
            </a:r>
          </a:p>
        </p:txBody>
      </p:sp>
      <p:sp>
        <p:nvSpPr>
          <p:cNvPr id="10" name="Pentagon 9"/>
          <p:cNvSpPr/>
          <p:nvPr/>
        </p:nvSpPr>
        <p:spPr>
          <a:xfrm>
            <a:off x="5989320" y="2560320"/>
            <a:ext cx="1188720" cy="731520"/>
          </a:xfrm>
          <a:prstGeom prst="homePlate">
            <a:avLst/>
          </a:prstGeom>
          <a:solidFill>
            <a:srgbClr val="FFFFFF"/>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0" i="0">
                <a:solidFill>
                  <a:srgbClr val="1A1A19"/>
                </a:solidFill>
                <a:latin typeface="Calibri"/>
              </a:rPr>
              <a:t>Degrades</a:t>
            </a:r>
          </a:p>
        </p:txBody>
      </p:sp>
      <p:sp>
        <p:nvSpPr>
          <p:cNvPr id="11" name="Chevron 10"/>
          <p:cNvSpPr/>
          <p:nvPr/>
        </p:nvSpPr>
        <p:spPr>
          <a:xfrm>
            <a:off x="7104888" y="2560320"/>
            <a:ext cx="1188720" cy="731520"/>
          </a:xfrm>
          <a:prstGeom prst="chevron">
            <a:avLst/>
          </a:prstGeom>
          <a:solidFill>
            <a:srgbClr val="EB6834"/>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Outage</a:t>
            </a:r>
          </a:p>
        </p:txBody>
      </p:sp>
      <p:sp>
        <p:nvSpPr>
          <p:cNvPr id="12" name="Chevron 11"/>
          <p:cNvSpPr/>
          <p:nvPr/>
        </p:nvSpPr>
        <p:spPr>
          <a:xfrm>
            <a:off x="8220456" y="2560320"/>
            <a:ext cx="1188720" cy="731520"/>
          </a:xfrm>
          <a:prstGeom prst="chevron">
            <a:avLst/>
          </a:prstGeom>
          <a:solidFill>
            <a:srgbClr val="FFFFFF"/>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0" i="0">
                <a:solidFill>
                  <a:srgbClr val="1A1A19"/>
                </a:solidFill>
                <a:latin typeface="Calibri"/>
              </a:rPr>
              <a:t>Ticket</a:t>
            </a:r>
          </a:p>
        </p:txBody>
      </p:sp>
      <p:sp>
        <p:nvSpPr>
          <p:cNvPr id="13" name="Chevron 12"/>
          <p:cNvSpPr/>
          <p:nvPr/>
        </p:nvSpPr>
        <p:spPr>
          <a:xfrm>
            <a:off x="9336024" y="2560320"/>
            <a:ext cx="1188720" cy="731520"/>
          </a:xfrm>
          <a:prstGeom prst="chevron">
            <a:avLst/>
          </a:prstGeom>
          <a:solidFill>
            <a:srgbClr val="FFFFFF"/>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0" i="0">
                <a:solidFill>
                  <a:srgbClr val="1A1A19"/>
                </a:solidFill>
                <a:latin typeface="Calibri"/>
              </a:rPr>
              <a:t>Search</a:t>
            </a:r>
          </a:p>
        </p:txBody>
      </p:sp>
      <p:sp>
        <p:nvSpPr>
          <p:cNvPr id="14" name="Chevron 13"/>
          <p:cNvSpPr/>
          <p:nvPr/>
        </p:nvSpPr>
        <p:spPr>
          <a:xfrm>
            <a:off x="10451592" y="2560320"/>
            <a:ext cx="1188720" cy="731520"/>
          </a:xfrm>
          <a:prstGeom prst="chevron">
            <a:avLst/>
          </a:prstGeom>
          <a:solidFill>
            <a:srgbClr val="EB6834"/>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Repair</a:t>
            </a:r>
          </a:p>
        </p:txBody>
      </p:sp>
      <p:sp>
        <p:nvSpPr>
          <p:cNvPr id="15" name="Rounded Rectangle 14"/>
          <p:cNvSpPr/>
          <p:nvPr/>
        </p:nvSpPr>
        <p:spPr>
          <a:xfrm>
            <a:off x="5760720" y="3977639"/>
            <a:ext cx="5897880" cy="1874519"/>
          </a:xfrm>
          <a:prstGeom prst="roundRect">
            <a:avLst>
              <a:gd name="adj" fmla="val 6000"/>
            </a:avLst>
          </a:prstGeom>
          <a:solidFill>
            <a:srgbClr val="E6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89320" y="4142231"/>
            <a:ext cx="5486400" cy="365760"/>
          </a:xfrm>
          <a:prstGeom prst="rect">
            <a:avLst/>
          </a:prstGeom>
          <a:noFill/>
        </p:spPr>
        <p:txBody>
          <a:bodyPr wrap="square" anchor="t" lIns="0" rIns="0" tIns="0" bIns="0">
            <a:spAutoFit/>
          </a:bodyPr>
          <a:lstStyle/>
          <a:p>
            <a:pPr algn="l">
              <a:spcAft>
                <a:spcPts val="600"/>
              </a:spcAft>
            </a:pPr>
            <a:r>
              <a:rPr sz="1600" b="1" i="0">
                <a:solidFill>
                  <a:srgbClr val="1BAF7A"/>
                </a:solidFill>
                <a:latin typeface="Calibri"/>
              </a:rPr>
              <a:t>With this project: proactive</a:t>
            </a:r>
          </a:p>
        </p:txBody>
      </p:sp>
      <p:sp>
        <p:nvSpPr>
          <p:cNvPr id="17" name="Pentagon 16"/>
          <p:cNvSpPr/>
          <p:nvPr/>
        </p:nvSpPr>
        <p:spPr>
          <a:xfrm>
            <a:off x="5989320" y="4709159"/>
            <a:ext cx="1188720" cy="731520"/>
          </a:xfrm>
          <a:prstGeom prst="homePlate">
            <a:avLst/>
          </a:prstGeom>
          <a:solidFill>
            <a:srgbClr val="FFFFFF"/>
          </a:solidFill>
          <a:ln w="15875">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0" i="0">
                <a:solidFill>
                  <a:srgbClr val="1A1A19"/>
                </a:solidFill>
                <a:latin typeface="Calibri"/>
              </a:rPr>
              <a:t>Degrades</a:t>
            </a:r>
          </a:p>
        </p:txBody>
      </p:sp>
      <p:sp>
        <p:nvSpPr>
          <p:cNvPr id="18" name="Chevron 17"/>
          <p:cNvSpPr/>
          <p:nvPr/>
        </p:nvSpPr>
        <p:spPr>
          <a:xfrm>
            <a:off x="7104888" y="4709159"/>
            <a:ext cx="1188720" cy="731520"/>
          </a:xfrm>
          <a:prstGeom prst="chevron">
            <a:avLst/>
          </a:prstGeom>
          <a:solidFill>
            <a:srgbClr val="FFFFFF"/>
          </a:solidFill>
          <a:ln w="15875">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0" i="0">
                <a:solidFill>
                  <a:srgbClr val="1A1A19"/>
                </a:solidFill>
                <a:latin typeface="Calibri"/>
              </a:rPr>
              <a:t>ML alarm</a:t>
            </a:r>
          </a:p>
        </p:txBody>
      </p:sp>
      <p:sp>
        <p:nvSpPr>
          <p:cNvPr id="19" name="Chevron 18"/>
          <p:cNvSpPr/>
          <p:nvPr/>
        </p:nvSpPr>
        <p:spPr>
          <a:xfrm>
            <a:off x="8220456" y="4709159"/>
            <a:ext cx="1188720" cy="731520"/>
          </a:xfrm>
          <a:prstGeom prst="chevron">
            <a:avLst/>
          </a:prstGeom>
          <a:solidFill>
            <a:srgbClr val="FFFFFF"/>
          </a:solidFill>
          <a:ln w="15875">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0" i="0">
                <a:solidFill>
                  <a:srgbClr val="1A1A19"/>
                </a:solidFill>
                <a:latin typeface="Calibri"/>
              </a:rPr>
              <a:t>Span found</a:t>
            </a:r>
          </a:p>
        </p:txBody>
      </p:sp>
      <p:sp>
        <p:nvSpPr>
          <p:cNvPr id="20" name="Chevron 19"/>
          <p:cNvSpPr/>
          <p:nvPr/>
        </p:nvSpPr>
        <p:spPr>
          <a:xfrm>
            <a:off x="9336024" y="4709159"/>
            <a:ext cx="1188720" cy="731520"/>
          </a:xfrm>
          <a:prstGeom prst="chevron">
            <a:avLst/>
          </a:prstGeom>
          <a:solidFill>
            <a:srgbClr val="FFFFFF"/>
          </a:solidFill>
          <a:ln w="15875">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0" i="0">
                <a:solidFill>
                  <a:srgbClr val="1A1A19"/>
                </a:solidFill>
                <a:latin typeface="Calibri"/>
              </a:rPr>
              <a:t>Repair</a:t>
            </a:r>
          </a:p>
        </p:txBody>
      </p:sp>
      <p:sp>
        <p:nvSpPr>
          <p:cNvPr id="21" name="Chevron 20"/>
          <p:cNvSpPr/>
          <p:nvPr/>
        </p:nvSpPr>
        <p:spPr>
          <a:xfrm>
            <a:off x="10451592" y="4709159"/>
            <a:ext cx="1188720" cy="731520"/>
          </a:xfrm>
          <a:prstGeom prst="chevron">
            <a:avLst/>
          </a:prstGeom>
          <a:solidFill>
            <a:srgbClr val="1BAF7A"/>
          </a:solidFill>
          <a:ln w="15875">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No outage</a:t>
            </a:r>
          </a:p>
        </p:txBody>
      </p:sp>
      <p:sp>
        <p:nvSpPr>
          <p:cNvPr id="22" name="TextBox 21"/>
          <p:cNvSpPr txBox="1"/>
          <p:nvPr/>
        </p:nvSpPr>
        <p:spPr>
          <a:xfrm>
            <a:off x="548640" y="5120640"/>
            <a:ext cx="4846320" cy="100584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Paper's claim: </a:t>
            </a:r>
            <a:r>
              <a:rPr sz="1500" b="0" i="1">
                <a:solidFill>
                  <a:srgbClr val="1A1A19"/>
                </a:solidFill>
                <a:latin typeface="Calibri"/>
              </a:rPr>
              <a:t>two aggregated telemetry features and a linear classifier are enough to tell healthy links from failing ones.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PROBLEM</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3</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Where the data comes from</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One E2E link, as in Fig. 1 of the paper — every 2 minutes each span reports 4 numbers</a:t>
            </a:r>
          </a:p>
        </p:txBody>
      </p:sp>
      <p:sp>
        <p:nvSpPr>
          <p:cNvPr id="7" name="Rounded Rectangle 6"/>
          <p:cNvSpPr/>
          <p:nvPr/>
        </p:nvSpPr>
        <p:spPr>
          <a:xfrm>
            <a:off x="548640" y="2103120"/>
            <a:ext cx="822960" cy="822960"/>
          </a:xfrm>
          <a:prstGeom prst="roundRect">
            <a:avLst>
              <a:gd name="adj" fmla="val 12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500" b="1" i="0">
                <a:solidFill>
                  <a:srgbClr val="FFFFFF"/>
                </a:solidFill>
                <a:latin typeface="Calibri"/>
              </a:rPr>
              <a:t>Tx</a:t>
            </a:r>
          </a:p>
        </p:txBody>
      </p:sp>
      <p:cxnSp>
        <p:nvCxnSpPr>
          <p:cNvPr id="8" name="Connector 7"/>
          <p:cNvCxnSpPr/>
          <p:nvPr/>
        </p:nvCxnSpPr>
        <p:spPr>
          <a:xfrm>
            <a:off x="1371600" y="2514600"/>
            <a:ext cx="18288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1554480" y="2103120"/>
            <a:ext cx="868680" cy="822960"/>
          </a:xfrm>
          <a:prstGeom prst="roundRect">
            <a:avLst>
              <a:gd name="adj" fmla="val 12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ROADM</a:t>
            </a:r>
          </a:p>
        </p:txBody>
      </p:sp>
      <p:cxnSp>
        <p:nvCxnSpPr>
          <p:cNvPr id="10" name="Connector 9"/>
          <p:cNvCxnSpPr/>
          <p:nvPr/>
        </p:nvCxnSpPr>
        <p:spPr>
          <a:xfrm>
            <a:off x="2423160" y="2514600"/>
            <a:ext cx="18288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11" name="Magnetic Disk 10"/>
          <p:cNvSpPr/>
          <p:nvPr/>
        </p:nvSpPr>
        <p:spPr>
          <a:xfrm>
            <a:off x="2606040" y="2240279"/>
            <a:ext cx="777240" cy="548640"/>
          </a:xfrm>
          <a:prstGeom prst="flowChartMagneticDisk">
            <a:avLst/>
          </a:prstGeom>
          <a:solidFill>
            <a:srgbClr val="EEF3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0B1F3A"/>
                </a:solidFill>
                <a:latin typeface="Calibri"/>
              </a:rPr>
              <a:t>span 1</a:t>
            </a:r>
          </a:p>
        </p:txBody>
      </p:sp>
      <p:cxnSp>
        <p:nvCxnSpPr>
          <p:cNvPr id="12" name="Connector 11"/>
          <p:cNvCxnSpPr/>
          <p:nvPr/>
        </p:nvCxnSpPr>
        <p:spPr>
          <a:xfrm>
            <a:off x="3383280" y="2514600"/>
            <a:ext cx="137159"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13" name="Isosceles Triangle 12"/>
          <p:cNvSpPr/>
          <p:nvPr/>
        </p:nvSpPr>
        <p:spPr>
          <a:xfrm rot="5400000">
            <a:off x="3520439" y="2267712"/>
            <a:ext cx="502920" cy="502920"/>
          </a:xfrm>
          <a:prstGeom prst="triangl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4023360" y="2514600"/>
            <a:ext cx="18288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15" name="Magnetic Disk 14"/>
          <p:cNvSpPr/>
          <p:nvPr/>
        </p:nvSpPr>
        <p:spPr>
          <a:xfrm>
            <a:off x="4206240" y="2240279"/>
            <a:ext cx="777240" cy="548640"/>
          </a:xfrm>
          <a:prstGeom prst="flowChartMagneticDisk">
            <a:avLst/>
          </a:prstGeom>
          <a:solidFill>
            <a:srgbClr val="EEF3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0B1F3A"/>
                </a:solidFill>
                <a:latin typeface="Calibri"/>
              </a:rPr>
              <a:t>span 2</a:t>
            </a:r>
          </a:p>
        </p:txBody>
      </p:sp>
      <p:cxnSp>
        <p:nvCxnSpPr>
          <p:cNvPr id="16" name="Connector 15"/>
          <p:cNvCxnSpPr/>
          <p:nvPr/>
        </p:nvCxnSpPr>
        <p:spPr>
          <a:xfrm>
            <a:off x="4983480" y="2514600"/>
            <a:ext cx="13716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5400000">
            <a:off x="5120640" y="2267712"/>
            <a:ext cx="502920" cy="502920"/>
          </a:xfrm>
          <a:prstGeom prst="triangl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5623560" y="2514600"/>
            <a:ext cx="18288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19" name="Magnetic Disk 18"/>
          <p:cNvSpPr/>
          <p:nvPr/>
        </p:nvSpPr>
        <p:spPr>
          <a:xfrm>
            <a:off x="5806440" y="2240279"/>
            <a:ext cx="777240" cy="548640"/>
          </a:xfrm>
          <a:prstGeom prst="flowChartMagneticDisk">
            <a:avLst/>
          </a:prstGeom>
          <a:solidFill>
            <a:srgbClr val="FDEFE9"/>
          </a:solidFill>
          <a:ln w="19050">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EB6834"/>
                </a:solidFill>
                <a:latin typeface="Calibri"/>
              </a:rPr>
              <a:t>span 3</a:t>
            </a:r>
          </a:p>
        </p:txBody>
      </p:sp>
      <p:cxnSp>
        <p:nvCxnSpPr>
          <p:cNvPr id="20" name="Connector 19"/>
          <p:cNvCxnSpPr/>
          <p:nvPr/>
        </p:nvCxnSpPr>
        <p:spPr>
          <a:xfrm>
            <a:off x="6583680" y="2514600"/>
            <a:ext cx="13716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21" name="Isosceles Triangle 20"/>
          <p:cNvSpPr/>
          <p:nvPr/>
        </p:nvSpPr>
        <p:spPr>
          <a:xfrm rot="5400000">
            <a:off x="6720840" y="2267712"/>
            <a:ext cx="502920" cy="502920"/>
          </a:xfrm>
          <a:prstGeom prst="triangl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42048" y="2240279"/>
            <a:ext cx="320040" cy="457200"/>
          </a:xfrm>
          <a:prstGeom prst="rect">
            <a:avLst/>
          </a:prstGeom>
          <a:noFill/>
        </p:spPr>
        <p:txBody>
          <a:bodyPr wrap="square" anchor="t" lIns="0" rIns="0" tIns="0" bIns="0">
            <a:spAutoFit/>
          </a:bodyPr>
          <a:lstStyle/>
          <a:p>
            <a:pPr algn="l">
              <a:spcAft>
                <a:spcPts val="600"/>
              </a:spcAft>
            </a:pPr>
            <a:r>
              <a:rPr sz="2200" b="1" i="0">
                <a:solidFill>
                  <a:srgbClr val="52514E"/>
                </a:solidFill>
                <a:latin typeface="Calibri"/>
              </a:rPr>
              <a:t>…</a:t>
            </a:r>
          </a:p>
        </p:txBody>
      </p:sp>
      <p:cxnSp>
        <p:nvCxnSpPr>
          <p:cNvPr id="23" name="Connector 22"/>
          <p:cNvCxnSpPr/>
          <p:nvPr/>
        </p:nvCxnSpPr>
        <p:spPr>
          <a:xfrm>
            <a:off x="7543800" y="2514600"/>
            <a:ext cx="182879"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24" name="Magnetic Disk 23"/>
          <p:cNvSpPr/>
          <p:nvPr/>
        </p:nvSpPr>
        <p:spPr>
          <a:xfrm>
            <a:off x="7726679" y="2240279"/>
            <a:ext cx="777240" cy="548640"/>
          </a:xfrm>
          <a:prstGeom prst="flowChartMagneticDisk">
            <a:avLst/>
          </a:prstGeom>
          <a:solidFill>
            <a:srgbClr val="EEF3FA"/>
          </a:solidFill>
          <a:ln w="19050">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0B1F3A"/>
                </a:solidFill>
                <a:latin typeface="Calibri"/>
              </a:rPr>
              <a:t>span 19</a:t>
            </a:r>
          </a:p>
        </p:txBody>
      </p:sp>
      <p:cxnSp>
        <p:nvCxnSpPr>
          <p:cNvPr id="25" name="Connector 24"/>
          <p:cNvCxnSpPr/>
          <p:nvPr/>
        </p:nvCxnSpPr>
        <p:spPr>
          <a:xfrm>
            <a:off x="8503920" y="2514600"/>
            <a:ext cx="13716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26" name="Isosceles Triangle 25"/>
          <p:cNvSpPr/>
          <p:nvPr/>
        </p:nvSpPr>
        <p:spPr>
          <a:xfrm rot="5400000">
            <a:off x="8641080" y="2267712"/>
            <a:ext cx="502920" cy="502920"/>
          </a:xfrm>
          <a:prstGeom prst="triangl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7" name="Connector 26"/>
          <p:cNvCxnSpPr/>
          <p:nvPr/>
        </p:nvCxnSpPr>
        <p:spPr>
          <a:xfrm>
            <a:off x="9144000" y="2514600"/>
            <a:ext cx="18288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9326880" y="2103120"/>
            <a:ext cx="868680" cy="822960"/>
          </a:xfrm>
          <a:prstGeom prst="roundRect">
            <a:avLst>
              <a:gd name="adj" fmla="val 12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FFFFFF"/>
                </a:solidFill>
                <a:latin typeface="Calibri"/>
              </a:rPr>
              <a:t>ROADM</a:t>
            </a:r>
          </a:p>
        </p:txBody>
      </p:sp>
      <p:cxnSp>
        <p:nvCxnSpPr>
          <p:cNvPr id="29" name="Connector 28"/>
          <p:cNvCxnSpPr/>
          <p:nvPr/>
        </p:nvCxnSpPr>
        <p:spPr>
          <a:xfrm>
            <a:off x="10195560" y="2514600"/>
            <a:ext cx="182880" cy="0"/>
          </a:xfrm>
          <a:prstGeom prst="line">
            <a:avLst/>
          </a:prstGeom>
          <a:ln w="25400">
            <a:solidFill>
              <a:srgbClr val="52514E"/>
            </a:solidFill>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10378440" y="2103120"/>
            <a:ext cx="822960" cy="822960"/>
          </a:xfrm>
          <a:prstGeom prst="roundRect">
            <a:avLst>
              <a:gd name="adj" fmla="val 12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500" b="1" i="0">
                <a:solidFill>
                  <a:srgbClr val="FFFFFF"/>
                </a:solidFill>
                <a:latin typeface="Calibri"/>
              </a:rPr>
              <a:t>Rx</a:t>
            </a:r>
          </a:p>
        </p:txBody>
      </p:sp>
      <p:sp>
        <p:nvSpPr>
          <p:cNvPr id="31" name="TextBox 30"/>
          <p:cNvSpPr txBox="1"/>
          <p:nvPr/>
        </p:nvSpPr>
        <p:spPr>
          <a:xfrm>
            <a:off x="548640" y="3127248"/>
            <a:ext cx="11064240" cy="36576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fibre span  →  amplifier (gives back the power the span lost)  × 19 spans  →  receiver.   Orange = the failing span.</a:t>
            </a:r>
          </a:p>
        </p:txBody>
      </p:sp>
      <p:sp>
        <p:nvSpPr>
          <p:cNvPr id="32" name="Rounded Rectangle 31"/>
          <p:cNvSpPr/>
          <p:nvPr/>
        </p:nvSpPr>
        <p:spPr>
          <a:xfrm>
            <a:off x="548640" y="3657600"/>
            <a:ext cx="2606040" cy="10515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731520" y="3931920"/>
            <a:ext cx="457200" cy="45720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1</a:t>
            </a:r>
          </a:p>
        </p:txBody>
      </p:sp>
      <p:sp>
        <p:nvSpPr>
          <p:cNvPr id="34" name="TextBox 33"/>
          <p:cNvSpPr txBox="1"/>
          <p:nvPr/>
        </p:nvSpPr>
        <p:spPr>
          <a:xfrm>
            <a:off x="1325880" y="3886200"/>
            <a:ext cx="1783080" cy="36576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Span loss</a:t>
            </a:r>
          </a:p>
        </p:txBody>
      </p:sp>
      <p:sp>
        <p:nvSpPr>
          <p:cNvPr id="35" name="TextBox 34"/>
          <p:cNvSpPr txBox="1"/>
          <p:nvPr/>
        </p:nvSpPr>
        <p:spPr>
          <a:xfrm>
            <a:off x="1325880" y="4224528"/>
            <a:ext cx="1783080" cy="36576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dB measured on the fibre</a:t>
            </a:r>
          </a:p>
        </p:txBody>
      </p:sp>
      <p:sp>
        <p:nvSpPr>
          <p:cNvPr id="36" name="Rounded Rectangle 35"/>
          <p:cNvSpPr/>
          <p:nvPr/>
        </p:nvSpPr>
        <p:spPr>
          <a:xfrm>
            <a:off x="3364992" y="3657600"/>
            <a:ext cx="2606040" cy="10515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3547872" y="393192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2</a:t>
            </a:r>
          </a:p>
        </p:txBody>
      </p:sp>
      <p:sp>
        <p:nvSpPr>
          <p:cNvPr id="38" name="TextBox 37"/>
          <p:cNvSpPr txBox="1"/>
          <p:nvPr/>
        </p:nvSpPr>
        <p:spPr>
          <a:xfrm>
            <a:off x="4142232" y="3886200"/>
            <a:ext cx="1783080" cy="36576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Target span loss</a:t>
            </a:r>
          </a:p>
        </p:txBody>
      </p:sp>
      <p:sp>
        <p:nvSpPr>
          <p:cNvPr id="39" name="TextBox 38"/>
          <p:cNvSpPr txBox="1"/>
          <p:nvPr/>
        </p:nvSpPr>
        <p:spPr>
          <a:xfrm>
            <a:off x="4142232" y="4224528"/>
            <a:ext cx="1783080" cy="36576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planned value</a:t>
            </a:r>
          </a:p>
        </p:txBody>
      </p:sp>
      <p:sp>
        <p:nvSpPr>
          <p:cNvPr id="40" name="Rounded Rectangle 39"/>
          <p:cNvSpPr/>
          <p:nvPr/>
        </p:nvSpPr>
        <p:spPr>
          <a:xfrm>
            <a:off x="6181344" y="3657600"/>
            <a:ext cx="2606040" cy="10515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a:off x="6364224" y="3931920"/>
            <a:ext cx="457200" cy="457200"/>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3</a:t>
            </a:r>
          </a:p>
        </p:txBody>
      </p:sp>
      <p:sp>
        <p:nvSpPr>
          <p:cNvPr id="42" name="TextBox 41"/>
          <p:cNvSpPr txBox="1"/>
          <p:nvPr/>
        </p:nvSpPr>
        <p:spPr>
          <a:xfrm>
            <a:off x="6958583" y="3886200"/>
            <a:ext cx="1783080" cy="36576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Amplifier gain</a:t>
            </a:r>
          </a:p>
        </p:txBody>
      </p:sp>
      <p:sp>
        <p:nvSpPr>
          <p:cNvPr id="43" name="TextBox 42"/>
          <p:cNvSpPr txBox="1"/>
          <p:nvPr/>
        </p:nvSpPr>
        <p:spPr>
          <a:xfrm>
            <a:off x="6958583" y="4224528"/>
            <a:ext cx="1783080" cy="36576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dB the amplifier adds</a:t>
            </a:r>
          </a:p>
        </p:txBody>
      </p:sp>
      <p:sp>
        <p:nvSpPr>
          <p:cNvPr id="44" name="Rounded Rectangle 43"/>
          <p:cNvSpPr/>
          <p:nvPr/>
        </p:nvSpPr>
        <p:spPr>
          <a:xfrm>
            <a:off x="8997696" y="3657600"/>
            <a:ext cx="2606040" cy="10515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180576" y="3931920"/>
            <a:ext cx="457200" cy="45720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4</a:t>
            </a:r>
          </a:p>
        </p:txBody>
      </p:sp>
      <p:sp>
        <p:nvSpPr>
          <p:cNvPr id="46" name="TextBox 45"/>
          <p:cNvSpPr txBox="1"/>
          <p:nvPr/>
        </p:nvSpPr>
        <p:spPr>
          <a:xfrm>
            <a:off x="9774936" y="3886200"/>
            <a:ext cx="1783080" cy="36576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Target gain</a:t>
            </a:r>
          </a:p>
        </p:txBody>
      </p:sp>
      <p:sp>
        <p:nvSpPr>
          <p:cNvPr id="47" name="TextBox 46"/>
          <p:cNvSpPr txBox="1"/>
          <p:nvPr/>
        </p:nvSpPr>
        <p:spPr>
          <a:xfrm>
            <a:off x="9774936" y="4224528"/>
            <a:ext cx="1783080" cy="36576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planned value</a:t>
            </a:r>
          </a:p>
        </p:txBody>
      </p:sp>
      <p:sp>
        <p:nvSpPr>
          <p:cNvPr id="48" name="Rounded Rectangle 47"/>
          <p:cNvSpPr/>
          <p:nvPr/>
        </p:nvSpPr>
        <p:spPr>
          <a:xfrm>
            <a:off x="548640" y="4983480"/>
            <a:ext cx="11091672" cy="118872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68680" y="5138928"/>
            <a:ext cx="10515600" cy="914400"/>
          </a:xfrm>
          <a:prstGeom prst="rect">
            <a:avLst/>
          </a:prstGeom>
          <a:noFill/>
        </p:spPr>
        <p:txBody>
          <a:bodyPr wrap="square" anchor="t" lIns="0" rIns="0" tIns="0" bIns="0">
            <a:spAutoFit/>
          </a:bodyPr>
          <a:lstStyle/>
          <a:p>
            <a:pPr algn="l">
              <a:spcAft>
                <a:spcPts val="600"/>
              </a:spcAft>
            </a:pPr>
            <a:r>
              <a:rPr sz="1500" b="1" i="0">
                <a:solidFill>
                  <a:srgbClr val="FFFFFF"/>
                </a:solidFill>
                <a:latin typeface="Calibri"/>
              </a:rPr>
              <a:t>Healthy link: </a:t>
            </a:r>
            <a:r>
              <a:rPr sz="1500" b="0" i="0">
                <a:solidFill>
                  <a:srgbClr val="CADCFC"/>
                </a:solidFill>
                <a:latin typeface="Calibri"/>
              </a:rPr>
              <a:t>every span loses what was planned and every amplifier gives it back, so all diffs ≈ 0.</a:t>
            </a:r>
          </a:p>
          <a:p>
            <a:pPr algn="l">
              <a:spcAft>
                <a:spcPts val="600"/>
              </a:spcAft>
            </a:pPr>
            <a:r>
              <a:rPr sz="1500" b="1" i="0">
                <a:solidFill>
                  <a:srgbClr val="EB6834"/>
                </a:solidFill>
                <a:latin typeface="Calibri"/>
              </a:rPr>
              <a:t>Failing link: </a:t>
            </a:r>
            <a:r>
              <a:rPr sz="1500" b="0" i="0">
                <a:solidFill>
                  <a:srgbClr val="CADCFC"/>
                </a:solidFill>
                <a:latin typeface="Calibri"/>
              </a:rPr>
              <a:t>one span loses more, or one amplifier gives less, and the signal arrives weaker and noisier.</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PROBLEM</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4</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What the paper did, and what we added</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Bakhtiari, "Link Failure Prediction and Localization in Cloud Scale Networks using Supervised Learning", Stanford</a:t>
            </a:r>
          </a:p>
        </p:txBody>
      </p:sp>
      <p:sp>
        <p:nvSpPr>
          <p:cNvPr id="7" name="Rounded Rectangle 6"/>
          <p:cNvSpPr/>
          <p:nvPr/>
        </p:nvSpPr>
        <p:spPr>
          <a:xfrm>
            <a:off x="2514600" y="1691640"/>
            <a:ext cx="3749039" cy="457200"/>
          </a:xfrm>
          <a:prstGeom prst="roundRect">
            <a:avLst>
              <a:gd name="adj" fmla="val 20000"/>
            </a:avLst>
          </a:prstGeom>
          <a:solidFill>
            <a:srgbClr val="B0AFA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Paper</a:t>
            </a:r>
          </a:p>
        </p:txBody>
      </p:sp>
      <p:sp>
        <p:nvSpPr>
          <p:cNvPr id="8" name="Rounded Rectangle 7"/>
          <p:cNvSpPr/>
          <p:nvPr/>
        </p:nvSpPr>
        <p:spPr>
          <a:xfrm>
            <a:off x="6400800" y="1691640"/>
            <a:ext cx="5239512" cy="457200"/>
          </a:xfrm>
          <a:prstGeom prst="roundRect">
            <a:avLst>
              <a:gd name="adj" fmla="val 2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This project</a:t>
            </a:r>
          </a:p>
        </p:txBody>
      </p:sp>
      <p:sp>
        <p:nvSpPr>
          <p:cNvPr id="9" name="Rounded Rectangle 8"/>
          <p:cNvSpPr/>
          <p:nvPr/>
        </p:nvSpPr>
        <p:spPr>
          <a:xfrm>
            <a:off x="548640" y="2231136"/>
            <a:ext cx="11091672" cy="566928"/>
          </a:xfrm>
          <a:prstGeom prst="roundRect">
            <a:avLst>
              <a:gd name="adj" fmla="val 12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340864"/>
            <a:ext cx="173736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Data</a:t>
            </a:r>
          </a:p>
        </p:txBody>
      </p:sp>
      <p:sp>
        <p:nvSpPr>
          <p:cNvPr id="11" name="TextBox 10"/>
          <p:cNvSpPr txBox="1"/>
          <p:nvPr/>
        </p:nvSpPr>
        <p:spPr>
          <a:xfrm>
            <a:off x="2697480" y="2350008"/>
            <a:ext cx="3566160" cy="411480"/>
          </a:xfrm>
          <a:prstGeom prst="rect">
            <a:avLst/>
          </a:prstGeom>
          <a:noFill/>
        </p:spPr>
        <p:txBody>
          <a:bodyPr wrap="square" anchor="t" lIns="0" rIns="0" tIns="0" bIns="0">
            <a:spAutoFit/>
          </a:bodyPr>
          <a:lstStyle/>
          <a:p>
            <a:pPr algn="l">
              <a:spcAft>
                <a:spcPts val="600"/>
              </a:spcAft>
            </a:pPr>
            <a:r>
              <a:rPr sz="1400" b="0" i="0">
                <a:solidFill>
                  <a:srgbClr val="52514E"/>
                </a:solidFill>
                <a:latin typeface="Calibri"/>
              </a:rPr>
              <a:t>Live operator data (private)</a:t>
            </a:r>
          </a:p>
        </p:txBody>
      </p:sp>
      <p:sp>
        <p:nvSpPr>
          <p:cNvPr id="12" name="TextBox 11"/>
          <p:cNvSpPr txBox="1"/>
          <p:nvPr/>
        </p:nvSpPr>
        <p:spPr>
          <a:xfrm>
            <a:off x="6583680" y="2350008"/>
            <a:ext cx="4937760" cy="41148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Physics-based simulator, same format, ground-truth fault spans</a:t>
            </a:r>
          </a:p>
        </p:txBody>
      </p:sp>
      <p:sp>
        <p:nvSpPr>
          <p:cNvPr id="13" name="TextBox 12"/>
          <p:cNvSpPr txBox="1"/>
          <p:nvPr/>
        </p:nvSpPr>
        <p:spPr>
          <a:xfrm>
            <a:off x="731520" y="2980944"/>
            <a:ext cx="173736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Features</a:t>
            </a:r>
          </a:p>
        </p:txBody>
      </p:sp>
      <p:sp>
        <p:nvSpPr>
          <p:cNvPr id="14" name="TextBox 13"/>
          <p:cNvSpPr txBox="1"/>
          <p:nvPr/>
        </p:nvSpPr>
        <p:spPr>
          <a:xfrm>
            <a:off x="2697480" y="2990088"/>
            <a:ext cx="3566160" cy="411480"/>
          </a:xfrm>
          <a:prstGeom prst="rect">
            <a:avLst/>
          </a:prstGeom>
          <a:noFill/>
        </p:spPr>
        <p:txBody>
          <a:bodyPr wrap="square" anchor="t" lIns="0" rIns="0" tIns="0" bIns="0">
            <a:spAutoFit/>
          </a:bodyPr>
          <a:lstStyle/>
          <a:p>
            <a:pPr algn="l">
              <a:spcAft>
                <a:spcPts val="600"/>
              </a:spcAft>
            </a:pPr>
            <a:r>
              <a:rPr sz="1400" b="0" i="0">
                <a:solidFill>
                  <a:srgbClr val="52514E"/>
                </a:solidFill>
                <a:latin typeface="Calibri"/>
              </a:rPr>
              <a:t>X1 = Σ gain diff,  X2 = Σ loss diff</a:t>
            </a:r>
          </a:p>
        </p:txBody>
      </p:sp>
      <p:sp>
        <p:nvSpPr>
          <p:cNvPr id="15" name="TextBox 14"/>
          <p:cNvSpPr txBox="1"/>
          <p:nvPr/>
        </p:nvSpPr>
        <p:spPr>
          <a:xfrm>
            <a:off x="6583680" y="2990088"/>
            <a:ext cx="4937760" cy="41148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Same, plus 38 per-span residuals (extension)</a:t>
            </a:r>
          </a:p>
        </p:txBody>
      </p:sp>
      <p:sp>
        <p:nvSpPr>
          <p:cNvPr id="16" name="Rounded Rectangle 15"/>
          <p:cNvSpPr/>
          <p:nvPr/>
        </p:nvSpPr>
        <p:spPr>
          <a:xfrm>
            <a:off x="548640" y="3511296"/>
            <a:ext cx="11091672" cy="566928"/>
          </a:xfrm>
          <a:prstGeom prst="roundRect">
            <a:avLst>
              <a:gd name="adj" fmla="val 12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3621024"/>
            <a:ext cx="173736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Models</a:t>
            </a:r>
          </a:p>
        </p:txBody>
      </p:sp>
      <p:sp>
        <p:nvSpPr>
          <p:cNvPr id="18" name="TextBox 17"/>
          <p:cNvSpPr txBox="1"/>
          <p:nvPr/>
        </p:nvSpPr>
        <p:spPr>
          <a:xfrm>
            <a:off x="2697480" y="3630168"/>
            <a:ext cx="3566160" cy="411480"/>
          </a:xfrm>
          <a:prstGeom prst="rect">
            <a:avLst/>
          </a:prstGeom>
          <a:noFill/>
        </p:spPr>
        <p:txBody>
          <a:bodyPr wrap="square" anchor="t" lIns="0" rIns="0" tIns="0" bIns="0">
            <a:spAutoFit/>
          </a:bodyPr>
          <a:lstStyle/>
          <a:p>
            <a:pPr algn="l">
              <a:spcAft>
                <a:spcPts val="600"/>
              </a:spcAft>
            </a:pPr>
            <a:r>
              <a:rPr sz="1400" b="0" i="0">
                <a:solidFill>
                  <a:srgbClr val="52514E"/>
                </a:solidFill>
                <a:latin typeface="Calibri"/>
              </a:rPr>
              <a:t>LR (Newton), GDA, linear SVM</a:t>
            </a:r>
          </a:p>
        </p:txBody>
      </p:sp>
      <p:sp>
        <p:nvSpPr>
          <p:cNvPr id="19" name="TextBox 18"/>
          <p:cNvSpPr txBox="1"/>
          <p:nvPr/>
        </p:nvSpPr>
        <p:spPr>
          <a:xfrm>
            <a:off x="6583680" y="3630168"/>
            <a:ext cx="4937760" cy="41148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Same three, written from scratch + RBF SVM</a:t>
            </a:r>
          </a:p>
        </p:txBody>
      </p:sp>
      <p:sp>
        <p:nvSpPr>
          <p:cNvPr id="20" name="TextBox 19"/>
          <p:cNvSpPr txBox="1"/>
          <p:nvPr/>
        </p:nvSpPr>
        <p:spPr>
          <a:xfrm>
            <a:off x="731520" y="4261103"/>
            <a:ext cx="173736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Evaluation</a:t>
            </a:r>
          </a:p>
        </p:txBody>
      </p:sp>
      <p:sp>
        <p:nvSpPr>
          <p:cNvPr id="21" name="TextBox 20"/>
          <p:cNvSpPr txBox="1"/>
          <p:nvPr/>
        </p:nvSpPr>
        <p:spPr>
          <a:xfrm>
            <a:off x="2697480" y="4270248"/>
            <a:ext cx="3566160" cy="411480"/>
          </a:xfrm>
          <a:prstGeom prst="rect">
            <a:avLst/>
          </a:prstGeom>
          <a:noFill/>
        </p:spPr>
        <p:txBody>
          <a:bodyPr wrap="square" anchor="t" lIns="0" rIns="0" tIns="0" bIns="0">
            <a:spAutoFit/>
          </a:bodyPr>
          <a:lstStyle/>
          <a:p>
            <a:pPr algn="l">
              <a:spcAft>
                <a:spcPts val="600"/>
              </a:spcAft>
            </a:pPr>
            <a:r>
              <a:rPr sz="1400" b="0" i="0">
                <a:solidFill>
                  <a:srgbClr val="52514E"/>
                </a:solidFill>
                <a:latin typeface="Calibri"/>
              </a:rPr>
              <a:t>Test accuracy (75/25)</a:t>
            </a:r>
          </a:p>
        </p:txBody>
      </p:sp>
      <p:sp>
        <p:nvSpPr>
          <p:cNvPr id="22" name="TextBox 21"/>
          <p:cNvSpPr txBox="1"/>
          <p:nvPr/>
        </p:nvSpPr>
        <p:spPr>
          <a:xfrm>
            <a:off x="6583680" y="4270248"/>
            <a:ext cx="4937760" cy="41148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Accuracy, P/R/F1, ROC, 5-fold CV, unseen-route CV</a:t>
            </a:r>
          </a:p>
        </p:txBody>
      </p:sp>
      <p:sp>
        <p:nvSpPr>
          <p:cNvPr id="23" name="Rounded Rectangle 22"/>
          <p:cNvSpPr/>
          <p:nvPr/>
        </p:nvSpPr>
        <p:spPr>
          <a:xfrm>
            <a:off x="548640" y="4791456"/>
            <a:ext cx="11091672" cy="566928"/>
          </a:xfrm>
          <a:prstGeom prst="roundRect">
            <a:avLst>
              <a:gd name="adj" fmla="val 12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31520" y="4901183"/>
            <a:ext cx="173736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Localisation</a:t>
            </a:r>
          </a:p>
        </p:txBody>
      </p:sp>
      <p:sp>
        <p:nvSpPr>
          <p:cNvPr id="25" name="TextBox 24"/>
          <p:cNvSpPr txBox="1"/>
          <p:nvPr/>
        </p:nvSpPr>
        <p:spPr>
          <a:xfrm>
            <a:off x="2697480" y="4910328"/>
            <a:ext cx="3566160" cy="411480"/>
          </a:xfrm>
          <a:prstGeom prst="rect">
            <a:avLst/>
          </a:prstGeom>
          <a:noFill/>
        </p:spPr>
        <p:txBody>
          <a:bodyPr wrap="square" anchor="t" lIns="0" rIns="0" tIns="0" bIns="0">
            <a:spAutoFit/>
          </a:bodyPr>
          <a:lstStyle/>
          <a:p>
            <a:pPr algn="l">
              <a:spcAft>
                <a:spcPts val="600"/>
              </a:spcAft>
            </a:pPr>
            <a:r>
              <a:rPr sz="1400" b="0" i="0">
                <a:solidFill>
                  <a:srgbClr val="52514E"/>
                </a:solidFill>
                <a:latin typeface="Calibri"/>
              </a:rPr>
              <a:t>Claimed, not measured</a:t>
            </a:r>
          </a:p>
        </p:txBody>
      </p:sp>
      <p:sp>
        <p:nvSpPr>
          <p:cNvPr id="26" name="TextBox 25"/>
          <p:cNvSpPr txBox="1"/>
          <p:nvPr/>
        </p:nvSpPr>
        <p:spPr>
          <a:xfrm>
            <a:off x="6583680" y="4910328"/>
            <a:ext cx="4937760" cy="41148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Measured: span + element, flapping, early warning</a:t>
            </a:r>
          </a:p>
        </p:txBody>
      </p:sp>
      <p:sp>
        <p:nvSpPr>
          <p:cNvPr id="27" name="TextBox 26"/>
          <p:cNvSpPr txBox="1"/>
          <p:nvPr/>
        </p:nvSpPr>
        <p:spPr>
          <a:xfrm>
            <a:off x="731520" y="5541264"/>
            <a:ext cx="173736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Deliverable</a:t>
            </a:r>
          </a:p>
        </p:txBody>
      </p:sp>
      <p:sp>
        <p:nvSpPr>
          <p:cNvPr id="28" name="TextBox 27"/>
          <p:cNvSpPr txBox="1"/>
          <p:nvPr/>
        </p:nvSpPr>
        <p:spPr>
          <a:xfrm>
            <a:off x="2697480" y="5550408"/>
            <a:ext cx="3566160" cy="411480"/>
          </a:xfrm>
          <a:prstGeom prst="rect">
            <a:avLst/>
          </a:prstGeom>
          <a:noFill/>
        </p:spPr>
        <p:txBody>
          <a:bodyPr wrap="square" anchor="t" lIns="0" rIns="0" tIns="0" bIns="0">
            <a:spAutoFit/>
          </a:bodyPr>
          <a:lstStyle/>
          <a:p>
            <a:pPr algn="l">
              <a:spcAft>
                <a:spcPts val="600"/>
              </a:spcAft>
            </a:pPr>
            <a:r>
              <a:rPr sz="1400" b="0" i="0">
                <a:solidFill>
                  <a:srgbClr val="52514E"/>
                </a:solidFill>
                <a:latin typeface="Calibri"/>
              </a:rPr>
              <a:t>Report</a:t>
            </a:r>
          </a:p>
        </p:txBody>
      </p:sp>
      <p:sp>
        <p:nvSpPr>
          <p:cNvPr id="29" name="TextBox 28"/>
          <p:cNvSpPr txBox="1"/>
          <p:nvPr/>
        </p:nvSpPr>
        <p:spPr>
          <a:xfrm>
            <a:off x="6583680" y="5550408"/>
            <a:ext cx="4937760" cy="41148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Pipeline, tests, live demo app, CLI</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DATA</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5</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Dataset: same shape as the paper</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Telemetry simulator: ASE + nonlinear-noise optical link budget, realistic faults and gaps</a:t>
            </a:r>
          </a:p>
        </p:txBody>
      </p:sp>
      <p:sp>
        <p:nvSpPr>
          <p:cNvPr id="7" name="Rounded Rectangle 6"/>
          <p:cNvSpPr/>
          <p:nvPr/>
        </p:nvSpPr>
        <p:spPr>
          <a:xfrm>
            <a:off x="548640" y="1691640"/>
            <a:ext cx="2606040"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49808" y="1810512"/>
            <a:ext cx="2203704" cy="594360"/>
          </a:xfrm>
          <a:prstGeom prst="rect">
            <a:avLst/>
          </a:prstGeom>
          <a:noFill/>
        </p:spPr>
        <p:txBody>
          <a:bodyPr wrap="square" anchor="t" lIns="0" rIns="0" tIns="0" bIns="0">
            <a:spAutoFit/>
          </a:bodyPr>
          <a:lstStyle/>
          <a:p>
            <a:pPr algn="l">
              <a:spcAft>
                <a:spcPts val="600"/>
              </a:spcAft>
            </a:pPr>
            <a:r>
              <a:rPr sz="3200" b="1" i="0">
                <a:solidFill>
                  <a:srgbClr val="2A78D6"/>
                </a:solidFill>
                <a:latin typeface="Cambria"/>
              </a:rPr>
              <a:t>20</a:t>
            </a:r>
          </a:p>
        </p:txBody>
      </p:sp>
      <p:sp>
        <p:nvSpPr>
          <p:cNvPr id="9" name="TextBox 8"/>
          <p:cNvSpPr txBox="1"/>
          <p:nvPr/>
        </p:nvSpPr>
        <p:spPr>
          <a:xfrm>
            <a:off x="749808" y="2441448"/>
            <a:ext cx="2203704"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directional E2E links (10 routes × 2)</a:t>
            </a:r>
          </a:p>
        </p:txBody>
      </p:sp>
      <p:sp>
        <p:nvSpPr>
          <p:cNvPr id="10" name="Rounded Rectangle 9"/>
          <p:cNvSpPr/>
          <p:nvPr/>
        </p:nvSpPr>
        <p:spPr>
          <a:xfrm>
            <a:off x="3364992" y="1691640"/>
            <a:ext cx="2606040"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66160" y="1810512"/>
            <a:ext cx="2203704" cy="594360"/>
          </a:xfrm>
          <a:prstGeom prst="rect">
            <a:avLst/>
          </a:prstGeom>
          <a:noFill/>
        </p:spPr>
        <p:txBody>
          <a:bodyPr wrap="square" anchor="t" lIns="0" rIns="0" tIns="0" bIns="0">
            <a:spAutoFit/>
          </a:bodyPr>
          <a:lstStyle/>
          <a:p>
            <a:pPr algn="l">
              <a:spcAft>
                <a:spcPts val="600"/>
              </a:spcAft>
            </a:pPr>
            <a:r>
              <a:rPr sz="3200" b="1" i="0">
                <a:solidFill>
                  <a:srgbClr val="2A78D6"/>
                </a:solidFill>
                <a:latin typeface="Cambria"/>
              </a:rPr>
              <a:t>19</a:t>
            </a:r>
          </a:p>
        </p:txBody>
      </p:sp>
      <p:sp>
        <p:nvSpPr>
          <p:cNvPr id="12" name="TextBox 11"/>
          <p:cNvSpPr txBox="1"/>
          <p:nvPr/>
        </p:nvSpPr>
        <p:spPr>
          <a:xfrm>
            <a:off x="3566160" y="2441448"/>
            <a:ext cx="2203704"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spans per link</a:t>
            </a:r>
          </a:p>
        </p:txBody>
      </p:sp>
      <p:sp>
        <p:nvSpPr>
          <p:cNvPr id="13" name="Rounded Rectangle 12"/>
          <p:cNvSpPr/>
          <p:nvPr/>
        </p:nvSpPr>
        <p:spPr>
          <a:xfrm>
            <a:off x="6181344" y="1691640"/>
            <a:ext cx="2606040"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82512" y="1810512"/>
            <a:ext cx="2203704" cy="594360"/>
          </a:xfrm>
          <a:prstGeom prst="rect">
            <a:avLst/>
          </a:prstGeom>
          <a:noFill/>
        </p:spPr>
        <p:txBody>
          <a:bodyPr wrap="square" anchor="t" lIns="0" rIns="0" tIns="0" bIns="0">
            <a:spAutoFit/>
          </a:bodyPr>
          <a:lstStyle/>
          <a:p>
            <a:pPr algn="l">
              <a:spcAft>
                <a:spcPts val="600"/>
              </a:spcAft>
            </a:pPr>
            <a:r>
              <a:rPr sz="3200" b="1" i="0">
                <a:solidFill>
                  <a:srgbClr val="2A78D6"/>
                </a:solidFill>
                <a:latin typeface="Cambria"/>
              </a:rPr>
              <a:t>6,000</a:t>
            </a:r>
          </a:p>
        </p:txBody>
      </p:sp>
      <p:sp>
        <p:nvSpPr>
          <p:cNvPr id="15" name="TextBox 14"/>
          <p:cNvSpPr txBox="1"/>
          <p:nvPr/>
        </p:nvSpPr>
        <p:spPr>
          <a:xfrm>
            <a:off x="6382512" y="2441448"/>
            <a:ext cx="2203704"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samples, one per link per 2-min bin</a:t>
            </a:r>
          </a:p>
        </p:txBody>
      </p:sp>
      <p:sp>
        <p:nvSpPr>
          <p:cNvPr id="16" name="Rounded Rectangle 15"/>
          <p:cNvSpPr/>
          <p:nvPr/>
        </p:nvSpPr>
        <p:spPr>
          <a:xfrm>
            <a:off x="8997696" y="1691640"/>
            <a:ext cx="2606040"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198864" y="1810512"/>
            <a:ext cx="2203704" cy="594360"/>
          </a:xfrm>
          <a:prstGeom prst="rect">
            <a:avLst/>
          </a:prstGeom>
          <a:noFill/>
        </p:spPr>
        <p:txBody>
          <a:bodyPr wrap="square" anchor="t" lIns="0" rIns="0" tIns="0" bIns="0">
            <a:spAutoFit/>
          </a:bodyPr>
          <a:lstStyle/>
          <a:p>
            <a:pPr algn="l">
              <a:spcAft>
                <a:spcPts val="600"/>
              </a:spcAft>
            </a:pPr>
            <a:r>
              <a:rPr sz="3200" b="1" i="0">
                <a:solidFill>
                  <a:srgbClr val="EB6834"/>
                </a:solidFill>
                <a:latin typeface="Cambria"/>
              </a:rPr>
              <a:t>24.5%</a:t>
            </a:r>
          </a:p>
        </p:txBody>
      </p:sp>
      <p:sp>
        <p:nvSpPr>
          <p:cNvPr id="18" name="TextBox 17"/>
          <p:cNvSpPr txBox="1"/>
          <p:nvPr/>
        </p:nvSpPr>
        <p:spPr>
          <a:xfrm>
            <a:off x="9198864" y="2441448"/>
            <a:ext cx="2203704"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labelled not healthy</a:t>
            </a:r>
          </a:p>
        </p:txBody>
      </p:sp>
      <p:sp>
        <p:nvSpPr>
          <p:cNvPr id="19" name="TextBox 18"/>
          <p:cNvSpPr txBox="1"/>
          <p:nvPr/>
        </p:nvSpPr>
        <p:spPr>
          <a:xfrm>
            <a:off x="548640" y="3200400"/>
            <a:ext cx="5486400" cy="365760"/>
          </a:xfrm>
          <a:prstGeom prst="rect">
            <a:avLst/>
          </a:prstGeom>
          <a:noFill/>
        </p:spPr>
        <p:txBody>
          <a:bodyPr wrap="square" anchor="t" lIns="0" rIns="0" tIns="0" bIns="0">
            <a:spAutoFit/>
          </a:bodyPr>
          <a:lstStyle/>
          <a:p>
            <a:pPr algn="l">
              <a:spcAft>
                <a:spcPts val="600"/>
              </a:spcAft>
            </a:pPr>
            <a:r>
              <a:rPr sz="1600" b="1" i="0">
                <a:solidFill>
                  <a:srgbClr val="0B1F3A"/>
                </a:solidFill>
                <a:latin typeface="Calibri"/>
              </a:rPr>
              <a:t>Injected faults (bins)</a:t>
            </a:r>
          </a:p>
        </p:txBody>
      </p:sp>
      <p:sp>
        <p:nvSpPr>
          <p:cNvPr id="20" name="TextBox 19"/>
          <p:cNvSpPr txBox="1"/>
          <p:nvPr/>
        </p:nvSpPr>
        <p:spPr>
          <a:xfrm>
            <a:off x="548640" y="3657600"/>
            <a:ext cx="2377440" cy="274320"/>
          </a:xfrm>
          <a:prstGeom prst="rect">
            <a:avLst/>
          </a:prstGeom>
          <a:noFill/>
        </p:spPr>
        <p:txBody>
          <a:bodyPr wrap="square" anchor="t" lIns="0" rIns="0" tIns="0" bIns="0">
            <a:spAutoFit/>
          </a:bodyPr>
          <a:lstStyle/>
          <a:p>
            <a:pPr algn="l">
              <a:spcAft>
                <a:spcPts val="600"/>
              </a:spcAft>
            </a:pPr>
            <a:r>
              <a:rPr sz="1400" b="1" i="0">
                <a:solidFill>
                  <a:srgbClr val="1A1A19"/>
                </a:solidFill>
                <a:latin typeface="Calibri"/>
              </a:rPr>
              <a:t>Fibre degradation</a:t>
            </a:r>
          </a:p>
        </p:txBody>
      </p:sp>
      <p:sp>
        <p:nvSpPr>
          <p:cNvPr id="21" name="TextBox 20"/>
          <p:cNvSpPr txBox="1"/>
          <p:nvPr/>
        </p:nvSpPr>
        <p:spPr>
          <a:xfrm>
            <a:off x="548640" y="3922776"/>
            <a:ext cx="2377440" cy="27432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1–14 dB, slow ramp or step</a:t>
            </a:r>
          </a:p>
        </p:txBody>
      </p:sp>
      <p:sp>
        <p:nvSpPr>
          <p:cNvPr id="22" name="Rounded Rectangle 21"/>
          <p:cNvSpPr/>
          <p:nvPr/>
        </p:nvSpPr>
        <p:spPr>
          <a:xfrm>
            <a:off x="2971800" y="3730752"/>
            <a:ext cx="2651760" cy="329184"/>
          </a:xfrm>
          <a:prstGeom prst="roundRect">
            <a:avLst>
              <a:gd name="adj" fmla="val 30000"/>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715000" y="3749039"/>
            <a:ext cx="822960" cy="320040"/>
          </a:xfrm>
          <a:prstGeom prst="rect">
            <a:avLst/>
          </a:prstGeom>
          <a:noFill/>
        </p:spPr>
        <p:txBody>
          <a:bodyPr wrap="square" anchor="t" lIns="0" rIns="0" tIns="0" bIns="0">
            <a:spAutoFit/>
          </a:bodyPr>
          <a:lstStyle/>
          <a:p>
            <a:pPr algn="l">
              <a:spcAft>
                <a:spcPts val="600"/>
              </a:spcAft>
            </a:pPr>
            <a:r>
              <a:rPr sz="1300" b="1" i="0">
                <a:solidFill>
                  <a:srgbClr val="1A1A19"/>
                </a:solidFill>
                <a:latin typeface="Calibri"/>
              </a:rPr>
              <a:t>1,538</a:t>
            </a:r>
          </a:p>
        </p:txBody>
      </p:sp>
      <p:sp>
        <p:nvSpPr>
          <p:cNvPr id="24" name="TextBox 23"/>
          <p:cNvSpPr txBox="1"/>
          <p:nvPr/>
        </p:nvSpPr>
        <p:spPr>
          <a:xfrm>
            <a:off x="548640" y="4279392"/>
            <a:ext cx="2377440" cy="274320"/>
          </a:xfrm>
          <a:prstGeom prst="rect">
            <a:avLst/>
          </a:prstGeom>
          <a:noFill/>
        </p:spPr>
        <p:txBody>
          <a:bodyPr wrap="square" anchor="t" lIns="0" rIns="0" tIns="0" bIns="0">
            <a:spAutoFit/>
          </a:bodyPr>
          <a:lstStyle/>
          <a:p>
            <a:pPr algn="l">
              <a:spcAft>
                <a:spcPts val="600"/>
              </a:spcAft>
            </a:pPr>
            <a:r>
              <a:rPr sz="1400" b="1" i="0">
                <a:solidFill>
                  <a:srgbClr val="1A1A19"/>
                </a:solidFill>
                <a:latin typeface="Calibri"/>
              </a:rPr>
              <a:t>Amplifier degradation</a:t>
            </a:r>
          </a:p>
        </p:txBody>
      </p:sp>
      <p:sp>
        <p:nvSpPr>
          <p:cNvPr id="25" name="TextBox 24"/>
          <p:cNvSpPr txBox="1"/>
          <p:nvPr/>
        </p:nvSpPr>
        <p:spPr>
          <a:xfrm>
            <a:off x="548640" y="4544568"/>
            <a:ext cx="2377440" cy="27432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gain ↓, noise figure ↑</a:t>
            </a:r>
          </a:p>
        </p:txBody>
      </p:sp>
      <p:sp>
        <p:nvSpPr>
          <p:cNvPr id="26" name="Rounded Rectangle 25"/>
          <p:cNvSpPr/>
          <p:nvPr/>
        </p:nvSpPr>
        <p:spPr>
          <a:xfrm>
            <a:off x="2971800" y="4352544"/>
            <a:ext cx="2008647" cy="329184"/>
          </a:xfrm>
          <a:prstGeom prst="roundRect">
            <a:avLst>
              <a:gd name="adj" fmla="val 30000"/>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071887" y="4370831"/>
            <a:ext cx="822960" cy="320040"/>
          </a:xfrm>
          <a:prstGeom prst="rect">
            <a:avLst/>
          </a:prstGeom>
          <a:noFill/>
        </p:spPr>
        <p:txBody>
          <a:bodyPr wrap="square" anchor="t" lIns="0" rIns="0" tIns="0" bIns="0">
            <a:spAutoFit/>
          </a:bodyPr>
          <a:lstStyle/>
          <a:p>
            <a:pPr algn="l">
              <a:spcAft>
                <a:spcPts val="600"/>
              </a:spcAft>
            </a:pPr>
            <a:r>
              <a:rPr sz="1300" b="1" i="0">
                <a:solidFill>
                  <a:srgbClr val="1A1A19"/>
                </a:solidFill>
                <a:latin typeface="Calibri"/>
              </a:rPr>
              <a:t>1,165</a:t>
            </a:r>
          </a:p>
        </p:txBody>
      </p:sp>
      <p:sp>
        <p:nvSpPr>
          <p:cNvPr id="28" name="TextBox 27"/>
          <p:cNvSpPr txBox="1"/>
          <p:nvPr/>
        </p:nvSpPr>
        <p:spPr>
          <a:xfrm>
            <a:off x="548640" y="4901184"/>
            <a:ext cx="2377440" cy="274320"/>
          </a:xfrm>
          <a:prstGeom prst="rect">
            <a:avLst/>
          </a:prstGeom>
          <a:noFill/>
        </p:spPr>
        <p:txBody>
          <a:bodyPr wrap="square" anchor="t" lIns="0" rIns="0" tIns="0" bIns="0">
            <a:spAutoFit/>
          </a:bodyPr>
          <a:lstStyle/>
          <a:p>
            <a:pPr algn="l">
              <a:spcAft>
                <a:spcPts val="600"/>
              </a:spcAft>
            </a:pPr>
            <a:r>
              <a:rPr sz="1400" b="1" i="0">
                <a:solidFill>
                  <a:srgbClr val="1A1A19"/>
                </a:solidFill>
                <a:latin typeface="Calibri"/>
              </a:rPr>
              <a:t>Flapping connector</a:t>
            </a:r>
          </a:p>
        </p:txBody>
      </p:sp>
      <p:sp>
        <p:nvSpPr>
          <p:cNvPr id="29" name="TextBox 28"/>
          <p:cNvSpPr txBox="1"/>
          <p:nvPr/>
        </p:nvSpPr>
        <p:spPr>
          <a:xfrm>
            <a:off x="548640" y="5166360"/>
            <a:ext cx="2377440" cy="27432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intermittent loss</a:t>
            </a:r>
          </a:p>
        </p:txBody>
      </p:sp>
      <p:sp>
        <p:nvSpPr>
          <p:cNvPr id="30" name="Rounded Rectangle 29"/>
          <p:cNvSpPr/>
          <p:nvPr/>
        </p:nvSpPr>
        <p:spPr>
          <a:xfrm>
            <a:off x="2971800" y="4974336"/>
            <a:ext cx="634491" cy="329184"/>
          </a:xfrm>
          <a:prstGeom prst="roundRect">
            <a:avLst>
              <a:gd name="adj" fmla="val 30000"/>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97731" y="4992624"/>
            <a:ext cx="822960" cy="320040"/>
          </a:xfrm>
          <a:prstGeom prst="rect">
            <a:avLst/>
          </a:prstGeom>
          <a:noFill/>
        </p:spPr>
        <p:txBody>
          <a:bodyPr wrap="square" anchor="t" lIns="0" rIns="0" tIns="0" bIns="0">
            <a:spAutoFit/>
          </a:bodyPr>
          <a:lstStyle/>
          <a:p>
            <a:pPr algn="l">
              <a:spcAft>
                <a:spcPts val="600"/>
              </a:spcAft>
            </a:pPr>
            <a:r>
              <a:rPr sz="1300" b="1" i="0">
                <a:solidFill>
                  <a:srgbClr val="1A1A19"/>
                </a:solidFill>
                <a:latin typeface="Calibri"/>
              </a:rPr>
              <a:t>368</a:t>
            </a:r>
          </a:p>
        </p:txBody>
      </p:sp>
      <p:sp>
        <p:nvSpPr>
          <p:cNvPr id="32" name="TextBox 31"/>
          <p:cNvSpPr txBox="1"/>
          <p:nvPr/>
        </p:nvSpPr>
        <p:spPr>
          <a:xfrm>
            <a:off x="548640" y="5522976"/>
            <a:ext cx="2377440" cy="274320"/>
          </a:xfrm>
          <a:prstGeom prst="rect">
            <a:avLst/>
          </a:prstGeom>
          <a:noFill/>
        </p:spPr>
        <p:txBody>
          <a:bodyPr wrap="square" anchor="t" lIns="0" rIns="0" tIns="0" bIns="0">
            <a:spAutoFit/>
          </a:bodyPr>
          <a:lstStyle/>
          <a:p>
            <a:pPr algn="l">
              <a:spcAft>
                <a:spcPts val="600"/>
              </a:spcAft>
            </a:pPr>
            <a:r>
              <a:rPr sz="1400" b="1" i="0">
                <a:solidFill>
                  <a:srgbClr val="1A1A19"/>
                </a:solidFill>
                <a:latin typeface="Calibri"/>
              </a:rPr>
              <a:t>Fibre cut</a:t>
            </a:r>
          </a:p>
        </p:txBody>
      </p:sp>
      <p:sp>
        <p:nvSpPr>
          <p:cNvPr id="33" name="TextBox 32"/>
          <p:cNvSpPr txBox="1"/>
          <p:nvPr/>
        </p:nvSpPr>
        <p:spPr>
          <a:xfrm>
            <a:off x="548640" y="5788152"/>
            <a:ext cx="2377440" cy="27432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+40 dB, no reading (LOS)</a:t>
            </a:r>
          </a:p>
        </p:txBody>
      </p:sp>
      <p:sp>
        <p:nvSpPr>
          <p:cNvPr id="34" name="Rounded Rectangle 33"/>
          <p:cNvSpPr/>
          <p:nvPr/>
        </p:nvSpPr>
        <p:spPr>
          <a:xfrm>
            <a:off x="2971800" y="5596128"/>
            <a:ext cx="386212" cy="329184"/>
          </a:xfrm>
          <a:prstGeom prst="roundRect">
            <a:avLst>
              <a:gd name="adj" fmla="val 30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3449452" y="5614416"/>
            <a:ext cx="822960" cy="320040"/>
          </a:xfrm>
          <a:prstGeom prst="rect">
            <a:avLst/>
          </a:prstGeom>
          <a:noFill/>
        </p:spPr>
        <p:txBody>
          <a:bodyPr wrap="square" anchor="t" lIns="0" rIns="0" tIns="0" bIns="0">
            <a:spAutoFit/>
          </a:bodyPr>
          <a:lstStyle/>
          <a:p>
            <a:pPr algn="l">
              <a:spcAft>
                <a:spcPts val="600"/>
              </a:spcAft>
            </a:pPr>
            <a:r>
              <a:rPr sz="1300" b="1" i="0">
                <a:solidFill>
                  <a:srgbClr val="1A1A19"/>
                </a:solidFill>
                <a:latin typeface="Calibri"/>
              </a:rPr>
              <a:t>224</a:t>
            </a:r>
          </a:p>
        </p:txBody>
      </p:sp>
      <p:sp>
        <p:nvSpPr>
          <p:cNvPr id="36" name="TextBox 35"/>
          <p:cNvSpPr txBox="1"/>
          <p:nvPr/>
        </p:nvSpPr>
        <p:spPr>
          <a:xfrm>
            <a:off x="548640" y="6144768"/>
            <a:ext cx="5486400" cy="27432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3,295 faulty bins in total; the rest are healthy operation.</a:t>
            </a:r>
          </a:p>
        </p:txBody>
      </p:sp>
      <p:sp>
        <p:nvSpPr>
          <p:cNvPr id="37" name="Rounded Rectangle 36"/>
          <p:cNvSpPr/>
          <p:nvPr/>
        </p:nvSpPr>
        <p:spPr>
          <a:xfrm>
            <a:off x="6400800" y="3200400"/>
            <a:ext cx="5239512" cy="30175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675120" y="3364992"/>
            <a:ext cx="4754880" cy="365760"/>
          </a:xfrm>
          <a:prstGeom prst="rect">
            <a:avLst/>
          </a:prstGeom>
          <a:noFill/>
        </p:spPr>
        <p:txBody>
          <a:bodyPr wrap="square" anchor="t" lIns="0" rIns="0" tIns="0" bIns="0">
            <a:spAutoFit/>
          </a:bodyPr>
          <a:lstStyle/>
          <a:p>
            <a:pPr algn="l">
              <a:spcAft>
                <a:spcPts val="600"/>
              </a:spcAft>
            </a:pPr>
            <a:r>
              <a:rPr sz="1600" b="1" i="0">
                <a:solidFill>
                  <a:srgbClr val="0B1F3A"/>
                </a:solidFill>
                <a:latin typeface="Calibri"/>
              </a:rPr>
              <a:t>Labels from OSNR, as in the paper</a:t>
            </a:r>
          </a:p>
        </p:txBody>
      </p:sp>
      <p:sp>
        <p:nvSpPr>
          <p:cNvPr id="39" name="TextBox 38"/>
          <p:cNvSpPr txBox="1"/>
          <p:nvPr/>
        </p:nvSpPr>
        <p:spPr>
          <a:xfrm>
            <a:off x="6675120" y="3840480"/>
            <a:ext cx="4754880" cy="2377440"/>
          </a:xfrm>
          <a:prstGeom prst="rect">
            <a:avLst/>
          </a:prstGeom>
          <a:noFill/>
        </p:spPr>
        <p:txBody>
          <a:bodyPr wrap="square" lIns="0" rIns="0" tIns="0" bIns="0">
            <a:spAutoFit/>
          </a:bodyPr>
          <a:lstStyle/>
          <a:p>
            <a:pPr>
              <a:spcAft>
                <a:spcPts val="700"/>
              </a:spcAft>
            </a:pPr>
            <a:r>
              <a:rPr sz="1400" b="0" i="0">
                <a:solidFill>
                  <a:srgbClr val="EB6834"/>
                </a:solidFill>
                <a:latin typeface="Calibri"/>
              </a:rPr>
              <a:t>▸  </a:t>
            </a:r>
            <a:r>
              <a:rPr sz="1400" b="1" i="0">
                <a:solidFill>
                  <a:srgbClr val="EB6834"/>
                </a:solidFill>
                <a:latin typeface="Calibri"/>
              </a:rPr>
              <a:t>Not healthy</a:t>
            </a:r>
            <a:r>
              <a:rPr sz="1400" b="0" i="0">
                <a:solidFill>
                  <a:srgbClr val="1A1A19"/>
                </a:solidFill>
                <a:latin typeface="Calibri"/>
              </a:rPr>
              <a:t> if OSNR &lt; 17 dB, or Rx power &gt; 7 dB low, or loss of signal</a:t>
            </a:r>
          </a:p>
          <a:p>
            <a:pPr>
              <a:spcAft>
                <a:spcPts val="700"/>
              </a:spcAft>
            </a:pPr>
            <a:r>
              <a:rPr sz="1400" b="0" i="0">
                <a:solidFill>
                  <a:srgbClr val="EB6834"/>
                </a:solidFill>
                <a:latin typeface="Calibri"/>
              </a:rPr>
              <a:t>▸  </a:t>
            </a:r>
            <a:r>
              <a:rPr sz="1400" b="0" i="0">
                <a:solidFill>
                  <a:srgbClr val="1A1A19"/>
                </a:solidFill>
                <a:latin typeface="Calibri"/>
              </a:rPr>
              <a:t>Noise: 0.12 dB on loss, 0.06 dB on gain</a:t>
            </a:r>
          </a:p>
          <a:p>
            <a:pPr>
              <a:spcAft>
                <a:spcPts val="700"/>
              </a:spcAft>
            </a:pPr>
            <a:r>
              <a:rPr sz="1400" b="0" i="0">
                <a:solidFill>
                  <a:srgbClr val="EB6834"/>
                </a:solidFill>
                <a:latin typeface="Calibri"/>
              </a:rPr>
              <a:t>▸  </a:t>
            </a:r>
            <a:r>
              <a:rPr sz="1400" b="0" i="0">
                <a:solidFill>
                  <a:srgbClr val="1A1A19"/>
                </a:solidFill>
                <a:latin typeface="Calibri"/>
              </a:rPr>
              <a:t>~2 % cells missing, whole bins missing, no data during cuts</a:t>
            </a:r>
          </a:p>
          <a:p>
            <a:pPr>
              <a:spcAft>
                <a:spcPts val="700"/>
              </a:spcAft>
            </a:pPr>
            <a:r>
              <a:rPr sz="1400" b="0" i="0">
                <a:solidFill>
                  <a:srgbClr val="EB6834"/>
                </a:solidFill>
                <a:latin typeface="Calibri"/>
              </a:rPr>
              <a:t>▸  </a:t>
            </a:r>
            <a:r>
              <a:rPr sz="1400" b="0" i="0">
                <a:solidFill>
                  <a:srgbClr val="1A1A19"/>
                </a:solidFill>
                <a:latin typeface="Calibri"/>
              </a:rPr>
              <a:t>75 / 25 split → 4500 train, 1500 test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DATA</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6</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The physics behind the labels</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Same extra loss, different damage: it depends on where in the line it happens</a:t>
            </a:r>
          </a:p>
        </p:txBody>
      </p:sp>
      <p:graphicFrame>
        <p:nvGraphicFramePr>
          <p:cNvPr id="7" name="Chart 6"/>
          <p:cNvGraphicFramePr>
            <a:graphicFrameLocks noGrp="1"/>
          </p:cNvGraphicFramePr>
          <p:nvPr/>
        </p:nvGraphicFramePr>
        <p:xfrm>
          <a:off x="457200" y="1600200"/>
          <a:ext cx="6949440" cy="4617720"/>
        </p:xfrm>
        <a:graphic>
          <a:graphicData uri="http://schemas.openxmlformats.org/drawingml/2006/chart">
            <c:chart xmlns:c="http://schemas.openxmlformats.org/drawingml/2006/chart" r:id="rId2"/>
          </a:graphicData>
        </a:graphic>
      </p:graphicFrame>
      <p:sp>
        <p:nvSpPr>
          <p:cNvPr id="8" name="Rounded Rectangle 7"/>
          <p:cNvSpPr/>
          <p:nvPr/>
        </p:nvSpPr>
        <p:spPr>
          <a:xfrm>
            <a:off x="7772400" y="1737360"/>
            <a:ext cx="3867912" cy="2057400"/>
          </a:xfrm>
          <a:prstGeom prst="roundRect">
            <a:avLst>
              <a:gd name="adj" fmla="val 6000"/>
            </a:avLst>
          </a:prstGeom>
          <a:solidFill>
            <a:srgbClr val="FD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01000" y="1874519"/>
            <a:ext cx="3474720" cy="365760"/>
          </a:xfrm>
          <a:prstGeom prst="rect">
            <a:avLst/>
          </a:prstGeom>
          <a:noFill/>
        </p:spPr>
        <p:txBody>
          <a:bodyPr wrap="square" anchor="t" lIns="0" rIns="0" tIns="0" bIns="0">
            <a:spAutoFit/>
          </a:bodyPr>
          <a:lstStyle/>
          <a:p>
            <a:pPr algn="l">
              <a:spcAft>
                <a:spcPts val="600"/>
              </a:spcAft>
            </a:pPr>
            <a:r>
              <a:rPr sz="1600" b="1" i="0">
                <a:solidFill>
                  <a:srgbClr val="EB6834"/>
                </a:solidFill>
                <a:latin typeface="Calibri"/>
              </a:rPr>
              <a:t>7 dB in span 1</a:t>
            </a:r>
          </a:p>
        </p:txBody>
      </p:sp>
      <p:sp>
        <p:nvSpPr>
          <p:cNvPr id="10" name="TextBox 9"/>
          <p:cNvSpPr txBox="1"/>
          <p:nvPr/>
        </p:nvSpPr>
        <p:spPr>
          <a:xfrm>
            <a:off x="8001000" y="2286000"/>
            <a:ext cx="3474720" cy="146304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OSNR 16.0 dB. Every one of the 19 downstream amplifiers now works with a weaker signal and adds proportionally more noise.</a:t>
            </a:r>
          </a:p>
        </p:txBody>
      </p:sp>
      <p:sp>
        <p:nvSpPr>
          <p:cNvPr id="11" name="Rounded Rectangle 10"/>
          <p:cNvSpPr/>
          <p:nvPr/>
        </p:nvSpPr>
        <p:spPr>
          <a:xfrm>
            <a:off x="7772400" y="3977639"/>
            <a:ext cx="3867912" cy="2057400"/>
          </a:xfrm>
          <a:prstGeom prst="roundRect">
            <a:avLst>
              <a:gd name="adj" fmla="val 6000"/>
            </a:avLst>
          </a:prstGeom>
          <a:solidFill>
            <a:srgbClr val="E6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001000" y="4114800"/>
            <a:ext cx="3474720" cy="365760"/>
          </a:xfrm>
          <a:prstGeom prst="rect">
            <a:avLst/>
          </a:prstGeom>
          <a:noFill/>
        </p:spPr>
        <p:txBody>
          <a:bodyPr wrap="square" anchor="t" lIns="0" rIns="0" tIns="0" bIns="0">
            <a:spAutoFit/>
          </a:bodyPr>
          <a:lstStyle/>
          <a:p>
            <a:pPr algn="l">
              <a:spcAft>
                <a:spcPts val="600"/>
              </a:spcAft>
            </a:pPr>
            <a:r>
              <a:rPr sz="1600" b="1" i="0">
                <a:solidFill>
                  <a:srgbClr val="1BAF7A"/>
                </a:solidFill>
                <a:latin typeface="Calibri"/>
              </a:rPr>
              <a:t>7 dB in span 19</a:t>
            </a:r>
          </a:p>
        </p:txBody>
      </p:sp>
      <p:sp>
        <p:nvSpPr>
          <p:cNvPr id="13" name="TextBox 12"/>
          <p:cNvSpPr txBox="1"/>
          <p:nvPr/>
        </p:nvSpPr>
        <p:spPr>
          <a:xfrm>
            <a:off x="8001000" y="4526280"/>
            <a:ext cx="3474720" cy="146304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OSNR 19.5 dB. Only the last amplifier is affected — but the receiver is now starved of power, so the Rx-power alarm fires.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METHOD</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7</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Preprocessing &amp; feature engineering</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Paper §III: from 4 × 19 raw values to 2 features per link per bin</a:t>
            </a:r>
          </a:p>
        </p:txBody>
      </p:sp>
      <p:sp>
        <p:nvSpPr>
          <p:cNvPr id="7" name="Rounded Rectangle 6"/>
          <p:cNvSpPr/>
          <p:nvPr/>
        </p:nvSpPr>
        <p:spPr>
          <a:xfrm>
            <a:off x="548640" y="1783080"/>
            <a:ext cx="2011680" cy="22402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31520" y="1965960"/>
            <a:ext cx="502920" cy="5029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1</a:t>
            </a:r>
          </a:p>
        </p:txBody>
      </p:sp>
      <p:sp>
        <p:nvSpPr>
          <p:cNvPr id="9" name="TextBox 8"/>
          <p:cNvSpPr txBox="1"/>
          <p:nvPr/>
        </p:nvSpPr>
        <p:spPr>
          <a:xfrm>
            <a:off x="731520" y="2606040"/>
            <a:ext cx="169164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Fibre-cut fill</a:t>
            </a:r>
          </a:p>
        </p:txBody>
      </p:sp>
      <p:sp>
        <p:nvSpPr>
          <p:cNvPr id="10" name="TextBox 9"/>
          <p:cNvSpPr txBox="1"/>
          <p:nvPr/>
        </p:nvSpPr>
        <p:spPr>
          <a:xfrm>
            <a:off x="731520" y="3017520"/>
            <a:ext cx="1691640" cy="91440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LOS-flagged gaps ← target + 40 dB (the paper's rule)</a:t>
            </a:r>
          </a:p>
        </p:txBody>
      </p:sp>
      <p:sp>
        <p:nvSpPr>
          <p:cNvPr id="11" name="Right Arrow 10"/>
          <p:cNvSpPr/>
          <p:nvPr/>
        </p:nvSpPr>
        <p:spPr>
          <a:xfrm>
            <a:off x="2578608" y="2743200"/>
            <a:ext cx="237744" cy="274320"/>
          </a:xfrm>
          <a:prstGeom prst="rightArrow">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834640" y="1783080"/>
            <a:ext cx="2011680" cy="22402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3017520" y="1965960"/>
            <a:ext cx="502920" cy="5029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2</a:t>
            </a:r>
          </a:p>
        </p:txBody>
      </p:sp>
      <p:sp>
        <p:nvSpPr>
          <p:cNvPr id="14" name="TextBox 13"/>
          <p:cNvSpPr txBox="1"/>
          <p:nvPr/>
        </p:nvSpPr>
        <p:spPr>
          <a:xfrm>
            <a:off x="3017520" y="2606040"/>
            <a:ext cx="169164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Interpolate</a:t>
            </a:r>
          </a:p>
        </p:txBody>
      </p:sp>
      <p:sp>
        <p:nvSpPr>
          <p:cNvPr id="15" name="TextBox 14"/>
          <p:cNvSpPr txBox="1"/>
          <p:nvPr/>
        </p:nvSpPr>
        <p:spPr>
          <a:xfrm>
            <a:off x="3017520" y="3017520"/>
            <a:ext cx="1691640" cy="91440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linear in time, per link direction and per span</a:t>
            </a:r>
          </a:p>
        </p:txBody>
      </p:sp>
      <p:sp>
        <p:nvSpPr>
          <p:cNvPr id="16" name="Right Arrow 15"/>
          <p:cNvSpPr/>
          <p:nvPr/>
        </p:nvSpPr>
        <p:spPr>
          <a:xfrm>
            <a:off x="4864608" y="2743200"/>
            <a:ext cx="237744" cy="274320"/>
          </a:xfrm>
          <a:prstGeom prst="rightArrow">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120640" y="1783080"/>
            <a:ext cx="2011680" cy="22402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5303520" y="1965960"/>
            <a:ext cx="502920" cy="5029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3</a:t>
            </a:r>
          </a:p>
        </p:txBody>
      </p:sp>
      <p:sp>
        <p:nvSpPr>
          <p:cNvPr id="19" name="TextBox 18"/>
          <p:cNvSpPr txBox="1"/>
          <p:nvPr/>
        </p:nvSpPr>
        <p:spPr>
          <a:xfrm>
            <a:off x="5303520" y="2606040"/>
            <a:ext cx="169164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Span diffs (Eq. 1)</a:t>
            </a:r>
          </a:p>
        </p:txBody>
      </p:sp>
      <p:sp>
        <p:nvSpPr>
          <p:cNvPr id="20" name="TextBox 19"/>
          <p:cNvSpPr txBox="1"/>
          <p:nvPr/>
        </p:nvSpPr>
        <p:spPr>
          <a:xfrm>
            <a:off x="5303520" y="3017520"/>
            <a:ext cx="1691640" cy="91440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x1 = gain − target gain
x2 = target loss − span loss</a:t>
            </a:r>
          </a:p>
        </p:txBody>
      </p:sp>
      <p:sp>
        <p:nvSpPr>
          <p:cNvPr id="21" name="Right Arrow 20"/>
          <p:cNvSpPr/>
          <p:nvPr/>
        </p:nvSpPr>
        <p:spPr>
          <a:xfrm>
            <a:off x="7150608" y="2743200"/>
            <a:ext cx="237744" cy="274320"/>
          </a:xfrm>
          <a:prstGeom prst="rightArrow">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7406640" y="1783080"/>
            <a:ext cx="2011680" cy="22402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7589519" y="1965960"/>
            <a:ext cx="502920" cy="5029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4</a:t>
            </a:r>
          </a:p>
        </p:txBody>
      </p:sp>
      <p:sp>
        <p:nvSpPr>
          <p:cNvPr id="24" name="TextBox 23"/>
          <p:cNvSpPr txBox="1"/>
          <p:nvPr/>
        </p:nvSpPr>
        <p:spPr>
          <a:xfrm>
            <a:off x="7589519" y="2606040"/>
            <a:ext cx="169164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Aggregate (Eq. 2)</a:t>
            </a:r>
          </a:p>
        </p:txBody>
      </p:sp>
      <p:sp>
        <p:nvSpPr>
          <p:cNvPr id="25" name="TextBox 24"/>
          <p:cNvSpPr txBox="1"/>
          <p:nvPr/>
        </p:nvSpPr>
        <p:spPr>
          <a:xfrm>
            <a:off x="7589519" y="3017520"/>
            <a:ext cx="1691640" cy="91440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X1 = Σ x1 ,  X2 = Σ x2
over the 19 spans</a:t>
            </a:r>
          </a:p>
        </p:txBody>
      </p:sp>
      <p:sp>
        <p:nvSpPr>
          <p:cNvPr id="26" name="Right Arrow 25"/>
          <p:cNvSpPr/>
          <p:nvPr/>
        </p:nvSpPr>
        <p:spPr>
          <a:xfrm>
            <a:off x="9436608" y="2743200"/>
            <a:ext cx="237744" cy="274320"/>
          </a:xfrm>
          <a:prstGeom prst="rightArrow">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9692640" y="1783080"/>
            <a:ext cx="2011680" cy="224028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9875519" y="1965960"/>
            <a:ext cx="502920" cy="5029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5</a:t>
            </a:r>
          </a:p>
        </p:txBody>
      </p:sp>
      <p:sp>
        <p:nvSpPr>
          <p:cNvPr id="29" name="TextBox 28"/>
          <p:cNvSpPr txBox="1"/>
          <p:nvPr/>
        </p:nvSpPr>
        <p:spPr>
          <a:xfrm>
            <a:off x="9875519" y="2606040"/>
            <a:ext cx="1691640" cy="41148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Join labels</a:t>
            </a:r>
          </a:p>
        </p:txBody>
      </p:sp>
      <p:sp>
        <p:nvSpPr>
          <p:cNvPr id="30" name="TextBox 29"/>
          <p:cNvSpPr txBox="1"/>
          <p:nvPr/>
        </p:nvSpPr>
        <p:spPr>
          <a:xfrm>
            <a:off x="9875519" y="3017520"/>
            <a:ext cx="1691640" cy="91440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OSNR-based y ∈ {0, 1}</a:t>
            </a:r>
          </a:p>
        </p:txBody>
      </p:sp>
      <p:sp>
        <p:nvSpPr>
          <p:cNvPr id="31" name="Rounded Rectangle 30"/>
          <p:cNvSpPr/>
          <p:nvPr/>
        </p:nvSpPr>
        <p:spPr>
          <a:xfrm>
            <a:off x="548640" y="4343400"/>
            <a:ext cx="5486400" cy="1828800"/>
          </a:xfrm>
          <a:prstGeom prst="roundRect">
            <a:avLst>
              <a:gd name="adj" fmla="val 6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 y="4498848"/>
            <a:ext cx="5029200" cy="365760"/>
          </a:xfrm>
          <a:prstGeom prst="rect">
            <a:avLst/>
          </a:prstGeom>
          <a:noFill/>
        </p:spPr>
        <p:txBody>
          <a:bodyPr wrap="square" anchor="t" lIns="0" rIns="0" tIns="0" bIns="0">
            <a:spAutoFit/>
          </a:bodyPr>
          <a:lstStyle/>
          <a:p>
            <a:pPr algn="l">
              <a:spcAft>
                <a:spcPts val="600"/>
              </a:spcAft>
            </a:pPr>
            <a:r>
              <a:rPr sz="1600" b="1" i="0">
                <a:solidFill>
                  <a:srgbClr val="FFFFFF"/>
                </a:solidFill>
                <a:latin typeface="Calibri"/>
              </a:rPr>
              <a:t>Why these two features?</a:t>
            </a:r>
          </a:p>
        </p:txBody>
      </p:sp>
      <p:sp>
        <p:nvSpPr>
          <p:cNvPr id="33" name="TextBox 32"/>
          <p:cNvSpPr txBox="1"/>
          <p:nvPr/>
        </p:nvSpPr>
        <p:spPr>
          <a:xfrm>
            <a:off x="822960" y="4910328"/>
            <a:ext cx="5029200" cy="1188720"/>
          </a:xfrm>
          <a:prstGeom prst="rect">
            <a:avLst/>
          </a:prstGeom>
          <a:noFill/>
        </p:spPr>
        <p:txBody>
          <a:bodyPr wrap="square" anchor="t" lIns="0" rIns="0" tIns="0" bIns="0">
            <a:spAutoFit/>
          </a:bodyPr>
          <a:lstStyle/>
          <a:p>
            <a:pPr algn="l">
              <a:spcAft>
                <a:spcPts val="600"/>
              </a:spcAft>
            </a:pPr>
            <a:r>
              <a:rPr sz="1400" b="0" i="0">
                <a:solidFill>
                  <a:srgbClr val="CADCFC"/>
                </a:solidFill>
                <a:latin typeface="Calibri"/>
              </a:rPr>
              <a:t>X1 + X2 is the net optical power the link has lost versus its design. They don't depend on span lengths, so one model serves every link.</a:t>
            </a:r>
          </a:p>
        </p:txBody>
      </p:sp>
      <p:sp>
        <p:nvSpPr>
          <p:cNvPr id="34" name="Rounded Rectangle 33"/>
          <p:cNvSpPr/>
          <p:nvPr/>
        </p:nvSpPr>
        <p:spPr>
          <a:xfrm>
            <a:off x="6309360" y="4343400"/>
            <a:ext cx="5330952" cy="182880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0" y="4498848"/>
            <a:ext cx="4846320" cy="365760"/>
          </a:xfrm>
          <a:prstGeom prst="rect">
            <a:avLst/>
          </a:prstGeom>
          <a:noFill/>
        </p:spPr>
        <p:txBody>
          <a:bodyPr wrap="square" anchor="t" lIns="0" rIns="0" tIns="0" bIns="0">
            <a:spAutoFit/>
          </a:bodyPr>
          <a:lstStyle/>
          <a:p>
            <a:pPr algn="l">
              <a:spcAft>
                <a:spcPts val="600"/>
              </a:spcAft>
            </a:pPr>
            <a:r>
              <a:rPr sz="1600" b="1" i="0">
                <a:solidFill>
                  <a:srgbClr val="0B1F3A"/>
                </a:solidFill>
                <a:latin typeface="Calibri"/>
              </a:rPr>
              <a:t>Data quality handled</a:t>
            </a:r>
          </a:p>
        </p:txBody>
      </p:sp>
      <p:sp>
        <p:nvSpPr>
          <p:cNvPr id="36" name="TextBox 35"/>
          <p:cNvSpPr txBox="1"/>
          <p:nvPr/>
        </p:nvSpPr>
        <p:spPr>
          <a:xfrm>
            <a:off x="6583680" y="4910328"/>
            <a:ext cx="4846320" cy="1188720"/>
          </a:xfrm>
          <a:prstGeom prst="rect">
            <a:avLst/>
          </a:prstGeom>
          <a:noFill/>
        </p:spPr>
        <p:txBody>
          <a:bodyPr wrap="square" lIns="0" rIns="0" tIns="0" bIns="0">
            <a:spAutoFit/>
          </a:bodyPr>
          <a:lstStyle/>
          <a:p>
            <a:pPr>
              <a:spcAft>
                <a:spcPts val="500"/>
              </a:spcAft>
            </a:pPr>
            <a:r>
              <a:rPr sz="1300" b="0" i="0">
                <a:solidFill>
                  <a:srgbClr val="EB6834"/>
                </a:solidFill>
                <a:latin typeface="Calibri"/>
              </a:rPr>
              <a:t>▸  </a:t>
            </a:r>
            <a:r>
              <a:rPr sz="1300" b="0" i="0">
                <a:solidFill>
                  <a:srgbClr val="1A1A19"/>
                </a:solidFill>
                <a:latin typeface="Calibri"/>
              </a:rPr>
              <a:t>4,862 missing cells filled (≈ 2 % of telemetry)</a:t>
            </a:r>
          </a:p>
          <a:p>
            <a:pPr>
              <a:spcAft>
                <a:spcPts val="500"/>
              </a:spcAft>
            </a:pPr>
            <a:r>
              <a:rPr sz="1300" b="0" i="0">
                <a:solidFill>
                  <a:srgbClr val="EB6834"/>
                </a:solidFill>
                <a:latin typeface="Calibri"/>
              </a:rPr>
              <a:t>▸  </a:t>
            </a:r>
            <a:r>
              <a:rPr sz="1300" b="0" i="0">
                <a:solidFill>
                  <a:srgbClr val="1A1A19"/>
                </a:solidFill>
                <a:latin typeface="Calibri"/>
              </a:rPr>
              <a:t>cuts filled, not interpolated: no light means no reading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METHOD</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8</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Three linear classifiers, written from scratch</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NumPy implementations in linkfail/models.py, checked against scikit-learn</a:t>
            </a:r>
          </a:p>
        </p:txBody>
      </p:sp>
      <p:sp>
        <p:nvSpPr>
          <p:cNvPr id="7" name="Rounded Rectangle 6"/>
          <p:cNvSpPr/>
          <p:nvPr/>
        </p:nvSpPr>
        <p:spPr>
          <a:xfrm>
            <a:off x="548640" y="1691640"/>
            <a:ext cx="3520440" cy="37947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22959" y="1920240"/>
            <a:ext cx="365760" cy="365760"/>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325880" y="1901952"/>
            <a:ext cx="2651760" cy="411480"/>
          </a:xfrm>
          <a:prstGeom prst="rect">
            <a:avLst/>
          </a:prstGeom>
          <a:noFill/>
        </p:spPr>
        <p:txBody>
          <a:bodyPr wrap="square" anchor="t" lIns="0" rIns="0" tIns="0" bIns="0">
            <a:spAutoFit/>
          </a:bodyPr>
          <a:lstStyle/>
          <a:p>
            <a:pPr algn="l">
              <a:spcAft>
                <a:spcPts val="600"/>
              </a:spcAft>
            </a:pPr>
            <a:r>
              <a:rPr sz="1900" b="1" i="0">
                <a:solidFill>
                  <a:srgbClr val="0B1F3A"/>
                </a:solidFill>
                <a:latin typeface="Cambria"/>
              </a:rPr>
              <a:t>Logistic Regression</a:t>
            </a:r>
          </a:p>
        </p:txBody>
      </p:sp>
      <p:sp>
        <p:nvSpPr>
          <p:cNvPr id="10" name="TextBox 9"/>
          <p:cNvSpPr txBox="1"/>
          <p:nvPr/>
        </p:nvSpPr>
        <p:spPr>
          <a:xfrm>
            <a:off x="822959" y="2450592"/>
            <a:ext cx="3017520" cy="274320"/>
          </a:xfrm>
          <a:prstGeom prst="rect">
            <a:avLst/>
          </a:prstGeom>
          <a:noFill/>
        </p:spPr>
        <p:txBody>
          <a:bodyPr wrap="square" anchor="t" lIns="0" rIns="0" tIns="0" bIns="0">
            <a:spAutoFit/>
          </a:bodyPr>
          <a:lstStyle/>
          <a:p>
            <a:pPr algn="l">
              <a:spcAft>
                <a:spcPts val="600"/>
              </a:spcAft>
            </a:pPr>
            <a:r>
              <a:rPr sz="1100" b="1" i="0">
                <a:solidFill>
                  <a:srgbClr val="52514E"/>
                </a:solidFill>
                <a:latin typeface="Calibri"/>
              </a:rPr>
              <a:t>DISCRIMINATIVE</a:t>
            </a:r>
          </a:p>
        </p:txBody>
      </p:sp>
      <p:sp>
        <p:nvSpPr>
          <p:cNvPr id="11" name="TextBox 10"/>
          <p:cNvSpPr txBox="1"/>
          <p:nvPr/>
        </p:nvSpPr>
        <p:spPr>
          <a:xfrm>
            <a:off x="822959" y="2834640"/>
            <a:ext cx="3063240" cy="2103120"/>
          </a:xfrm>
          <a:prstGeom prst="rect">
            <a:avLst/>
          </a:prstGeom>
          <a:noFill/>
        </p:spPr>
        <p:txBody>
          <a:bodyPr wrap="square" lIns="0" rIns="0" tIns="0" bIns="0">
            <a:spAutoFit/>
          </a:bodyPr>
          <a:lstStyle/>
          <a:p>
            <a:pPr>
              <a:spcAft>
                <a:spcPts val="900"/>
              </a:spcAft>
            </a:pPr>
            <a:r>
              <a:rPr sz="1300" b="0" i="0">
                <a:solidFill>
                  <a:srgbClr val="2A78D6"/>
                </a:solidFill>
                <a:latin typeface="Calibri"/>
              </a:rPr>
              <a:t>▸  </a:t>
            </a:r>
            <a:r>
              <a:rPr sz="1300" b="0" i="0">
                <a:solidFill>
                  <a:srgbClr val="1A1A19"/>
                </a:solidFill>
                <a:latin typeface="Calibri"/>
              </a:rPr>
              <a:t>J(θ) = −1/n Σ [y log h + (1−y) log(1−h)]</a:t>
            </a:r>
          </a:p>
          <a:p>
            <a:pPr>
              <a:spcAft>
                <a:spcPts val="900"/>
              </a:spcAft>
            </a:pPr>
            <a:r>
              <a:rPr sz="1300" b="0" i="0">
                <a:solidFill>
                  <a:srgbClr val="2A78D6"/>
                </a:solidFill>
                <a:latin typeface="Calibri"/>
              </a:rPr>
              <a:t>▸  </a:t>
            </a:r>
            <a:r>
              <a:rPr sz="1300" b="0" i="0">
                <a:solidFill>
                  <a:srgbClr val="1A1A19"/>
                </a:solidFill>
                <a:latin typeface="Calibri"/>
              </a:rPr>
              <a:t>Newton's method: θ ← θ − H⁻¹∇J</a:t>
            </a:r>
          </a:p>
          <a:p>
            <a:pPr>
              <a:spcAft>
                <a:spcPts val="900"/>
              </a:spcAft>
            </a:pPr>
            <a:r>
              <a:rPr sz="1300" b="0" i="0">
                <a:solidFill>
                  <a:srgbClr val="2A78D6"/>
                </a:solidFill>
                <a:latin typeface="Calibri"/>
              </a:rPr>
              <a:t>▸  </a:t>
            </a:r>
            <a:r>
              <a:rPr sz="1300" b="0" i="0">
                <a:solidFill>
                  <a:srgbClr val="1A1A19"/>
                </a:solidFill>
                <a:latin typeface="Calibri"/>
              </a:rPr>
              <a:t>Converges in 11 iterations, J = 0.0662</a:t>
            </a:r>
          </a:p>
        </p:txBody>
      </p:sp>
      <p:sp>
        <p:nvSpPr>
          <p:cNvPr id="12" name="Rounded Rectangle 11"/>
          <p:cNvSpPr/>
          <p:nvPr/>
        </p:nvSpPr>
        <p:spPr>
          <a:xfrm>
            <a:off x="822959" y="4846320"/>
            <a:ext cx="2971800" cy="411480"/>
          </a:xfrm>
          <a:prstGeom prst="roundRect">
            <a:avLst>
              <a:gd name="adj" fmla="val 50000"/>
            </a:avLst>
          </a:prstGeom>
          <a:solidFill>
            <a:srgbClr val="FFFFFF"/>
          </a:solidFill>
          <a:ln w="15875">
            <a:solidFill>
              <a:srgbClr val="2A78D6"/>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2A78D6"/>
                </a:solidFill>
                <a:latin typeface="Calibri"/>
              </a:rPr>
              <a:t>matches scikit-learn on 99.8% of test points</a:t>
            </a:r>
          </a:p>
        </p:txBody>
      </p:sp>
      <p:sp>
        <p:nvSpPr>
          <p:cNvPr id="13" name="Rounded Rectangle 12"/>
          <p:cNvSpPr/>
          <p:nvPr/>
        </p:nvSpPr>
        <p:spPr>
          <a:xfrm>
            <a:off x="4297679" y="1691640"/>
            <a:ext cx="3520440" cy="37947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4571999" y="1920240"/>
            <a:ext cx="365760" cy="36576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74919" y="1901952"/>
            <a:ext cx="2651760" cy="411480"/>
          </a:xfrm>
          <a:prstGeom prst="rect">
            <a:avLst/>
          </a:prstGeom>
          <a:noFill/>
        </p:spPr>
        <p:txBody>
          <a:bodyPr wrap="square" anchor="t" lIns="0" rIns="0" tIns="0" bIns="0">
            <a:spAutoFit/>
          </a:bodyPr>
          <a:lstStyle/>
          <a:p>
            <a:pPr algn="l">
              <a:spcAft>
                <a:spcPts val="600"/>
              </a:spcAft>
            </a:pPr>
            <a:r>
              <a:rPr sz="1900" b="1" i="0">
                <a:solidFill>
                  <a:srgbClr val="0B1F3A"/>
                </a:solidFill>
                <a:latin typeface="Cambria"/>
              </a:rPr>
              <a:t>GDA</a:t>
            </a:r>
          </a:p>
        </p:txBody>
      </p:sp>
      <p:sp>
        <p:nvSpPr>
          <p:cNvPr id="16" name="TextBox 15"/>
          <p:cNvSpPr txBox="1"/>
          <p:nvPr/>
        </p:nvSpPr>
        <p:spPr>
          <a:xfrm>
            <a:off x="4571999" y="2450592"/>
            <a:ext cx="3017520" cy="274320"/>
          </a:xfrm>
          <a:prstGeom prst="rect">
            <a:avLst/>
          </a:prstGeom>
          <a:noFill/>
        </p:spPr>
        <p:txBody>
          <a:bodyPr wrap="square" anchor="t" lIns="0" rIns="0" tIns="0" bIns="0">
            <a:spAutoFit/>
          </a:bodyPr>
          <a:lstStyle/>
          <a:p>
            <a:pPr algn="l">
              <a:spcAft>
                <a:spcPts val="600"/>
              </a:spcAft>
            </a:pPr>
            <a:r>
              <a:rPr sz="1100" b="1" i="0">
                <a:solidFill>
                  <a:srgbClr val="52514E"/>
                </a:solidFill>
                <a:latin typeface="Calibri"/>
              </a:rPr>
              <a:t>GENERATIVE</a:t>
            </a:r>
          </a:p>
        </p:txBody>
      </p:sp>
      <p:sp>
        <p:nvSpPr>
          <p:cNvPr id="17" name="TextBox 16"/>
          <p:cNvSpPr txBox="1"/>
          <p:nvPr/>
        </p:nvSpPr>
        <p:spPr>
          <a:xfrm>
            <a:off x="4571999" y="2834640"/>
            <a:ext cx="3063240" cy="2103120"/>
          </a:xfrm>
          <a:prstGeom prst="rect">
            <a:avLst/>
          </a:prstGeom>
          <a:noFill/>
        </p:spPr>
        <p:txBody>
          <a:bodyPr wrap="square" lIns="0" rIns="0" tIns="0" bIns="0">
            <a:spAutoFit/>
          </a:bodyPr>
          <a:lstStyle/>
          <a:p>
            <a:pPr>
              <a:spcAft>
                <a:spcPts val="900"/>
              </a:spcAft>
            </a:pPr>
            <a:r>
              <a:rPr sz="1300" b="0" i="0">
                <a:solidFill>
                  <a:srgbClr val="EB6834"/>
                </a:solidFill>
                <a:latin typeface="Calibri"/>
              </a:rPr>
              <a:t>▸  </a:t>
            </a:r>
            <a:r>
              <a:rPr sz="1300" b="0" i="0">
                <a:solidFill>
                  <a:srgbClr val="1A1A19"/>
                </a:solidFill>
                <a:latin typeface="Calibri"/>
              </a:rPr>
              <a:t>y ~ Bernoulli(φ),  x | y ~ N(μ_y, Σ)</a:t>
            </a:r>
          </a:p>
          <a:p>
            <a:pPr>
              <a:spcAft>
                <a:spcPts val="900"/>
              </a:spcAft>
            </a:pPr>
            <a:r>
              <a:rPr sz="1300" b="0" i="0">
                <a:solidFill>
                  <a:srgbClr val="EB6834"/>
                </a:solidFill>
                <a:latin typeface="Calibri"/>
              </a:rPr>
              <a:t>▸  </a:t>
            </a:r>
            <a:r>
              <a:rPr sz="1300" b="0" i="0">
                <a:solidFill>
                  <a:srgbClr val="1A1A19"/>
                </a:solidFill>
                <a:latin typeface="Calibri"/>
              </a:rPr>
              <a:t>Closed-form MLE: φ, μ₀, μ₁, shared Σ</a:t>
            </a:r>
          </a:p>
          <a:p>
            <a:pPr>
              <a:spcAft>
                <a:spcPts val="900"/>
              </a:spcAft>
            </a:pPr>
            <a:r>
              <a:rPr sz="1300" b="0" i="0">
                <a:solidFill>
                  <a:srgbClr val="EB6834"/>
                </a:solidFill>
                <a:latin typeface="Calibri"/>
              </a:rPr>
              <a:t>▸  </a:t>
            </a:r>
            <a:r>
              <a:rPr sz="1300" b="0" i="0">
                <a:solidFill>
                  <a:srgbClr val="1A1A19"/>
                </a:solidFill>
                <a:latin typeface="Calibri"/>
              </a:rPr>
              <a:t>Shared Σ ⇒ straight boundary at p(y|x) = 0.5</a:t>
            </a:r>
          </a:p>
        </p:txBody>
      </p:sp>
      <p:sp>
        <p:nvSpPr>
          <p:cNvPr id="18" name="Rounded Rectangle 17"/>
          <p:cNvSpPr/>
          <p:nvPr/>
        </p:nvSpPr>
        <p:spPr>
          <a:xfrm>
            <a:off x="4571999" y="4846320"/>
            <a:ext cx="2971800" cy="411480"/>
          </a:xfrm>
          <a:prstGeom prst="roundRect">
            <a:avLst>
              <a:gd name="adj" fmla="val 50000"/>
            </a:avLst>
          </a:prstGeom>
          <a:solidFill>
            <a:srgbClr val="FFFFFF"/>
          </a:solidFill>
          <a:ln w="15875">
            <a:solidFill>
              <a:srgbClr val="EB6834"/>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EB6834"/>
                </a:solidFill>
                <a:latin typeface="Calibri"/>
              </a:rPr>
              <a:t>matches scikit-learn on 100.0% of test points</a:t>
            </a:r>
          </a:p>
        </p:txBody>
      </p:sp>
      <p:sp>
        <p:nvSpPr>
          <p:cNvPr id="19" name="Rounded Rectangle 18"/>
          <p:cNvSpPr/>
          <p:nvPr/>
        </p:nvSpPr>
        <p:spPr>
          <a:xfrm>
            <a:off x="8046719" y="1691640"/>
            <a:ext cx="3520440" cy="37947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321040" y="1920240"/>
            <a:ext cx="365760" cy="365760"/>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23959" y="1901952"/>
            <a:ext cx="2651760" cy="411480"/>
          </a:xfrm>
          <a:prstGeom prst="rect">
            <a:avLst/>
          </a:prstGeom>
          <a:noFill/>
        </p:spPr>
        <p:txBody>
          <a:bodyPr wrap="square" anchor="t" lIns="0" rIns="0" tIns="0" bIns="0">
            <a:spAutoFit/>
          </a:bodyPr>
          <a:lstStyle/>
          <a:p>
            <a:pPr algn="l">
              <a:spcAft>
                <a:spcPts val="600"/>
              </a:spcAft>
            </a:pPr>
            <a:r>
              <a:rPr sz="1900" b="1" i="0">
                <a:solidFill>
                  <a:srgbClr val="0B1F3A"/>
                </a:solidFill>
                <a:latin typeface="Cambria"/>
              </a:rPr>
              <a:t>Linear SVM</a:t>
            </a:r>
          </a:p>
        </p:txBody>
      </p:sp>
      <p:sp>
        <p:nvSpPr>
          <p:cNvPr id="22" name="TextBox 21"/>
          <p:cNvSpPr txBox="1"/>
          <p:nvPr/>
        </p:nvSpPr>
        <p:spPr>
          <a:xfrm>
            <a:off x="8321040" y="2450592"/>
            <a:ext cx="3017520" cy="274320"/>
          </a:xfrm>
          <a:prstGeom prst="rect">
            <a:avLst/>
          </a:prstGeom>
          <a:noFill/>
        </p:spPr>
        <p:txBody>
          <a:bodyPr wrap="square" anchor="t" lIns="0" rIns="0" tIns="0" bIns="0">
            <a:spAutoFit/>
          </a:bodyPr>
          <a:lstStyle/>
          <a:p>
            <a:pPr algn="l">
              <a:spcAft>
                <a:spcPts val="600"/>
              </a:spcAft>
            </a:pPr>
            <a:r>
              <a:rPr sz="1100" b="1" i="0">
                <a:solidFill>
                  <a:srgbClr val="52514E"/>
                </a:solidFill>
                <a:latin typeface="Calibri"/>
              </a:rPr>
              <a:t>MAX-MARGIN</a:t>
            </a:r>
          </a:p>
        </p:txBody>
      </p:sp>
      <p:sp>
        <p:nvSpPr>
          <p:cNvPr id="23" name="TextBox 22"/>
          <p:cNvSpPr txBox="1"/>
          <p:nvPr/>
        </p:nvSpPr>
        <p:spPr>
          <a:xfrm>
            <a:off x="8321040" y="2834640"/>
            <a:ext cx="3063240" cy="2103120"/>
          </a:xfrm>
          <a:prstGeom prst="rect">
            <a:avLst/>
          </a:prstGeom>
          <a:noFill/>
        </p:spPr>
        <p:txBody>
          <a:bodyPr wrap="square" lIns="0" rIns="0" tIns="0" bIns="0">
            <a:spAutoFit/>
          </a:bodyPr>
          <a:lstStyle/>
          <a:p>
            <a:pPr>
              <a:spcAft>
                <a:spcPts val="900"/>
              </a:spcAft>
            </a:pPr>
            <a:r>
              <a:rPr sz="1300" b="0" i="0">
                <a:solidFill>
                  <a:srgbClr val="1BAF7A"/>
                </a:solidFill>
                <a:latin typeface="Calibri"/>
              </a:rPr>
              <a:t>▸  </a:t>
            </a:r>
            <a:r>
              <a:rPr sz="1300" b="0" i="0">
                <a:solidFill>
                  <a:srgbClr val="1A1A19"/>
                </a:solidFill>
                <a:latin typeface="Calibri"/>
              </a:rPr>
              <a:t>min λ/2‖w‖² + 1/n Σ max(0, 1 − y(wᵀx + b))</a:t>
            </a:r>
          </a:p>
          <a:p>
            <a:pPr>
              <a:spcAft>
                <a:spcPts val="900"/>
              </a:spcAft>
            </a:pPr>
            <a:r>
              <a:rPr sz="1300" b="0" i="0">
                <a:solidFill>
                  <a:srgbClr val="1BAF7A"/>
                </a:solidFill>
                <a:latin typeface="Calibri"/>
              </a:rPr>
              <a:t>▸  </a:t>
            </a:r>
            <a:r>
              <a:rPr sz="1300" b="0" i="0">
                <a:solidFill>
                  <a:srgbClr val="1A1A19"/>
                </a:solidFill>
                <a:latin typeface="Calibri"/>
              </a:rPr>
              <a:t>Mini-batch Pegasos sub-gradient solver</a:t>
            </a:r>
          </a:p>
          <a:p>
            <a:pPr>
              <a:spcAft>
                <a:spcPts val="900"/>
              </a:spcAft>
            </a:pPr>
            <a:r>
              <a:rPr sz="1300" b="0" i="0">
                <a:solidFill>
                  <a:srgbClr val="1BAF7A"/>
                </a:solidFill>
                <a:latin typeface="Calibri"/>
              </a:rPr>
              <a:t>▸  </a:t>
            </a:r>
            <a:r>
              <a:rPr sz="1300" b="0" i="0">
                <a:solidFill>
                  <a:srgbClr val="1A1A19"/>
                </a:solidFill>
                <a:latin typeface="Calibri"/>
              </a:rPr>
              <a:t>Iterate averaging, 200 epochs</a:t>
            </a:r>
          </a:p>
        </p:txBody>
      </p:sp>
      <p:sp>
        <p:nvSpPr>
          <p:cNvPr id="24" name="Rounded Rectangle 23"/>
          <p:cNvSpPr/>
          <p:nvPr/>
        </p:nvSpPr>
        <p:spPr>
          <a:xfrm>
            <a:off x="8321040" y="4846320"/>
            <a:ext cx="2971800" cy="411480"/>
          </a:xfrm>
          <a:prstGeom prst="roundRect">
            <a:avLst>
              <a:gd name="adj" fmla="val 50000"/>
            </a:avLst>
          </a:prstGeom>
          <a:solidFill>
            <a:srgbClr val="FFFFFF"/>
          </a:solidFill>
          <a:ln w="15875">
            <a:solidFill>
              <a:srgbClr val="1BAF7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100" b="1" i="0">
                <a:solidFill>
                  <a:srgbClr val="1BAF7A"/>
                </a:solidFill>
                <a:latin typeface="Calibri"/>
              </a:rPr>
              <a:t>matches scikit-learn on 100.0% of test points</a:t>
            </a:r>
          </a:p>
        </p:txBody>
      </p:sp>
      <p:sp>
        <p:nvSpPr>
          <p:cNvPr id="25" name="TextBox 24"/>
          <p:cNvSpPr txBox="1"/>
          <p:nvPr/>
        </p:nvSpPr>
        <p:spPr>
          <a:xfrm>
            <a:off x="548640" y="5760720"/>
            <a:ext cx="11064240" cy="457200"/>
          </a:xfrm>
          <a:prstGeom prst="rect">
            <a:avLst/>
          </a:prstGeom>
          <a:noFill/>
        </p:spPr>
        <p:txBody>
          <a:bodyPr wrap="square" anchor="t" lIns="0" rIns="0" tIns="0" bIns="0">
            <a:spAutoFit/>
          </a:bodyPr>
          <a:lstStyle/>
          <a:p>
            <a:pPr algn="l">
              <a:spcAft>
                <a:spcPts val="600"/>
              </a:spcAft>
            </a:pPr>
            <a:r>
              <a:rPr sz="1300" b="0" i="0">
                <a:solidFill>
                  <a:srgbClr val="52514E"/>
                </a:solidFill>
                <a:latin typeface="Calibri"/>
              </a:rPr>
              <a:t>All three take raw (X1, X2). LR and SVM standardise internally and report θ in raw dB units, so coefficients are directly interpretable.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RESULTS</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9</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What the model sees</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Each dot is one link in one 2-minute bin, coloured by its OSNR label</a:t>
            </a:r>
          </a:p>
        </p:txBody>
      </p:sp>
      <p:pic>
        <p:nvPicPr>
          <p:cNvPr id="7" name="Picture 6" descr="dataset_scatter.png"/>
          <p:cNvPicPr>
            <a:picLocks noChangeAspect="1"/>
          </p:cNvPicPr>
          <p:nvPr/>
        </p:nvPicPr>
        <p:blipFill>
          <a:blip r:embed="rId2"/>
          <a:stretch>
            <a:fillRect/>
          </a:stretch>
        </p:blipFill>
        <p:spPr>
          <a:xfrm>
            <a:off x="411480" y="1645920"/>
            <a:ext cx="7772400" cy="3069771"/>
          </a:xfrm>
          <a:prstGeom prst="rect">
            <a:avLst/>
          </a:prstGeom>
        </p:spPr>
      </p:pic>
      <p:sp>
        <p:nvSpPr>
          <p:cNvPr id="8" name="Oval 7"/>
          <p:cNvSpPr/>
          <p:nvPr/>
        </p:nvSpPr>
        <p:spPr>
          <a:xfrm>
            <a:off x="8458200" y="1901952"/>
            <a:ext cx="237744" cy="237744"/>
          </a:xfrm>
          <a:prstGeom prst="ellipse">
            <a:avLst/>
          </a:prstGeom>
          <a:solidFill>
            <a:srgbClr val="2A78D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0" y="1828800"/>
            <a:ext cx="2743200" cy="320040"/>
          </a:xfrm>
          <a:prstGeom prst="rect">
            <a:avLst/>
          </a:prstGeom>
          <a:noFill/>
        </p:spPr>
        <p:txBody>
          <a:bodyPr wrap="square" anchor="t" lIns="0" rIns="0" tIns="0" bIns="0">
            <a:spAutoFit/>
          </a:bodyPr>
          <a:lstStyle/>
          <a:p>
            <a:pPr algn="l">
              <a:spcAft>
                <a:spcPts val="600"/>
              </a:spcAft>
            </a:pPr>
            <a:r>
              <a:rPr sz="1500" b="1" i="0">
                <a:solidFill>
                  <a:srgbClr val="1A1A19"/>
                </a:solidFill>
                <a:latin typeface="Calibri"/>
              </a:rPr>
              <a:t>Healthy</a:t>
            </a:r>
          </a:p>
        </p:txBody>
      </p:sp>
      <p:sp>
        <p:nvSpPr>
          <p:cNvPr id="10" name="TextBox 9"/>
          <p:cNvSpPr txBox="1"/>
          <p:nvPr/>
        </p:nvSpPr>
        <p:spPr>
          <a:xfrm>
            <a:off x="8869680" y="2148840"/>
            <a:ext cx="2743200" cy="365760"/>
          </a:xfrm>
          <a:prstGeom prst="rect">
            <a:avLst/>
          </a:prstGeom>
          <a:noFill/>
        </p:spPr>
        <p:txBody>
          <a:bodyPr wrap="square" anchor="t" lIns="0" rIns="0" tIns="0" bIns="0">
            <a:spAutoFit/>
          </a:bodyPr>
          <a:lstStyle/>
          <a:p>
            <a:pPr algn="l">
              <a:spcAft>
                <a:spcPts val="600"/>
              </a:spcAft>
            </a:pPr>
            <a:r>
              <a:rPr sz="1300" b="0" i="0">
                <a:solidFill>
                  <a:srgbClr val="52514E"/>
                </a:solidFill>
                <a:latin typeface="Calibri"/>
              </a:rPr>
              <a:t>cluster tightly at (0, 0)</a:t>
            </a:r>
          </a:p>
        </p:txBody>
      </p:sp>
      <p:sp>
        <p:nvSpPr>
          <p:cNvPr id="11" name="Oval 10"/>
          <p:cNvSpPr/>
          <p:nvPr/>
        </p:nvSpPr>
        <p:spPr>
          <a:xfrm>
            <a:off x="8458200" y="2743200"/>
            <a:ext cx="237744" cy="23774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869680" y="2670048"/>
            <a:ext cx="2743200" cy="320040"/>
          </a:xfrm>
          <a:prstGeom prst="rect">
            <a:avLst/>
          </a:prstGeom>
          <a:noFill/>
        </p:spPr>
        <p:txBody>
          <a:bodyPr wrap="square" anchor="t" lIns="0" rIns="0" tIns="0" bIns="0">
            <a:spAutoFit/>
          </a:bodyPr>
          <a:lstStyle/>
          <a:p>
            <a:pPr algn="l">
              <a:spcAft>
                <a:spcPts val="600"/>
              </a:spcAft>
            </a:pPr>
            <a:r>
              <a:rPr sz="1500" b="1" i="0">
                <a:solidFill>
                  <a:srgbClr val="1A1A19"/>
                </a:solidFill>
                <a:latin typeface="Calibri"/>
              </a:rPr>
              <a:t>Amplifier faults</a:t>
            </a:r>
          </a:p>
        </p:txBody>
      </p:sp>
      <p:sp>
        <p:nvSpPr>
          <p:cNvPr id="13" name="TextBox 12"/>
          <p:cNvSpPr txBox="1"/>
          <p:nvPr/>
        </p:nvSpPr>
        <p:spPr>
          <a:xfrm>
            <a:off x="8869680" y="2990088"/>
            <a:ext cx="2743200" cy="365760"/>
          </a:xfrm>
          <a:prstGeom prst="rect">
            <a:avLst/>
          </a:prstGeom>
          <a:noFill/>
        </p:spPr>
        <p:txBody>
          <a:bodyPr wrap="square" anchor="t" lIns="0" rIns="0" tIns="0" bIns="0">
            <a:spAutoFit/>
          </a:bodyPr>
          <a:lstStyle/>
          <a:p>
            <a:pPr algn="l">
              <a:spcAft>
                <a:spcPts val="600"/>
              </a:spcAft>
            </a:pPr>
            <a:r>
              <a:rPr sz="1300" b="0" i="0">
                <a:solidFill>
                  <a:srgbClr val="52514E"/>
                </a:solidFill>
                <a:latin typeface="Calibri"/>
              </a:rPr>
              <a:t>spread left: X1 ≪ 0</a:t>
            </a:r>
          </a:p>
        </p:txBody>
      </p:sp>
      <p:sp>
        <p:nvSpPr>
          <p:cNvPr id="14" name="Oval 13"/>
          <p:cNvSpPr/>
          <p:nvPr/>
        </p:nvSpPr>
        <p:spPr>
          <a:xfrm>
            <a:off x="8458200" y="3584448"/>
            <a:ext cx="237744" cy="237744"/>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69680" y="3511296"/>
            <a:ext cx="2743200" cy="320040"/>
          </a:xfrm>
          <a:prstGeom prst="rect">
            <a:avLst/>
          </a:prstGeom>
          <a:noFill/>
        </p:spPr>
        <p:txBody>
          <a:bodyPr wrap="square" anchor="t" lIns="0" rIns="0" tIns="0" bIns="0">
            <a:spAutoFit/>
          </a:bodyPr>
          <a:lstStyle/>
          <a:p>
            <a:pPr algn="l">
              <a:spcAft>
                <a:spcPts val="600"/>
              </a:spcAft>
            </a:pPr>
            <a:r>
              <a:rPr sz="1500" b="1" i="0">
                <a:solidFill>
                  <a:srgbClr val="1A1A19"/>
                </a:solidFill>
                <a:latin typeface="Calibri"/>
              </a:rPr>
              <a:t>Fibre faults</a:t>
            </a:r>
          </a:p>
        </p:txBody>
      </p:sp>
      <p:sp>
        <p:nvSpPr>
          <p:cNvPr id="16" name="TextBox 15"/>
          <p:cNvSpPr txBox="1"/>
          <p:nvPr/>
        </p:nvSpPr>
        <p:spPr>
          <a:xfrm>
            <a:off x="8869680" y="3831335"/>
            <a:ext cx="2743200" cy="365760"/>
          </a:xfrm>
          <a:prstGeom prst="rect">
            <a:avLst/>
          </a:prstGeom>
          <a:noFill/>
        </p:spPr>
        <p:txBody>
          <a:bodyPr wrap="square" anchor="t" lIns="0" rIns="0" tIns="0" bIns="0">
            <a:spAutoFit/>
          </a:bodyPr>
          <a:lstStyle/>
          <a:p>
            <a:pPr algn="l">
              <a:spcAft>
                <a:spcPts val="600"/>
              </a:spcAft>
            </a:pPr>
            <a:r>
              <a:rPr sz="1300" b="0" i="0">
                <a:solidFill>
                  <a:srgbClr val="52514E"/>
                </a:solidFill>
                <a:latin typeface="Calibri"/>
              </a:rPr>
              <a:t>spread down: X2 ≪ 0</a:t>
            </a:r>
          </a:p>
        </p:txBody>
      </p:sp>
      <p:sp>
        <p:nvSpPr>
          <p:cNvPr id="17" name="Oval 16"/>
          <p:cNvSpPr/>
          <p:nvPr/>
        </p:nvSpPr>
        <p:spPr>
          <a:xfrm>
            <a:off x="8458200" y="4425696"/>
            <a:ext cx="237744" cy="237744"/>
          </a:xfrm>
          <a:prstGeom prst="ellipse">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869680" y="4352544"/>
            <a:ext cx="2743200" cy="320040"/>
          </a:xfrm>
          <a:prstGeom prst="rect">
            <a:avLst/>
          </a:prstGeom>
          <a:noFill/>
        </p:spPr>
        <p:txBody>
          <a:bodyPr wrap="square" anchor="t" lIns="0" rIns="0" tIns="0" bIns="0">
            <a:spAutoFit/>
          </a:bodyPr>
          <a:lstStyle/>
          <a:p>
            <a:pPr algn="l">
              <a:spcAft>
                <a:spcPts val="600"/>
              </a:spcAft>
            </a:pPr>
            <a:r>
              <a:rPr sz="1500" b="1" i="0">
                <a:solidFill>
                  <a:srgbClr val="1A1A19"/>
                </a:solidFill>
                <a:latin typeface="Calibri"/>
              </a:rPr>
              <a:t>Fibre cuts</a:t>
            </a:r>
          </a:p>
        </p:txBody>
      </p:sp>
      <p:sp>
        <p:nvSpPr>
          <p:cNvPr id="19" name="TextBox 18"/>
          <p:cNvSpPr txBox="1"/>
          <p:nvPr/>
        </p:nvSpPr>
        <p:spPr>
          <a:xfrm>
            <a:off x="8869680" y="4672583"/>
            <a:ext cx="2743200" cy="365760"/>
          </a:xfrm>
          <a:prstGeom prst="rect">
            <a:avLst/>
          </a:prstGeom>
          <a:noFill/>
        </p:spPr>
        <p:txBody>
          <a:bodyPr wrap="square" anchor="t" lIns="0" rIns="0" tIns="0" bIns="0">
            <a:spAutoFit/>
          </a:bodyPr>
          <a:lstStyle/>
          <a:p>
            <a:pPr algn="l">
              <a:spcAft>
                <a:spcPts val="600"/>
              </a:spcAft>
            </a:pPr>
            <a:r>
              <a:rPr sz="1300" b="0" i="0">
                <a:solidFill>
                  <a:srgbClr val="52514E"/>
                </a:solidFill>
                <a:latin typeface="Calibri"/>
              </a:rPr>
              <a:t>a separate island at X2 ≈ −40 dB</a:t>
            </a:r>
          </a:p>
        </p:txBody>
      </p:sp>
      <p:sp>
        <p:nvSpPr>
          <p:cNvPr id="20" name="Oval 19"/>
          <p:cNvSpPr/>
          <p:nvPr/>
        </p:nvSpPr>
        <p:spPr>
          <a:xfrm>
            <a:off x="8458200" y="5266944"/>
            <a:ext cx="237744" cy="237744"/>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869680" y="5193792"/>
            <a:ext cx="2743200" cy="320040"/>
          </a:xfrm>
          <a:prstGeom prst="rect">
            <a:avLst/>
          </a:prstGeom>
          <a:noFill/>
        </p:spPr>
        <p:txBody>
          <a:bodyPr wrap="square" anchor="t" lIns="0" rIns="0" tIns="0" bIns="0">
            <a:spAutoFit/>
          </a:bodyPr>
          <a:lstStyle/>
          <a:p>
            <a:pPr algn="l">
              <a:spcAft>
                <a:spcPts val="600"/>
              </a:spcAft>
            </a:pPr>
            <a:r>
              <a:rPr sz="1500" b="1" i="0">
                <a:solidFill>
                  <a:srgbClr val="1A1A19"/>
                </a:solidFill>
                <a:latin typeface="Calibri"/>
              </a:rPr>
              <a:t>Boundary</a:t>
            </a:r>
          </a:p>
        </p:txBody>
      </p:sp>
      <p:sp>
        <p:nvSpPr>
          <p:cNvPr id="22" name="TextBox 21"/>
          <p:cNvSpPr txBox="1"/>
          <p:nvPr/>
        </p:nvSpPr>
        <p:spPr>
          <a:xfrm>
            <a:off x="8869680" y="5513831"/>
            <a:ext cx="2743200" cy="365760"/>
          </a:xfrm>
          <a:prstGeom prst="rect">
            <a:avLst/>
          </a:prstGeom>
          <a:noFill/>
        </p:spPr>
        <p:txBody>
          <a:bodyPr wrap="square" anchor="t" lIns="0" rIns="0" tIns="0" bIns="0">
            <a:spAutoFit/>
          </a:bodyPr>
          <a:lstStyle/>
          <a:p>
            <a:pPr algn="l">
              <a:spcAft>
                <a:spcPts val="600"/>
              </a:spcAft>
            </a:pPr>
            <a:r>
              <a:rPr sz="1300" b="0" i="0">
                <a:solidFill>
                  <a:srgbClr val="52514E"/>
                </a:solidFill>
                <a:latin typeface="Calibri"/>
              </a:rPr>
              <a:t>nearly a straight line, with overlap at the edge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RESULTS</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10</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Decision boundaries on the held-out test set</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1500 samples never used in training — compare with Fig. 4–5 of the paper</a:t>
            </a:r>
          </a:p>
        </p:txBody>
      </p:sp>
      <p:pic>
        <p:nvPicPr>
          <p:cNvPr id="7" name="Picture 6" descr="decision_boundaries.png"/>
          <p:cNvPicPr>
            <a:picLocks noChangeAspect="1"/>
          </p:cNvPicPr>
          <p:nvPr/>
        </p:nvPicPr>
        <p:blipFill>
          <a:blip r:embed="rId2"/>
          <a:stretch>
            <a:fillRect/>
          </a:stretch>
        </p:blipFill>
        <p:spPr>
          <a:xfrm>
            <a:off x="411480" y="1600200"/>
            <a:ext cx="11338560" cy="3351649"/>
          </a:xfrm>
          <a:prstGeom prst="rect">
            <a:avLst/>
          </a:prstGeom>
        </p:spPr>
      </p:pic>
      <p:sp>
        <p:nvSpPr>
          <p:cNvPr id="8" name="Rounded Rectangle 7"/>
          <p:cNvSpPr/>
          <p:nvPr/>
        </p:nvSpPr>
        <p:spPr>
          <a:xfrm>
            <a:off x="548640" y="5029200"/>
            <a:ext cx="3547872" cy="11887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5148072"/>
            <a:ext cx="3145536" cy="594360"/>
          </a:xfrm>
          <a:prstGeom prst="rect">
            <a:avLst/>
          </a:prstGeom>
          <a:noFill/>
        </p:spPr>
        <p:txBody>
          <a:bodyPr wrap="square" anchor="t" lIns="0" rIns="0" tIns="0" bIns="0">
            <a:spAutoFit/>
          </a:bodyPr>
          <a:lstStyle/>
          <a:p>
            <a:pPr algn="l">
              <a:spcAft>
                <a:spcPts val="600"/>
              </a:spcAft>
            </a:pPr>
            <a:r>
              <a:rPr sz="2800" b="1" i="0">
                <a:solidFill>
                  <a:srgbClr val="2A78D6"/>
                </a:solidFill>
                <a:latin typeface="Cambria"/>
              </a:rPr>
              <a:t>96.5%</a:t>
            </a:r>
          </a:p>
        </p:txBody>
      </p:sp>
      <p:sp>
        <p:nvSpPr>
          <p:cNvPr id="10" name="TextBox 9"/>
          <p:cNvSpPr txBox="1"/>
          <p:nvPr/>
        </p:nvSpPr>
        <p:spPr>
          <a:xfrm>
            <a:off x="749808" y="5779008"/>
            <a:ext cx="3145536" cy="36576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Logistic Regression  ·  θ = (-10.44, -1.61, -1.50)</a:t>
            </a:r>
          </a:p>
        </p:txBody>
      </p:sp>
      <p:sp>
        <p:nvSpPr>
          <p:cNvPr id="11" name="Rounded Rectangle 10"/>
          <p:cNvSpPr/>
          <p:nvPr/>
        </p:nvSpPr>
        <p:spPr>
          <a:xfrm>
            <a:off x="4315968" y="5029200"/>
            <a:ext cx="3547872" cy="11887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17136" y="5148072"/>
            <a:ext cx="3145536" cy="594360"/>
          </a:xfrm>
          <a:prstGeom prst="rect">
            <a:avLst/>
          </a:prstGeom>
          <a:noFill/>
        </p:spPr>
        <p:txBody>
          <a:bodyPr wrap="square" anchor="t" lIns="0" rIns="0" tIns="0" bIns="0">
            <a:spAutoFit/>
          </a:bodyPr>
          <a:lstStyle/>
          <a:p>
            <a:pPr algn="l">
              <a:spcAft>
                <a:spcPts val="600"/>
              </a:spcAft>
            </a:pPr>
            <a:r>
              <a:rPr sz="2800" b="1" i="0">
                <a:solidFill>
                  <a:srgbClr val="EB6834"/>
                </a:solidFill>
                <a:latin typeface="Cambria"/>
              </a:rPr>
              <a:t>88.9%</a:t>
            </a:r>
          </a:p>
        </p:txBody>
      </p:sp>
      <p:sp>
        <p:nvSpPr>
          <p:cNvPr id="13" name="TextBox 12"/>
          <p:cNvSpPr txBox="1"/>
          <p:nvPr/>
        </p:nvSpPr>
        <p:spPr>
          <a:xfrm>
            <a:off x="4517136" y="5779008"/>
            <a:ext cx="3145536" cy="36576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GDA  ·  θ = (-5.73, -0.95, -0.41)</a:t>
            </a:r>
          </a:p>
        </p:txBody>
      </p:sp>
      <p:sp>
        <p:nvSpPr>
          <p:cNvPr id="14" name="Rounded Rectangle 13"/>
          <p:cNvSpPr/>
          <p:nvPr/>
        </p:nvSpPr>
        <p:spPr>
          <a:xfrm>
            <a:off x="8083296" y="5029200"/>
            <a:ext cx="3547872" cy="118872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284464" y="5148072"/>
            <a:ext cx="3145536" cy="594360"/>
          </a:xfrm>
          <a:prstGeom prst="rect">
            <a:avLst/>
          </a:prstGeom>
          <a:noFill/>
        </p:spPr>
        <p:txBody>
          <a:bodyPr wrap="square" anchor="t" lIns="0" rIns="0" tIns="0" bIns="0">
            <a:spAutoFit/>
          </a:bodyPr>
          <a:lstStyle/>
          <a:p>
            <a:pPr algn="l">
              <a:spcAft>
                <a:spcPts val="600"/>
              </a:spcAft>
            </a:pPr>
            <a:r>
              <a:rPr sz="2800" b="1" i="0">
                <a:solidFill>
                  <a:srgbClr val="1BAF7A"/>
                </a:solidFill>
                <a:latin typeface="Cambria"/>
              </a:rPr>
              <a:t>96.6%</a:t>
            </a:r>
          </a:p>
        </p:txBody>
      </p:sp>
      <p:sp>
        <p:nvSpPr>
          <p:cNvPr id="16" name="TextBox 15"/>
          <p:cNvSpPr txBox="1"/>
          <p:nvPr/>
        </p:nvSpPr>
        <p:spPr>
          <a:xfrm>
            <a:off x="8284464" y="5779008"/>
            <a:ext cx="3145536" cy="36576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Linear SVM  ·  θ = (-6.18, -0.96, -0.89)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RESULTS</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11</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Results vs. the paper</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Same ranking; the gap has a physical explanation (next slides)</a:t>
            </a:r>
          </a:p>
        </p:txBody>
      </p:sp>
      <p:graphicFrame>
        <p:nvGraphicFramePr>
          <p:cNvPr id="7" name="Chart 6"/>
          <p:cNvGraphicFramePr>
            <a:graphicFrameLocks noGrp="1"/>
          </p:cNvGraphicFramePr>
          <p:nvPr/>
        </p:nvGraphicFramePr>
        <p:xfrm>
          <a:off x="457200" y="1600200"/>
          <a:ext cx="6766560" cy="4572000"/>
        </p:xfrm>
        <a:graphic>
          <a:graphicData uri="http://schemas.openxmlformats.org/drawingml/2006/chart">
            <c:chart xmlns:c="http://schemas.openxmlformats.org/drawingml/2006/chart" r:id="rId2"/>
          </a:graphicData>
        </a:graphic>
      </p:graphicFrame>
      <p:sp>
        <p:nvSpPr>
          <p:cNvPr id="8" name="Rounded Rectangle 7"/>
          <p:cNvSpPr/>
          <p:nvPr/>
        </p:nvSpPr>
        <p:spPr>
          <a:xfrm>
            <a:off x="7589520" y="1737360"/>
            <a:ext cx="4050791"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90688" y="1856231"/>
            <a:ext cx="3648456" cy="594360"/>
          </a:xfrm>
          <a:prstGeom prst="rect">
            <a:avLst/>
          </a:prstGeom>
          <a:noFill/>
        </p:spPr>
        <p:txBody>
          <a:bodyPr wrap="square" anchor="t" lIns="0" rIns="0" tIns="0" bIns="0">
            <a:spAutoFit/>
          </a:bodyPr>
          <a:lstStyle/>
          <a:p>
            <a:pPr algn="l">
              <a:spcAft>
                <a:spcPts val="600"/>
              </a:spcAft>
            </a:pPr>
            <a:r>
              <a:rPr sz="3200" b="1" i="0">
                <a:solidFill>
                  <a:srgbClr val="2A78D6"/>
                </a:solidFill>
                <a:latin typeface="Cambria"/>
              </a:rPr>
              <a:t>0.995</a:t>
            </a:r>
          </a:p>
        </p:txBody>
      </p:sp>
      <p:sp>
        <p:nvSpPr>
          <p:cNvPr id="10" name="TextBox 9"/>
          <p:cNvSpPr txBox="1"/>
          <p:nvPr/>
        </p:nvSpPr>
        <p:spPr>
          <a:xfrm>
            <a:off x="7790688" y="2487168"/>
            <a:ext cx="3648456"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ROC-AUC of LR and linear SVM: ranking is near-perfect, errors sit at the boundary</a:t>
            </a:r>
          </a:p>
        </p:txBody>
      </p:sp>
      <p:sp>
        <p:nvSpPr>
          <p:cNvPr id="11" name="Rounded Rectangle 10"/>
          <p:cNvSpPr/>
          <p:nvPr/>
        </p:nvSpPr>
        <p:spPr>
          <a:xfrm>
            <a:off x="7589520" y="3154680"/>
            <a:ext cx="4050791"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790688" y="3273552"/>
            <a:ext cx="3648456" cy="594360"/>
          </a:xfrm>
          <a:prstGeom prst="rect">
            <a:avLst/>
          </a:prstGeom>
          <a:noFill/>
        </p:spPr>
        <p:txBody>
          <a:bodyPr wrap="square" anchor="t" lIns="0" rIns="0" tIns="0" bIns="0">
            <a:spAutoFit/>
          </a:bodyPr>
          <a:lstStyle/>
          <a:p>
            <a:pPr algn="l">
              <a:spcAft>
                <a:spcPts val="600"/>
              </a:spcAft>
            </a:pPr>
            <a:r>
              <a:rPr sz="3200" b="1" i="0">
                <a:solidFill>
                  <a:srgbClr val="1BAF7A"/>
                </a:solidFill>
                <a:latin typeface="Cambria"/>
              </a:rPr>
              <a:t>96.9%</a:t>
            </a:r>
          </a:p>
        </p:txBody>
      </p:sp>
      <p:sp>
        <p:nvSpPr>
          <p:cNvPr id="13" name="TextBox 12"/>
          <p:cNvSpPr txBox="1"/>
          <p:nvPr/>
        </p:nvSpPr>
        <p:spPr>
          <a:xfrm>
            <a:off x="7790688" y="3904488"/>
            <a:ext cx="3648456"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on routes never seen in training (GroupKFold): no overfitting to specific links</a:t>
            </a:r>
          </a:p>
        </p:txBody>
      </p:sp>
      <p:sp>
        <p:nvSpPr>
          <p:cNvPr id="14" name="Rounded Rectangle 13"/>
          <p:cNvSpPr/>
          <p:nvPr/>
        </p:nvSpPr>
        <p:spPr>
          <a:xfrm>
            <a:off x="7589520" y="4572000"/>
            <a:ext cx="4050791"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90688" y="4690872"/>
            <a:ext cx="3648456" cy="594360"/>
          </a:xfrm>
          <a:prstGeom prst="rect">
            <a:avLst/>
          </a:prstGeom>
          <a:noFill/>
        </p:spPr>
        <p:txBody>
          <a:bodyPr wrap="square" anchor="t" lIns="0" rIns="0" tIns="0" bIns="0">
            <a:spAutoFit/>
          </a:bodyPr>
          <a:lstStyle/>
          <a:p>
            <a:pPr algn="l">
              <a:spcAft>
                <a:spcPts val="600"/>
              </a:spcAft>
            </a:pPr>
            <a:r>
              <a:rPr sz="3200" b="1" i="0">
                <a:solidFill>
                  <a:srgbClr val="EB6834"/>
                </a:solidFill>
                <a:latin typeface="Cambria"/>
              </a:rPr>
              <a:t>0.59</a:t>
            </a:r>
          </a:p>
        </p:txBody>
      </p:sp>
      <p:sp>
        <p:nvSpPr>
          <p:cNvPr id="16" name="TextBox 15"/>
          <p:cNvSpPr txBox="1"/>
          <p:nvPr/>
        </p:nvSpPr>
        <p:spPr>
          <a:xfrm>
            <a:off x="7790688" y="5321808"/>
            <a:ext cx="3648456"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GDA recall: it misses 4 in 10 failures despite high precision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RESULTS</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12</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Beyond accuracy: robust on unseen links</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Precision/recall on the test set and cross-validation over all 6000 samples</a:t>
            </a:r>
          </a:p>
        </p:txBody>
      </p:sp>
      <p:graphicFrame>
        <p:nvGraphicFramePr>
          <p:cNvPr id="7" name="Table 6"/>
          <p:cNvGraphicFramePr>
            <a:graphicFrameLocks noGrp="1"/>
          </p:cNvGraphicFramePr>
          <p:nvPr/>
        </p:nvGraphicFramePr>
        <p:xfrm>
          <a:off x="548640" y="1691640"/>
          <a:ext cx="11091672" cy="1645920"/>
        </p:xfrm>
        <a:graphic>
          <a:graphicData uri="http://schemas.openxmlformats.org/drawingml/2006/table">
            <a:tbl>
              <a:tblPr firstRow="1" bandRow="1">
                <a:tableStyleId>{5C22544A-7EE6-4342-B048-85BDC9FD1C3A}</a:tableStyleId>
              </a:tblPr>
              <a:tblGrid>
                <a:gridCol w="2377440"/>
                <a:gridCol w="1005840"/>
                <a:gridCol w="1143000"/>
                <a:gridCol w="1005840"/>
                <a:gridCol w="914400"/>
                <a:gridCol w="914400"/>
                <a:gridCol w="1737360"/>
                <a:gridCol w="1993392"/>
              </a:tblGrid>
              <a:tr h="411480">
                <a:tc>
                  <a:txBody>
                    <a:bodyPr/>
                    <a:lstStyle/>
                    <a:p>
                      <a:r>
                        <a:rPr sz="1400" b="1">
                          <a:solidFill>
                            <a:srgbClr val="FFFFFF"/>
                          </a:solidFill>
                          <a:latin typeface="Calibri"/>
                        </a:rPr>
                        <a:t>Classifier</a:t>
                      </a:r>
                    </a:p>
                  </a:txBody>
                  <a:tcPr>
                    <a:solidFill>
                      <a:srgbClr val="0B1F3A"/>
                    </a:solidFill>
                  </a:tcPr>
                </a:tc>
                <a:tc>
                  <a:txBody>
                    <a:bodyPr/>
                    <a:lstStyle/>
                    <a:p>
                      <a:r>
                        <a:rPr sz="1400" b="1">
                          <a:solidFill>
                            <a:srgbClr val="FFFFFF"/>
                          </a:solidFill>
                          <a:latin typeface="Calibri"/>
                        </a:rPr>
                        <a:t>Acc.</a:t>
                      </a:r>
                    </a:p>
                  </a:txBody>
                  <a:tcPr>
                    <a:solidFill>
                      <a:srgbClr val="0B1F3A"/>
                    </a:solidFill>
                  </a:tcPr>
                </a:tc>
                <a:tc>
                  <a:txBody>
                    <a:bodyPr/>
                    <a:lstStyle/>
                    <a:p>
                      <a:r>
                        <a:rPr sz="1400" b="1">
                          <a:solidFill>
                            <a:srgbClr val="FFFFFF"/>
                          </a:solidFill>
                          <a:latin typeface="Calibri"/>
                        </a:rPr>
                        <a:t>Precision</a:t>
                      </a:r>
                    </a:p>
                  </a:txBody>
                  <a:tcPr>
                    <a:solidFill>
                      <a:srgbClr val="0B1F3A"/>
                    </a:solidFill>
                  </a:tcPr>
                </a:tc>
                <a:tc>
                  <a:txBody>
                    <a:bodyPr/>
                    <a:lstStyle/>
                    <a:p>
                      <a:r>
                        <a:rPr sz="1400" b="1">
                          <a:solidFill>
                            <a:srgbClr val="FFFFFF"/>
                          </a:solidFill>
                          <a:latin typeface="Calibri"/>
                        </a:rPr>
                        <a:t>Recall</a:t>
                      </a:r>
                    </a:p>
                  </a:txBody>
                  <a:tcPr>
                    <a:solidFill>
                      <a:srgbClr val="0B1F3A"/>
                    </a:solidFill>
                  </a:tcPr>
                </a:tc>
                <a:tc>
                  <a:txBody>
                    <a:bodyPr/>
                    <a:lstStyle/>
                    <a:p>
                      <a:r>
                        <a:rPr sz="1400" b="1">
                          <a:solidFill>
                            <a:srgbClr val="FFFFFF"/>
                          </a:solidFill>
                          <a:latin typeface="Calibri"/>
                        </a:rPr>
                        <a:t>F1</a:t>
                      </a:r>
                    </a:p>
                  </a:txBody>
                  <a:tcPr>
                    <a:solidFill>
                      <a:srgbClr val="0B1F3A"/>
                    </a:solidFill>
                  </a:tcPr>
                </a:tc>
                <a:tc>
                  <a:txBody>
                    <a:bodyPr/>
                    <a:lstStyle/>
                    <a:p>
                      <a:r>
                        <a:rPr sz="1400" b="1">
                          <a:solidFill>
                            <a:srgbClr val="FFFFFF"/>
                          </a:solidFill>
                          <a:latin typeface="Calibri"/>
                        </a:rPr>
                        <a:t>AUC</a:t>
                      </a:r>
                    </a:p>
                  </a:txBody>
                  <a:tcPr>
                    <a:solidFill>
                      <a:srgbClr val="0B1F3A"/>
                    </a:solidFill>
                  </a:tcPr>
                </a:tc>
                <a:tc>
                  <a:txBody>
                    <a:bodyPr/>
                    <a:lstStyle/>
                    <a:p>
                      <a:r>
                        <a:rPr sz="1400" b="1">
                          <a:solidFill>
                            <a:srgbClr val="FFFFFF"/>
                          </a:solidFill>
                          <a:latin typeface="Calibri"/>
                        </a:rPr>
                        <a:t>5-fold CV</a:t>
                      </a:r>
                    </a:p>
                  </a:txBody>
                  <a:tcPr>
                    <a:solidFill>
                      <a:srgbClr val="0B1F3A"/>
                    </a:solidFill>
                  </a:tcPr>
                </a:tc>
                <a:tc>
                  <a:txBody>
                    <a:bodyPr/>
                    <a:lstStyle/>
                    <a:p>
                      <a:r>
                        <a:rPr sz="1400" b="1">
                          <a:solidFill>
                            <a:srgbClr val="FFFFFF"/>
                          </a:solidFill>
                          <a:latin typeface="Calibri"/>
                        </a:rPr>
                        <a:t>Unseen routes</a:t>
                      </a:r>
                    </a:p>
                  </a:txBody>
                  <a:tcPr>
                    <a:solidFill>
                      <a:srgbClr val="0B1F3A"/>
                    </a:solidFill>
                  </a:tcPr>
                </a:tc>
              </a:tr>
              <a:tr h="411480">
                <a:tc>
                  <a:txBody>
                    <a:bodyPr/>
                    <a:lstStyle/>
                    <a:p>
                      <a:r>
                        <a:rPr sz="1400" b="1">
                          <a:solidFill>
                            <a:srgbClr val="1A1A19"/>
                          </a:solidFill>
                          <a:latin typeface="Calibri"/>
                        </a:rPr>
                        <a:t>Logistic Regression</a:t>
                      </a:r>
                    </a:p>
                  </a:txBody>
                  <a:tcPr>
                    <a:solidFill>
                      <a:srgbClr val="EEF3FA"/>
                    </a:solidFill>
                  </a:tcPr>
                </a:tc>
                <a:tc>
                  <a:txBody>
                    <a:bodyPr/>
                    <a:lstStyle/>
                    <a:p>
                      <a:r>
                        <a:rPr sz="1400" b="0">
                          <a:solidFill>
                            <a:srgbClr val="1A1A19"/>
                          </a:solidFill>
                          <a:latin typeface="Calibri"/>
                        </a:rPr>
                        <a:t>96.5%</a:t>
                      </a:r>
                    </a:p>
                  </a:txBody>
                  <a:tcPr>
                    <a:solidFill>
                      <a:srgbClr val="EEF3FA"/>
                    </a:solidFill>
                  </a:tcPr>
                </a:tc>
                <a:tc>
                  <a:txBody>
                    <a:bodyPr/>
                    <a:lstStyle/>
                    <a:p>
                      <a:r>
                        <a:rPr sz="1400" b="0">
                          <a:solidFill>
                            <a:srgbClr val="1A1A19"/>
                          </a:solidFill>
                          <a:latin typeface="Calibri"/>
                        </a:rPr>
                        <a:t>0.927</a:t>
                      </a:r>
                    </a:p>
                  </a:txBody>
                  <a:tcPr>
                    <a:solidFill>
                      <a:srgbClr val="EEF3FA"/>
                    </a:solidFill>
                  </a:tcPr>
                </a:tc>
                <a:tc>
                  <a:txBody>
                    <a:bodyPr/>
                    <a:lstStyle/>
                    <a:p>
                      <a:r>
                        <a:rPr sz="1400" b="0">
                          <a:solidFill>
                            <a:srgbClr val="1A1A19"/>
                          </a:solidFill>
                          <a:latin typeface="Calibri"/>
                        </a:rPr>
                        <a:t>0.929</a:t>
                      </a:r>
                    </a:p>
                  </a:txBody>
                  <a:tcPr>
                    <a:solidFill>
                      <a:srgbClr val="EEF3FA"/>
                    </a:solidFill>
                  </a:tcPr>
                </a:tc>
                <a:tc>
                  <a:txBody>
                    <a:bodyPr/>
                    <a:lstStyle/>
                    <a:p>
                      <a:r>
                        <a:rPr sz="1400" b="0">
                          <a:solidFill>
                            <a:srgbClr val="1A1A19"/>
                          </a:solidFill>
                          <a:latin typeface="Calibri"/>
                        </a:rPr>
                        <a:t>0.928</a:t>
                      </a:r>
                    </a:p>
                  </a:txBody>
                  <a:tcPr>
                    <a:solidFill>
                      <a:srgbClr val="EEF3FA"/>
                    </a:solidFill>
                  </a:tcPr>
                </a:tc>
                <a:tc>
                  <a:txBody>
                    <a:bodyPr/>
                    <a:lstStyle/>
                    <a:p>
                      <a:r>
                        <a:rPr sz="1400" b="0">
                          <a:solidFill>
                            <a:srgbClr val="1A1A19"/>
                          </a:solidFill>
                          <a:latin typeface="Calibri"/>
                        </a:rPr>
                        <a:t>0.995</a:t>
                      </a:r>
                    </a:p>
                  </a:txBody>
                  <a:tcPr>
                    <a:solidFill>
                      <a:srgbClr val="EEF3FA"/>
                    </a:solidFill>
                  </a:tcPr>
                </a:tc>
                <a:tc>
                  <a:txBody>
                    <a:bodyPr/>
                    <a:lstStyle/>
                    <a:p>
                      <a:r>
                        <a:rPr sz="1400" b="0">
                          <a:solidFill>
                            <a:srgbClr val="1A1A19"/>
                          </a:solidFill>
                          <a:latin typeface="Calibri"/>
                        </a:rPr>
                        <a:t>97.0% ± 0.7</a:t>
                      </a:r>
                    </a:p>
                  </a:txBody>
                  <a:tcPr>
                    <a:solidFill>
                      <a:srgbClr val="EEF3FA"/>
                    </a:solidFill>
                  </a:tcPr>
                </a:tc>
                <a:tc>
                  <a:txBody>
                    <a:bodyPr/>
                    <a:lstStyle/>
                    <a:p>
                      <a:r>
                        <a:rPr sz="1400" b="0">
                          <a:solidFill>
                            <a:srgbClr val="1A1A19"/>
                          </a:solidFill>
                          <a:latin typeface="Calibri"/>
                        </a:rPr>
                        <a:t>96.9% ± 0.8</a:t>
                      </a:r>
                    </a:p>
                  </a:txBody>
                  <a:tcPr>
                    <a:solidFill>
                      <a:srgbClr val="EEF3FA"/>
                    </a:solidFill>
                  </a:tcPr>
                </a:tc>
              </a:tr>
              <a:tr h="411480">
                <a:tc>
                  <a:txBody>
                    <a:bodyPr/>
                    <a:lstStyle/>
                    <a:p>
                      <a:r>
                        <a:rPr sz="1400" b="1">
                          <a:solidFill>
                            <a:srgbClr val="1A1A19"/>
                          </a:solidFill>
                          <a:latin typeface="Calibri"/>
                        </a:rPr>
                        <a:t>GDA</a:t>
                      </a:r>
                    </a:p>
                  </a:txBody>
                  <a:tcPr>
                    <a:solidFill>
                      <a:srgbClr val="FFFFFF"/>
                    </a:solidFill>
                  </a:tcPr>
                </a:tc>
                <a:tc>
                  <a:txBody>
                    <a:bodyPr/>
                    <a:lstStyle/>
                    <a:p>
                      <a:r>
                        <a:rPr sz="1400" b="0">
                          <a:solidFill>
                            <a:srgbClr val="1A1A19"/>
                          </a:solidFill>
                          <a:latin typeface="Calibri"/>
                        </a:rPr>
                        <a:t>88.9%</a:t>
                      </a:r>
                    </a:p>
                  </a:txBody>
                  <a:tcPr>
                    <a:solidFill>
                      <a:srgbClr val="FFFFFF"/>
                    </a:solidFill>
                  </a:tcPr>
                </a:tc>
                <a:tc>
                  <a:txBody>
                    <a:bodyPr/>
                    <a:lstStyle/>
                    <a:p>
                      <a:r>
                        <a:rPr sz="1400" b="0">
                          <a:solidFill>
                            <a:srgbClr val="1A1A19"/>
                          </a:solidFill>
                          <a:latin typeface="Calibri"/>
                        </a:rPr>
                        <a:t>0.935</a:t>
                      </a:r>
                    </a:p>
                  </a:txBody>
                  <a:tcPr>
                    <a:solidFill>
                      <a:srgbClr val="FFFFFF"/>
                    </a:solidFill>
                  </a:tcPr>
                </a:tc>
                <a:tc>
                  <a:txBody>
                    <a:bodyPr/>
                    <a:lstStyle/>
                    <a:p>
                      <a:r>
                        <a:rPr sz="1400" b="1">
                          <a:solidFill>
                            <a:srgbClr val="EB6834"/>
                          </a:solidFill>
                          <a:latin typeface="Calibri"/>
                        </a:rPr>
                        <a:t>0.589</a:t>
                      </a:r>
                    </a:p>
                  </a:txBody>
                  <a:tcPr>
                    <a:solidFill>
                      <a:srgbClr val="FFFFFF"/>
                    </a:solidFill>
                  </a:tcPr>
                </a:tc>
                <a:tc>
                  <a:txBody>
                    <a:bodyPr/>
                    <a:lstStyle/>
                    <a:p>
                      <a:r>
                        <a:rPr sz="1400" b="0">
                          <a:solidFill>
                            <a:srgbClr val="1A1A19"/>
                          </a:solidFill>
                          <a:latin typeface="Calibri"/>
                        </a:rPr>
                        <a:t>0.722</a:t>
                      </a:r>
                    </a:p>
                  </a:txBody>
                  <a:tcPr>
                    <a:solidFill>
                      <a:srgbClr val="FFFFFF"/>
                    </a:solidFill>
                  </a:tcPr>
                </a:tc>
                <a:tc>
                  <a:txBody>
                    <a:bodyPr/>
                    <a:lstStyle/>
                    <a:p>
                      <a:r>
                        <a:rPr sz="1400" b="0">
                          <a:solidFill>
                            <a:srgbClr val="1A1A19"/>
                          </a:solidFill>
                          <a:latin typeface="Calibri"/>
                        </a:rPr>
                        <a:t>0.964</a:t>
                      </a:r>
                    </a:p>
                  </a:txBody>
                  <a:tcPr>
                    <a:solidFill>
                      <a:srgbClr val="FFFFFF"/>
                    </a:solidFill>
                  </a:tcPr>
                </a:tc>
                <a:tc>
                  <a:txBody>
                    <a:bodyPr/>
                    <a:lstStyle/>
                    <a:p>
                      <a:r>
                        <a:rPr sz="1400" b="0">
                          <a:solidFill>
                            <a:srgbClr val="1A1A19"/>
                          </a:solidFill>
                          <a:latin typeface="Calibri"/>
                        </a:rPr>
                        <a:t>89.9% ± 1.0</a:t>
                      </a:r>
                    </a:p>
                  </a:txBody>
                  <a:tcPr>
                    <a:solidFill>
                      <a:srgbClr val="FFFFFF"/>
                    </a:solidFill>
                  </a:tcPr>
                </a:tc>
                <a:tc>
                  <a:txBody>
                    <a:bodyPr/>
                    <a:lstStyle/>
                    <a:p>
                      <a:r>
                        <a:rPr sz="1400" b="0">
                          <a:solidFill>
                            <a:srgbClr val="1A1A19"/>
                          </a:solidFill>
                          <a:latin typeface="Calibri"/>
                        </a:rPr>
                        <a:t>89.9% ± 2.9</a:t>
                      </a:r>
                    </a:p>
                  </a:txBody>
                  <a:tcPr>
                    <a:solidFill>
                      <a:srgbClr val="FFFFFF"/>
                    </a:solidFill>
                  </a:tcPr>
                </a:tc>
              </a:tr>
              <a:tr h="411480">
                <a:tc>
                  <a:txBody>
                    <a:bodyPr/>
                    <a:lstStyle/>
                    <a:p>
                      <a:r>
                        <a:rPr sz="1400" b="1">
                          <a:solidFill>
                            <a:srgbClr val="1A1A19"/>
                          </a:solidFill>
                          <a:latin typeface="Calibri"/>
                        </a:rPr>
                        <a:t>Linear SVM</a:t>
                      </a:r>
                    </a:p>
                  </a:txBody>
                  <a:tcPr>
                    <a:solidFill>
                      <a:srgbClr val="EEF3FA"/>
                    </a:solidFill>
                  </a:tcPr>
                </a:tc>
                <a:tc>
                  <a:txBody>
                    <a:bodyPr/>
                    <a:lstStyle/>
                    <a:p>
                      <a:r>
                        <a:rPr sz="1400" b="0">
                          <a:solidFill>
                            <a:srgbClr val="1A1A19"/>
                          </a:solidFill>
                          <a:latin typeface="Calibri"/>
                        </a:rPr>
                        <a:t>96.6%</a:t>
                      </a:r>
                    </a:p>
                  </a:txBody>
                  <a:tcPr>
                    <a:solidFill>
                      <a:srgbClr val="EEF3FA"/>
                    </a:solidFill>
                  </a:tcPr>
                </a:tc>
                <a:tc>
                  <a:txBody>
                    <a:bodyPr/>
                    <a:lstStyle/>
                    <a:p>
                      <a:r>
                        <a:rPr sz="1400" b="0">
                          <a:solidFill>
                            <a:srgbClr val="1A1A19"/>
                          </a:solidFill>
                          <a:latin typeface="Calibri"/>
                        </a:rPr>
                        <a:t>0.927</a:t>
                      </a:r>
                    </a:p>
                  </a:txBody>
                  <a:tcPr>
                    <a:solidFill>
                      <a:srgbClr val="EEF3FA"/>
                    </a:solidFill>
                  </a:tcPr>
                </a:tc>
                <a:tc>
                  <a:txBody>
                    <a:bodyPr/>
                    <a:lstStyle/>
                    <a:p>
                      <a:r>
                        <a:rPr sz="1400" b="0">
                          <a:solidFill>
                            <a:srgbClr val="1A1A19"/>
                          </a:solidFill>
                          <a:latin typeface="Calibri"/>
                        </a:rPr>
                        <a:t>0.935</a:t>
                      </a:r>
                    </a:p>
                  </a:txBody>
                  <a:tcPr>
                    <a:solidFill>
                      <a:srgbClr val="EEF3FA"/>
                    </a:solidFill>
                  </a:tcPr>
                </a:tc>
                <a:tc>
                  <a:txBody>
                    <a:bodyPr/>
                    <a:lstStyle/>
                    <a:p>
                      <a:r>
                        <a:rPr sz="1400" b="0">
                          <a:solidFill>
                            <a:srgbClr val="1A1A19"/>
                          </a:solidFill>
                          <a:latin typeface="Calibri"/>
                        </a:rPr>
                        <a:t>0.931</a:t>
                      </a:r>
                    </a:p>
                  </a:txBody>
                  <a:tcPr>
                    <a:solidFill>
                      <a:srgbClr val="EEF3FA"/>
                    </a:solidFill>
                  </a:tcPr>
                </a:tc>
                <a:tc>
                  <a:txBody>
                    <a:bodyPr/>
                    <a:lstStyle/>
                    <a:p>
                      <a:r>
                        <a:rPr sz="1400" b="0">
                          <a:solidFill>
                            <a:srgbClr val="1A1A19"/>
                          </a:solidFill>
                          <a:latin typeface="Calibri"/>
                        </a:rPr>
                        <a:t>0.995</a:t>
                      </a:r>
                    </a:p>
                  </a:txBody>
                  <a:tcPr>
                    <a:solidFill>
                      <a:srgbClr val="EEF3FA"/>
                    </a:solidFill>
                  </a:tcPr>
                </a:tc>
                <a:tc>
                  <a:txBody>
                    <a:bodyPr/>
                    <a:lstStyle/>
                    <a:p>
                      <a:r>
                        <a:rPr sz="1400" b="0">
                          <a:solidFill>
                            <a:srgbClr val="1A1A19"/>
                          </a:solidFill>
                          <a:latin typeface="Calibri"/>
                        </a:rPr>
                        <a:t>97.0% ± 0.6</a:t>
                      </a:r>
                    </a:p>
                  </a:txBody>
                  <a:tcPr>
                    <a:solidFill>
                      <a:srgbClr val="EEF3FA"/>
                    </a:solidFill>
                  </a:tcPr>
                </a:tc>
                <a:tc>
                  <a:txBody>
                    <a:bodyPr/>
                    <a:lstStyle/>
                    <a:p>
                      <a:r>
                        <a:rPr sz="1400" b="0">
                          <a:solidFill>
                            <a:srgbClr val="1A1A19"/>
                          </a:solidFill>
                          <a:latin typeface="Calibri"/>
                        </a:rPr>
                        <a:t>96.9% ± 0.8</a:t>
                      </a:r>
                    </a:p>
                  </a:txBody>
                  <a:tcPr>
                    <a:solidFill>
                      <a:srgbClr val="EEF3FA"/>
                    </a:solidFill>
                  </a:tcPr>
                </a:tc>
              </a:tr>
            </a:tbl>
          </a:graphicData>
        </a:graphic>
      </p:graphicFrame>
      <p:pic>
        <p:nvPicPr>
          <p:cNvPr id="8" name="Picture 7" descr="confusion_matrices.png"/>
          <p:cNvPicPr>
            <a:picLocks noChangeAspect="1"/>
          </p:cNvPicPr>
          <p:nvPr/>
        </p:nvPicPr>
        <p:blipFill>
          <a:blip r:embed="rId2"/>
          <a:stretch>
            <a:fillRect/>
          </a:stretch>
        </p:blipFill>
        <p:spPr>
          <a:xfrm>
            <a:off x="548640" y="3705300"/>
            <a:ext cx="8229600" cy="2419200"/>
          </a:xfrm>
          <a:prstGeom prst="rect">
            <a:avLst/>
          </a:prstGeom>
        </p:spPr>
      </p:pic>
      <p:pic>
        <p:nvPicPr>
          <p:cNvPr id="9" name="Picture 8" descr="roc_curves.png"/>
          <p:cNvPicPr>
            <a:picLocks noChangeAspect="1"/>
          </p:cNvPicPr>
          <p:nvPr/>
        </p:nvPicPr>
        <p:blipFill>
          <a:blip r:embed="rId3"/>
          <a:stretch>
            <a:fillRect/>
          </a:stretch>
        </p:blipFill>
        <p:spPr>
          <a:xfrm>
            <a:off x="8915400" y="3744224"/>
            <a:ext cx="2743200" cy="2341351"/>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RESULTS</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13</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Why GDA trails — and why we're below 99 %</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The ranking matches the paper; both gaps have a clear cause</a:t>
            </a:r>
          </a:p>
        </p:txBody>
      </p:sp>
      <p:graphicFrame>
        <p:nvGraphicFramePr>
          <p:cNvPr id="7" name="Chart 6"/>
          <p:cNvGraphicFramePr>
            <a:graphicFrameLocks noGrp="1"/>
          </p:cNvGraphicFramePr>
          <p:nvPr/>
        </p:nvGraphicFramePr>
        <p:xfrm>
          <a:off x="411480" y="1600200"/>
          <a:ext cx="6309360" cy="4297680"/>
        </p:xfrm>
        <a:graphic>
          <a:graphicData uri="http://schemas.openxmlformats.org/drawingml/2006/chart">
            <c:chart xmlns:c="http://schemas.openxmlformats.org/drawingml/2006/chart" r:id="rId2"/>
          </a:graphicData>
        </a:graphic>
      </p:graphicFrame>
      <p:sp>
        <p:nvSpPr>
          <p:cNvPr id="8" name="TextBox 7"/>
          <p:cNvSpPr txBox="1"/>
          <p:nvPr/>
        </p:nvSpPr>
        <p:spPr>
          <a:xfrm>
            <a:off x="548640" y="5943600"/>
            <a:ext cx="6035040" cy="32004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 extensions beyond the paper  ·  axis starts at 85 %</a:t>
            </a:r>
          </a:p>
        </p:txBody>
      </p:sp>
      <p:sp>
        <p:nvSpPr>
          <p:cNvPr id="9" name="Rounded Rectangle 8"/>
          <p:cNvSpPr/>
          <p:nvPr/>
        </p:nvSpPr>
        <p:spPr>
          <a:xfrm>
            <a:off x="7040880" y="1691640"/>
            <a:ext cx="4599432" cy="2103120"/>
          </a:xfrm>
          <a:prstGeom prst="roundRect">
            <a:avLst>
              <a:gd name="adj" fmla="val 6000"/>
            </a:avLst>
          </a:prstGeom>
          <a:solidFill>
            <a:srgbClr val="FDEF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69480" y="1828800"/>
            <a:ext cx="4206240" cy="365760"/>
          </a:xfrm>
          <a:prstGeom prst="rect">
            <a:avLst/>
          </a:prstGeom>
          <a:noFill/>
        </p:spPr>
        <p:txBody>
          <a:bodyPr wrap="square" anchor="t" lIns="0" rIns="0" tIns="0" bIns="0">
            <a:spAutoFit/>
          </a:bodyPr>
          <a:lstStyle/>
          <a:p>
            <a:pPr algn="l">
              <a:spcAft>
                <a:spcPts val="600"/>
              </a:spcAft>
            </a:pPr>
            <a:r>
              <a:rPr sz="1700" b="1" i="0">
                <a:solidFill>
                  <a:srgbClr val="EB6834"/>
                </a:solidFill>
                <a:latin typeface="Calibri"/>
              </a:rPr>
              <a:t>GDA's assumption breaks</a:t>
            </a:r>
          </a:p>
        </p:txBody>
      </p:sp>
      <p:sp>
        <p:nvSpPr>
          <p:cNvPr id="11" name="TextBox 10"/>
          <p:cNvSpPr txBox="1"/>
          <p:nvPr/>
        </p:nvSpPr>
        <p:spPr>
          <a:xfrm>
            <a:off x="7269480" y="2240280"/>
            <a:ext cx="4206240" cy="150876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'Not healthy' is three clusters (amplifier, fibre, cut), not one Gaussian. They stretch the shared Σ and tilt the boundary: recall falls to 0.59.</a:t>
            </a:r>
          </a:p>
        </p:txBody>
      </p:sp>
      <p:sp>
        <p:nvSpPr>
          <p:cNvPr id="12" name="Rounded Rectangle 11"/>
          <p:cNvSpPr/>
          <p:nvPr/>
        </p:nvSpPr>
        <p:spPr>
          <a:xfrm>
            <a:off x="7040880" y="3977639"/>
            <a:ext cx="4599432" cy="219456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269480" y="4114800"/>
            <a:ext cx="4206240" cy="365760"/>
          </a:xfrm>
          <a:prstGeom prst="rect">
            <a:avLst/>
          </a:prstGeom>
          <a:noFill/>
        </p:spPr>
        <p:txBody>
          <a:bodyPr wrap="square" anchor="t" lIns="0" rIns="0" tIns="0" bIns="0">
            <a:spAutoFit/>
          </a:bodyPr>
          <a:lstStyle/>
          <a:p>
            <a:pPr algn="l">
              <a:spcAft>
                <a:spcPts val="600"/>
              </a:spcAft>
            </a:pPr>
            <a:r>
              <a:rPr sz="1700" b="1" i="0">
                <a:solidFill>
                  <a:srgbClr val="2A78D6"/>
                </a:solidFill>
                <a:latin typeface="Calibri"/>
              </a:rPr>
              <a:t>Σ over spans hides where</a:t>
            </a:r>
          </a:p>
        </p:txBody>
      </p:sp>
      <p:sp>
        <p:nvSpPr>
          <p:cNvPr id="14" name="TextBox 13"/>
          <p:cNvSpPr txBox="1"/>
          <p:nvPr/>
        </p:nvSpPr>
        <p:spPr>
          <a:xfrm>
            <a:off x="7269480" y="4526280"/>
            <a:ext cx="4206240" cy="1600200"/>
          </a:xfrm>
          <a:prstGeom prst="rect">
            <a:avLst/>
          </a:prstGeom>
          <a:noFill/>
        </p:spPr>
        <p:txBody>
          <a:bodyPr wrap="square" anchor="t" lIns="0" rIns="0" tIns="0" bIns="0">
            <a:spAutoFit/>
          </a:bodyPr>
          <a:lstStyle/>
          <a:p>
            <a:pPr algn="l">
              <a:spcAft>
                <a:spcPts val="600"/>
              </a:spcAft>
            </a:pPr>
            <a:r>
              <a:rPr sz="1400" b="0" i="0">
                <a:solidFill>
                  <a:srgbClr val="1A1A19"/>
                </a:solidFill>
                <a:latin typeface="Calibri"/>
              </a:rPr>
              <a:t>A nonlinear RBF kernel adds just 0.6 pts; giving the model per-span features adds more. The limit is information lost in the sum, not the linear model.</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OPERATIONS</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14</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From alarm to work order</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Localisation, flapping detection and early warning</a:t>
            </a:r>
          </a:p>
        </p:txBody>
      </p:sp>
      <p:pic>
        <p:nvPicPr>
          <p:cNvPr id="7" name="Picture 6" descr="localization_example.png"/>
          <p:cNvPicPr>
            <a:picLocks noChangeAspect="1"/>
          </p:cNvPicPr>
          <p:nvPr/>
        </p:nvPicPr>
        <p:blipFill>
          <a:blip r:embed="rId2"/>
          <a:stretch>
            <a:fillRect/>
          </a:stretch>
        </p:blipFill>
        <p:spPr>
          <a:xfrm>
            <a:off x="411480" y="1600200"/>
            <a:ext cx="7040880" cy="2582287"/>
          </a:xfrm>
          <a:prstGeom prst="rect">
            <a:avLst/>
          </a:prstGeom>
        </p:spPr>
      </p:pic>
      <p:sp>
        <p:nvSpPr>
          <p:cNvPr id="8" name="TextBox 7"/>
          <p:cNvSpPr txBox="1"/>
          <p:nvPr/>
        </p:nvSpPr>
        <p:spPr>
          <a:xfrm>
            <a:off x="548640" y="4343400"/>
            <a:ext cx="6858000" cy="1463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Localise: </a:t>
            </a:r>
            <a:r>
              <a:rPr sz="1400" b="0" i="0">
                <a:solidFill>
                  <a:srgbClr val="1A1A19"/>
                </a:solidFill>
                <a:latin typeface="Calibri"/>
              </a:rPr>
              <a:t>the span with the largest positive residual. Loss residual → fibre, gain residual → amplifier, ≥ 25 dB → cut.</a:t>
            </a:r>
          </a:p>
          <a:p>
            <a:pPr algn="l">
              <a:spcAft>
                <a:spcPts val="600"/>
              </a:spcAft>
            </a:pPr>
            <a:r>
              <a:rPr sz="1400" b="1" i="0">
                <a:solidFill>
                  <a:srgbClr val="0B1F3A"/>
                </a:solidFill>
                <a:latin typeface="Calibri"/>
              </a:rPr>
              <a:t>Flapping: </a:t>
            </a:r>
            <a:r>
              <a:rPr sz="1400" b="0" i="0">
                <a:solidFill>
                  <a:srgbClr val="1A1A19"/>
                </a:solidFill>
                <a:latin typeface="Calibri"/>
              </a:rPr>
              <a:t>≥ 4 health toggles within 30 minutes.</a:t>
            </a:r>
          </a:p>
          <a:p>
            <a:pPr algn="l">
              <a:spcAft>
                <a:spcPts val="600"/>
              </a:spcAft>
            </a:pPr>
            <a:r>
              <a:rPr sz="1400" b="1" i="0">
                <a:solidFill>
                  <a:srgbClr val="0B1F3A"/>
                </a:solidFill>
                <a:latin typeface="Calibri"/>
              </a:rPr>
              <a:t>Early warning: </a:t>
            </a:r>
            <a:r>
              <a:rPr sz="1400" b="0" i="0">
                <a:solidFill>
                  <a:srgbClr val="1A1A19"/>
                </a:solidFill>
                <a:latin typeface="Calibri"/>
              </a:rPr>
              <a:t>first alarm vs. first outage bin, per slow degradation.</a:t>
            </a:r>
          </a:p>
        </p:txBody>
      </p:sp>
      <p:sp>
        <p:nvSpPr>
          <p:cNvPr id="9" name="Rounded Rectangle 8"/>
          <p:cNvSpPr/>
          <p:nvPr/>
        </p:nvSpPr>
        <p:spPr>
          <a:xfrm>
            <a:off x="7772400" y="1645920"/>
            <a:ext cx="3867912"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73568" y="1764792"/>
            <a:ext cx="3465576" cy="594360"/>
          </a:xfrm>
          <a:prstGeom prst="rect">
            <a:avLst/>
          </a:prstGeom>
          <a:noFill/>
        </p:spPr>
        <p:txBody>
          <a:bodyPr wrap="square" anchor="t" lIns="0" rIns="0" tIns="0" bIns="0">
            <a:spAutoFit/>
          </a:bodyPr>
          <a:lstStyle/>
          <a:p>
            <a:pPr algn="l">
              <a:spcAft>
                <a:spcPts val="600"/>
              </a:spcAft>
            </a:pPr>
            <a:r>
              <a:rPr sz="3200" b="1" i="0">
                <a:solidFill>
                  <a:srgbClr val="1BAF7A"/>
                </a:solidFill>
                <a:latin typeface="Cambria"/>
              </a:rPr>
              <a:t>100.0%</a:t>
            </a:r>
          </a:p>
        </p:txBody>
      </p:sp>
      <p:sp>
        <p:nvSpPr>
          <p:cNvPr id="11" name="TextBox 10"/>
          <p:cNvSpPr txBox="1"/>
          <p:nvPr/>
        </p:nvSpPr>
        <p:spPr>
          <a:xfrm>
            <a:off x="7973568" y="2395728"/>
            <a:ext cx="3465576"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span + element correct on detected failures (n = 341)</a:t>
            </a:r>
          </a:p>
        </p:txBody>
      </p:sp>
      <p:sp>
        <p:nvSpPr>
          <p:cNvPr id="12" name="Rounded Rectangle 11"/>
          <p:cNvSpPr/>
          <p:nvPr/>
        </p:nvSpPr>
        <p:spPr>
          <a:xfrm>
            <a:off x="7772400" y="3017520"/>
            <a:ext cx="3867912"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973568" y="3136391"/>
            <a:ext cx="3465576" cy="594360"/>
          </a:xfrm>
          <a:prstGeom prst="rect">
            <a:avLst/>
          </a:prstGeom>
          <a:noFill/>
        </p:spPr>
        <p:txBody>
          <a:bodyPr wrap="square" anchor="t" lIns="0" rIns="0" tIns="0" bIns="0">
            <a:spAutoFit/>
          </a:bodyPr>
          <a:lstStyle/>
          <a:p>
            <a:pPr algn="l">
              <a:spcAft>
                <a:spcPts val="600"/>
              </a:spcAft>
            </a:pPr>
            <a:r>
              <a:rPr sz="3200" b="1" i="0">
                <a:solidFill>
                  <a:srgbClr val="2A78D6"/>
                </a:solidFill>
                <a:latin typeface="Cambria"/>
              </a:rPr>
              <a:t>9/9</a:t>
            </a:r>
          </a:p>
        </p:txBody>
      </p:sp>
      <p:sp>
        <p:nvSpPr>
          <p:cNvPr id="14" name="TextBox 13"/>
          <p:cNvSpPr txBox="1"/>
          <p:nvPr/>
        </p:nvSpPr>
        <p:spPr>
          <a:xfrm>
            <a:off x="7973568" y="3767328"/>
            <a:ext cx="3465576"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flapping events caught (7.1% false alarms on other bins)</a:t>
            </a:r>
          </a:p>
        </p:txBody>
      </p:sp>
      <p:sp>
        <p:nvSpPr>
          <p:cNvPr id="15" name="Rounded Rectangle 14"/>
          <p:cNvSpPr/>
          <p:nvPr/>
        </p:nvSpPr>
        <p:spPr>
          <a:xfrm>
            <a:off x="7772400" y="4389120"/>
            <a:ext cx="3867912" cy="123444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973568" y="4507992"/>
            <a:ext cx="3465576" cy="594360"/>
          </a:xfrm>
          <a:prstGeom prst="rect">
            <a:avLst/>
          </a:prstGeom>
          <a:noFill/>
        </p:spPr>
        <p:txBody>
          <a:bodyPr wrap="square" anchor="t" lIns="0" rIns="0" tIns="0" bIns="0">
            <a:spAutoFit/>
          </a:bodyPr>
          <a:lstStyle/>
          <a:p>
            <a:pPr algn="l">
              <a:spcAft>
                <a:spcPts val="600"/>
              </a:spcAft>
            </a:pPr>
            <a:r>
              <a:rPr sz="3200" b="1" i="0">
                <a:solidFill>
                  <a:srgbClr val="EB6834"/>
                </a:solidFill>
                <a:latin typeface="Cambria"/>
              </a:rPr>
              <a:t>18/18</a:t>
            </a:r>
          </a:p>
        </p:txBody>
      </p:sp>
      <p:sp>
        <p:nvSpPr>
          <p:cNvPr id="17" name="TextBox 16"/>
          <p:cNvSpPr txBox="1"/>
          <p:nvPr/>
        </p:nvSpPr>
        <p:spPr>
          <a:xfrm>
            <a:off x="7973568" y="5138928"/>
            <a:ext cx="3465576" cy="41148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outages flagged in time; 12 strictly before (mean 8 min ahead)</a:t>
            </a:r>
          </a:p>
        </p:txBody>
      </p:sp>
      <p:sp>
        <p:nvSpPr>
          <p:cNvPr id="18" name="TextBox 17"/>
          <p:cNvSpPr txBox="1"/>
          <p:nvPr/>
        </p:nvSpPr>
        <p:spPr>
          <a:xfrm>
            <a:off x="548640" y="5897880"/>
            <a:ext cx="10972800" cy="365760"/>
          </a:xfrm>
          <a:prstGeom prst="rect">
            <a:avLst/>
          </a:prstGeom>
          <a:noFill/>
        </p:spPr>
        <p:txBody>
          <a:bodyPr wrap="square" anchor="t" lIns="0" rIns="0" tIns="0" bIns="0">
            <a:spAutoFit/>
          </a:bodyPr>
          <a:lstStyle/>
          <a:p>
            <a:pPr algn="l">
              <a:spcAft>
                <a:spcPts val="600"/>
              </a:spcAft>
            </a:pPr>
            <a:r>
              <a:rPr sz="1200" b="0" i="0">
                <a:solidFill>
                  <a:srgbClr val="52514E"/>
                </a:solidFill>
                <a:latin typeface="Calibri"/>
              </a:rPr>
              <a:t>Harder test, every fault incl. minor ones: 91.6% span accuracy  ·  learnt multinomial-LR localiser: 99.7%</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DEMO</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15</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J Sanjay Varma</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Live demo</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streamlit run app.py  —  inject a fault, watch three models and the localiser react</a:t>
            </a:r>
          </a:p>
        </p:txBody>
      </p:sp>
      <p:pic>
        <p:nvPicPr>
          <p:cNvPr id="7" name="Picture 6" descr="app_fault_injection.png"/>
          <p:cNvPicPr>
            <a:picLocks noChangeAspect="1"/>
          </p:cNvPicPr>
          <p:nvPr/>
        </p:nvPicPr>
        <p:blipFill>
          <a:blip r:embed="rId2"/>
          <a:stretch>
            <a:fillRect/>
          </a:stretch>
        </p:blipFill>
        <p:spPr>
          <a:xfrm>
            <a:off x="5414391" y="1554480"/>
            <a:ext cx="5886450" cy="4709160"/>
          </a:xfrm>
          <a:prstGeom prst="rect">
            <a:avLst/>
          </a:prstGeom>
          <a:ln w="12700">
            <a:solidFill>
              <a:srgbClr val="E4E3DF"/>
            </a:solidFill>
          </a:ln>
        </p:spPr>
      </p:pic>
      <p:sp>
        <p:nvSpPr>
          <p:cNvPr id="8" name="Oval 7"/>
          <p:cNvSpPr/>
          <p:nvPr/>
        </p:nvSpPr>
        <p:spPr>
          <a:xfrm>
            <a:off x="548640" y="1691640"/>
            <a:ext cx="438912" cy="4389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1</a:t>
            </a:r>
          </a:p>
        </p:txBody>
      </p:sp>
      <p:sp>
        <p:nvSpPr>
          <p:cNvPr id="9" name="TextBox 8"/>
          <p:cNvSpPr txBox="1"/>
          <p:nvPr/>
        </p:nvSpPr>
        <p:spPr>
          <a:xfrm>
            <a:off x="1143000" y="1645920"/>
            <a:ext cx="3749039" cy="32004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Healthy baseline</a:t>
            </a:r>
          </a:p>
        </p:txBody>
      </p:sp>
      <p:sp>
        <p:nvSpPr>
          <p:cNvPr id="10" name="TextBox 9"/>
          <p:cNvSpPr txBox="1"/>
          <p:nvPr/>
        </p:nvSpPr>
        <p:spPr>
          <a:xfrm>
            <a:off x="1143000" y="1947672"/>
            <a:ext cx="3749039" cy="27432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all three say healthy</a:t>
            </a:r>
          </a:p>
        </p:txBody>
      </p:sp>
      <p:sp>
        <p:nvSpPr>
          <p:cNvPr id="11" name="TextBox 10"/>
          <p:cNvSpPr txBox="1"/>
          <p:nvPr/>
        </p:nvSpPr>
        <p:spPr>
          <a:xfrm>
            <a:off x="1143000" y="2194560"/>
            <a:ext cx="3749039" cy="274320"/>
          </a:xfrm>
          <a:prstGeom prst="rect">
            <a:avLst/>
          </a:prstGeom>
          <a:noFill/>
        </p:spPr>
        <p:txBody>
          <a:bodyPr wrap="square" anchor="t" lIns="0" rIns="0" tIns="0" bIns="0">
            <a:spAutoFit/>
          </a:bodyPr>
          <a:lstStyle/>
          <a:p>
            <a:pPr algn="l">
              <a:spcAft>
                <a:spcPts val="600"/>
              </a:spcAft>
            </a:pPr>
            <a:r>
              <a:rPr sz="1000" b="0" i="0">
                <a:solidFill>
                  <a:srgbClr val="52514E"/>
                </a:solidFill>
                <a:latin typeface="Courier New"/>
              </a:rPr>
              <a:t>?fault=none</a:t>
            </a:r>
          </a:p>
        </p:txBody>
      </p:sp>
      <p:sp>
        <p:nvSpPr>
          <p:cNvPr id="12" name="Oval 11"/>
          <p:cNvSpPr/>
          <p:nvPr/>
        </p:nvSpPr>
        <p:spPr>
          <a:xfrm>
            <a:off x="548640" y="2606039"/>
            <a:ext cx="438912" cy="4389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2</a:t>
            </a:r>
          </a:p>
        </p:txBody>
      </p:sp>
      <p:sp>
        <p:nvSpPr>
          <p:cNvPr id="13" name="TextBox 12"/>
          <p:cNvSpPr txBox="1"/>
          <p:nvPr/>
        </p:nvSpPr>
        <p:spPr>
          <a:xfrm>
            <a:off x="1143000" y="2560320"/>
            <a:ext cx="3749039" cy="32004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9 dB fibre loss, span 8</a:t>
            </a:r>
          </a:p>
        </p:txBody>
      </p:sp>
      <p:sp>
        <p:nvSpPr>
          <p:cNvPr id="14" name="TextBox 13"/>
          <p:cNvSpPr txBox="1"/>
          <p:nvPr/>
        </p:nvSpPr>
        <p:spPr>
          <a:xfrm>
            <a:off x="1143000" y="2862072"/>
            <a:ext cx="3749039" cy="27432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LR &amp; SVM alarm, GDA misses it, span 8 localised</a:t>
            </a:r>
          </a:p>
        </p:txBody>
      </p:sp>
      <p:sp>
        <p:nvSpPr>
          <p:cNvPr id="15" name="TextBox 14"/>
          <p:cNvSpPr txBox="1"/>
          <p:nvPr/>
        </p:nvSpPr>
        <p:spPr>
          <a:xfrm>
            <a:off x="1143000" y="3108960"/>
            <a:ext cx="3749039" cy="274320"/>
          </a:xfrm>
          <a:prstGeom prst="rect">
            <a:avLst/>
          </a:prstGeom>
          <a:noFill/>
        </p:spPr>
        <p:txBody>
          <a:bodyPr wrap="square" anchor="t" lIns="0" rIns="0" tIns="0" bIns="0">
            <a:spAutoFit/>
          </a:bodyPr>
          <a:lstStyle/>
          <a:p>
            <a:pPr algn="l">
              <a:spcAft>
                <a:spcPts val="600"/>
              </a:spcAft>
            </a:pPr>
            <a:r>
              <a:rPr sz="1000" b="0" i="0">
                <a:solidFill>
                  <a:srgbClr val="52514E"/>
                </a:solidFill>
                <a:latin typeface="Courier New"/>
              </a:rPr>
              <a:t>?fault=fiber_degradation&amp;span=8&amp;sev=9</a:t>
            </a:r>
          </a:p>
        </p:txBody>
      </p:sp>
      <p:sp>
        <p:nvSpPr>
          <p:cNvPr id="16" name="Oval 15"/>
          <p:cNvSpPr/>
          <p:nvPr/>
        </p:nvSpPr>
        <p:spPr>
          <a:xfrm>
            <a:off x="548640" y="3520439"/>
            <a:ext cx="438912" cy="4389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3</a:t>
            </a:r>
          </a:p>
        </p:txBody>
      </p:sp>
      <p:sp>
        <p:nvSpPr>
          <p:cNvPr id="17" name="TextBox 16"/>
          <p:cNvSpPr txBox="1"/>
          <p:nvPr/>
        </p:nvSpPr>
        <p:spPr>
          <a:xfrm>
            <a:off x="1143000" y="3474720"/>
            <a:ext cx="3749039" cy="32004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Same loss, span 19</a:t>
            </a:r>
          </a:p>
        </p:txBody>
      </p:sp>
      <p:sp>
        <p:nvSpPr>
          <p:cNvPr id="18" name="TextBox 17"/>
          <p:cNvSpPr txBox="1"/>
          <p:nvPr/>
        </p:nvSpPr>
        <p:spPr>
          <a:xfrm>
            <a:off x="1143000" y="3776472"/>
            <a:ext cx="3749039" cy="27432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OSNR barely moves — the position effect</a:t>
            </a:r>
          </a:p>
        </p:txBody>
      </p:sp>
      <p:sp>
        <p:nvSpPr>
          <p:cNvPr id="19" name="TextBox 18"/>
          <p:cNvSpPr txBox="1"/>
          <p:nvPr/>
        </p:nvSpPr>
        <p:spPr>
          <a:xfrm>
            <a:off x="1143000" y="4023359"/>
            <a:ext cx="3749039" cy="274320"/>
          </a:xfrm>
          <a:prstGeom prst="rect">
            <a:avLst/>
          </a:prstGeom>
          <a:noFill/>
        </p:spPr>
        <p:txBody>
          <a:bodyPr wrap="square" anchor="t" lIns="0" rIns="0" tIns="0" bIns="0">
            <a:spAutoFit/>
          </a:bodyPr>
          <a:lstStyle/>
          <a:p>
            <a:pPr algn="l">
              <a:spcAft>
                <a:spcPts val="600"/>
              </a:spcAft>
            </a:pPr>
            <a:r>
              <a:rPr sz="1000" b="0" i="0">
                <a:solidFill>
                  <a:srgbClr val="52514E"/>
                </a:solidFill>
                <a:latin typeface="Courier New"/>
              </a:rPr>
              <a:t>&amp;span=19</a:t>
            </a:r>
          </a:p>
        </p:txBody>
      </p:sp>
      <p:sp>
        <p:nvSpPr>
          <p:cNvPr id="20" name="Oval 19"/>
          <p:cNvSpPr/>
          <p:nvPr/>
        </p:nvSpPr>
        <p:spPr>
          <a:xfrm>
            <a:off x="548640" y="4434840"/>
            <a:ext cx="438912" cy="4389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4</a:t>
            </a:r>
          </a:p>
        </p:txBody>
      </p:sp>
      <p:sp>
        <p:nvSpPr>
          <p:cNvPr id="21" name="TextBox 20"/>
          <p:cNvSpPr txBox="1"/>
          <p:nvPr/>
        </p:nvSpPr>
        <p:spPr>
          <a:xfrm>
            <a:off x="1143000" y="4389120"/>
            <a:ext cx="3749039" cy="32004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Fibre cut</a:t>
            </a:r>
          </a:p>
        </p:txBody>
      </p:sp>
      <p:sp>
        <p:nvSpPr>
          <p:cNvPr id="22" name="TextBox 21"/>
          <p:cNvSpPr txBox="1"/>
          <p:nvPr/>
        </p:nvSpPr>
        <p:spPr>
          <a:xfrm>
            <a:off x="1143000" y="4690872"/>
            <a:ext cx="3749039" cy="27432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everyone alarms, localised as a cut</a:t>
            </a:r>
          </a:p>
        </p:txBody>
      </p:sp>
      <p:sp>
        <p:nvSpPr>
          <p:cNvPr id="23" name="TextBox 22"/>
          <p:cNvSpPr txBox="1"/>
          <p:nvPr/>
        </p:nvSpPr>
        <p:spPr>
          <a:xfrm>
            <a:off x="1143000" y="4937759"/>
            <a:ext cx="3749039" cy="274320"/>
          </a:xfrm>
          <a:prstGeom prst="rect">
            <a:avLst/>
          </a:prstGeom>
          <a:noFill/>
        </p:spPr>
        <p:txBody>
          <a:bodyPr wrap="square" anchor="t" lIns="0" rIns="0" tIns="0" bIns="0">
            <a:spAutoFit/>
          </a:bodyPr>
          <a:lstStyle/>
          <a:p>
            <a:pPr algn="l">
              <a:spcAft>
                <a:spcPts val="600"/>
              </a:spcAft>
            </a:pPr>
            <a:r>
              <a:rPr sz="1000" b="0" i="0">
                <a:solidFill>
                  <a:srgbClr val="52514E"/>
                </a:solidFill>
                <a:latin typeface="Courier New"/>
              </a:rPr>
              <a:t>?fault=fiber_cut&amp;span=12</a:t>
            </a:r>
          </a:p>
        </p:txBody>
      </p:sp>
      <p:sp>
        <p:nvSpPr>
          <p:cNvPr id="24" name="Oval 23"/>
          <p:cNvSpPr/>
          <p:nvPr/>
        </p:nvSpPr>
        <p:spPr>
          <a:xfrm>
            <a:off x="548640" y="5349240"/>
            <a:ext cx="438912" cy="438912"/>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5</a:t>
            </a:r>
          </a:p>
        </p:txBody>
      </p:sp>
      <p:sp>
        <p:nvSpPr>
          <p:cNvPr id="25" name="TextBox 24"/>
          <p:cNvSpPr txBox="1"/>
          <p:nvPr/>
        </p:nvSpPr>
        <p:spPr>
          <a:xfrm>
            <a:off x="1143000" y="5303520"/>
            <a:ext cx="3749039" cy="320040"/>
          </a:xfrm>
          <a:prstGeom prst="rect">
            <a:avLst/>
          </a:prstGeom>
          <a:noFill/>
        </p:spPr>
        <p:txBody>
          <a:bodyPr wrap="square" anchor="t" lIns="0" rIns="0" tIns="0" bIns="0">
            <a:spAutoFit/>
          </a:bodyPr>
          <a:lstStyle/>
          <a:p>
            <a:pPr algn="l">
              <a:spcAft>
                <a:spcPts val="600"/>
              </a:spcAft>
            </a:pPr>
            <a:r>
              <a:rPr sz="1500" b="1" i="0">
                <a:solidFill>
                  <a:srgbClr val="0B1F3A"/>
                </a:solidFill>
                <a:latin typeface="Calibri"/>
              </a:rPr>
              <a:t>Network replay</a:t>
            </a:r>
          </a:p>
        </p:txBody>
      </p:sp>
      <p:sp>
        <p:nvSpPr>
          <p:cNvPr id="26" name="TextBox 25"/>
          <p:cNvSpPr txBox="1"/>
          <p:nvPr/>
        </p:nvSpPr>
        <p:spPr>
          <a:xfrm>
            <a:off x="1143000" y="5605272"/>
            <a:ext cx="3749039" cy="27432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10 h timeline with flapping alarms</a:t>
            </a:r>
          </a:p>
        </p:txBody>
      </p:sp>
      <p:sp>
        <p:nvSpPr>
          <p:cNvPr id="27" name="TextBox 26"/>
          <p:cNvSpPr txBox="1"/>
          <p:nvPr/>
        </p:nvSpPr>
        <p:spPr>
          <a:xfrm>
            <a:off x="1143000" y="5852159"/>
            <a:ext cx="3749039" cy="274320"/>
          </a:xfrm>
          <a:prstGeom prst="rect">
            <a:avLst/>
          </a:prstGeom>
          <a:noFill/>
        </p:spPr>
        <p:txBody>
          <a:bodyPr wrap="square" anchor="t" lIns="0" rIns="0" tIns="0" bIns="0">
            <a:spAutoFit/>
          </a:bodyPr>
          <a:lstStyle/>
          <a:p>
            <a:pPr algn="l">
              <a:spcAft>
                <a:spcPts val="600"/>
              </a:spcAft>
            </a:pPr>
            <a:r>
              <a:rPr sz="1000" b="0" i="0">
                <a:solidFill>
                  <a:srgbClr val="52514E"/>
                </a:solidFill>
                <a:latin typeface="Courier New"/>
              </a:rPr>
              <a:t>tab 2, link R07-ZA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ENGINEERING</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16</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B0AFA8"/>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Implementation &amp; repository</a:t>
            </a:r>
          </a:p>
        </p:txBody>
      </p:sp>
      <p:sp>
        <p:nvSpPr>
          <p:cNvPr id="6" name="TextBox 5"/>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github.com/jsanjayvarma06-oss/ML-Project  ·  one command reproduces every number here</a:t>
            </a:r>
          </a:p>
        </p:txBody>
      </p:sp>
      <p:sp>
        <p:nvSpPr>
          <p:cNvPr id="7" name="Rounded Rectangle 6"/>
          <p:cNvSpPr/>
          <p:nvPr/>
        </p:nvSpPr>
        <p:spPr>
          <a:xfrm>
            <a:off x="548640" y="1691640"/>
            <a:ext cx="5577840" cy="4160520"/>
          </a:xfrm>
          <a:prstGeom prst="roundRect">
            <a:avLst>
              <a:gd name="adj" fmla="val 4000"/>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120640" cy="3749039"/>
          </a:xfrm>
          <a:prstGeom prst="rect">
            <a:avLst/>
          </a:prstGeom>
          <a:noFill/>
        </p:spPr>
        <p:txBody>
          <a:bodyPr wrap="square" anchor="t" lIns="0" rIns="0" tIns="0" bIns="0">
            <a:spAutoFit/>
          </a:bodyPr>
          <a:lstStyle/>
          <a:p>
            <a:pPr algn="l">
              <a:spcAft>
                <a:spcPts val="300"/>
              </a:spcAft>
            </a:pPr>
            <a:r>
              <a:rPr sz="1400" b="0" i="0">
                <a:solidFill>
                  <a:srgbClr val="FFFFFF"/>
                </a:solidFill>
                <a:latin typeface="Courier New"/>
              </a:rPr>
              <a:t>run_pipeline.py      one-command experiment</a:t>
            </a:r>
          </a:p>
          <a:p>
            <a:pPr algn="l">
              <a:spcAft>
                <a:spcPts val="300"/>
              </a:spcAft>
            </a:pPr>
            <a:r>
              <a:rPr sz="1400" b="0" i="0">
                <a:solidFill>
                  <a:srgbClr val="FFFFFF"/>
                </a:solidFill>
                <a:latin typeface="Courier New"/>
              </a:rPr>
              <a:t>app.py               Streamlit live demo</a:t>
            </a:r>
          </a:p>
          <a:p>
            <a:pPr algn="l">
              <a:spcAft>
                <a:spcPts val="300"/>
              </a:spcAft>
            </a:pPr>
            <a:r>
              <a:rPr sz="1400" b="0" i="0">
                <a:solidFill>
                  <a:srgbClr val="FFFFFF"/>
                </a:solidFill>
                <a:latin typeface="Courier New"/>
              </a:rPr>
              <a:t>predict.py           CLI inference</a:t>
            </a:r>
          </a:p>
          <a:p>
            <a:pPr algn="l">
              <a:spcAft>
                <a:spcPts val="300"/>
              </a:spcAft>
            </a:pPr>
            <a:r>
              <a:rPr sz="1400" b="0" i="0">
                <a:solidFill>
                  <a:srgbClr val="FFFFFF"/>
                </a:solidFill>
                <a:latin typeface="Courier New"/>
              </a:rPr>
              <a:t>linkfail/</a:t>
            </a:r>
          </a:p>
          <a:p>
            <a:pPr algn="l">
              <a:spcAft>
                <a:spcPts val="300"/>
              </a:spcAft>
            </a:pPr>
            <a:r>
              <a:rPr sz="1400" b="0" i="0">
                <a:solidFill>
                  <a:srgbClr val="FFFFFF"/>
                </a:solidFill>
                <a:latin typeface="Courier New"/>
              </a:rPr>
              <a:t>  simulator.py       telemetry + link budget</a:t>
            </a:r>
          </a:p>
          <a:p>
            <a:pPr algn="l">
              <a:spcAft>
                <a:spcPts val="300"/>
              </a:spcAft>
            </a:pPr>
            <a:r>
              <a:rPr sz="1400" b="0" i="0">
                <a:solidFill>
                  <a:srgbClr val="FFFFFF"/>
                </a:solidFill>
                <a:latin typeface="Courier New"/>
              </a:rPr>
              <a:t>  preprocessing.py   Eq. 1 / Eq. 2 features</a:t>
            </a:r>
          </a:p>
          <a:p>
            <a:pPr algn="l">
              <a:spcAft>
                <a:spcPts val="300"/>
              </a:spcAft>
            </a:pPr>
            <a:r>
              <a:rPr sz="1400" b="0" i="0">
                <a:solidFill>
                  <a:srgbClr val="FFFFFF"/>
                </a:solidFill>
                <a:latin typeface="Courier New"/>
              </a:rPr>
              <a:t>  models.py          LR · GDA · SVM</a:t>
            </a:r>
          </a:p>
          <a:p>
            <a:pPr algn="l">
              <a:spcAft>
                <a:spcPts val="300"/>
              </a:spcAft>
            </a:pPr>
            <a:r>
              <a:rPr sz="1400" b="0" i="0">
                <a:solidFill>
                  <a:srgbClr val="FFFFFF"/>
                </a:solidFill>
                <a:latin typeface="Courier New"/>
              </a:rPr>
              <a:t>  localization.py    span + flapping</a:t>
            </a:r>
          </a:p>
          <a:p>
            <a:pPr algn="l">
              <a:spcAft>
                <a:spcPts val="300"/>
              </a:spcAft>
            </a:pPr>
            <a:r>
              <a:rPr sz="1400" b="0" i="0">
                <a:solidFill>
                  <a:srgbClr val="FFFFFF"/>
                </a:solidFill>
                <a:latin typeface="Courier New"/>
              </a:rPr>
              <a:t>  evaluation.py      metrics, lead time</a:t>
            </a:r>
          </a:p>
          <a:p>
            <a:pPr algn="l">
              <a:spcAft>
                <a:spcPts val="300"/>
              </a:spcAft>
            </a:pPr>
            <a:r>
              <a:rPr sz="1400" b="0" i="0">
                <a:solidFill>
                  <a:srgbClr val="FFFFFF"/>
                </a:solidFill>
                <a:latin typeface="Courier New"/>
              </a:rPr>
              <a:t>  pipeline.py        CV, extensions</a:t>
            </a:r>
          </a:p>
          <a:p>
            <a:pPr algn="l">
              <a:spcAft>
                <a:spcPts val="300"/>
              </a:spcAft>
            </a:pPr>
            <a:r>
              <a:rPr sz="1400" b="0" i="0">
                <a:solidFill>
                  <a:srgbClr val="FFFFFF"/>
                </a:solidFill>
                <a:latin typeface="Courier New"/>
              </a:rPr>
              <a:t>tests/               12 pytest tests</a:t>
            </a:r>
          </a:p>
          <a:p>
            <a:pPr algn="l">
              <a:spcAft>
                <a:spcPts val="300"/>
              </a:spcAft>
            </a:pPr>
            <a:r>
              <a:rPr sz="1400" b="0" i="0">
                <a:solidFill>
                  <a:srgbClr val="FFFFFF"/>
                </a:solidFill>
                <a:latin typeface="Courier New"/>
              </a:rPr>
              <a:t>docs/                write-up + slides</a:t>
            </a:r>
          </a:p>
        </p:txBody>
      </p:sp>
      <p:sp>
        <p:nvSpPr>
          <p:cNvPr id="9" name="Oval 8"/>
          <p:cNvSpPr/>
          <p:nvPr/>
        </p:nvSpPr>
        <p:spPr>
          <a:xfrm>
            <a:off x="6492240" y="1783080"/>
            <a:ext cx="438912" cy="438912"/>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a:t>
            </a:r>
          </a:p>
        </p:txBody>
      </p:sp>
      <p:sp>
        <p:nvSpPr>
          <p:cNvPr id="10" name="TextBox 9"/>
          <p:cNvSpPr txBox="1"/>
          <p:nvPr/>
        </p:nvSpPr>
        <p:spPr>
          <a:xfrm>
            <a:off x="7086600" y="1764792"/>
            <a:ext cx="4572000" cy="320040"/>
          </a:xfrm>
          <a:prstGeom prst="rect">
            <a:avLst/>
          </a:prstGeom>
          <a:noFill/>
        </p:spPr>
        <p:txBody>
          <a:bodyPr wrap="square" anchor="t" lIns="0" rIns="0" tIns="0" bIns="0">
            <a:spAutoFit/>
          </a:bodyPr>
          <a:lstStyle/>
          <a:p>
            <a:pPr algn="l">
              <a:spcAft>
                <a:spcPts val="600"/>
              </a:spcAft>
            </a:pPr>
            <a:r>
              <a:rPr sz="1600" b="1" i="0">
                <a:solidFill>
                  <a:srgbClr val="0B1F3A"/>
                </a:solidFill>
                <a:latin typeface="Calibri"/>
              </a:rPr>
              <a:t>Reproducible</a:t>
            </a:r>
          </a:p>
        </p:txBody>
      </p:sp>
      <p:sp>
        <p:nvSpPr>
          <p:cNvPr id="11" name="TextBox 10"/>
          <p:cNvSpPr txBox="1"/>
          <p:nvPr/>
        </p:nvSpPr>
        <p:spPr>
          <a:xfrm>
            <a:off x="7086600" y="2103120"/>
            <a:ext cx="4572000" cy="548640"/>
          </a:xfrm>
          <a:prstGeom prst="rect">
            <a:avLst/>
          </a:prstGeom>
          <a:noFill/>
        </p:spPr>
        <p:txBody>
          <a:bodyPr wrap="square" anchor="t" lIns="0" rIns="0" tIns="0" bIns="0">
            <a:spAutoFit/>
          </a:bodyPr>
          <a:lstStyle/>
          <a:p>
            <a:pPr algn="l">
              <a:spcAft>
                <a:spcPts val="600"/>
              </a:spcAft>
            </a:pPr>
            <a:r>
              <a:rPr sz="1300" b="0" i="0">
                <a:solidFill>
                  <a:srgbClr val="1A1A19"/>
                </a:solidFill>
                <a:latin typeface="Calibri"/>
              </a:rPr>
              <a:t>fixed seed; whole pipeline in ~20 s; reruns give identical metrics</a:t>
            </a:r>
          </a:p>
        </p:txBody>
      </p:sp>
      <p:sp>
        <p:nvSpPr>
          <p:cNvPr id="12" name="Oval 11"/>
          <p:cNvSpPr/>
          <p:nvPr/>
        </p:nvSpPr>
        <p:spPr>
          <a:xfrm>
            <a:off x="6492240" y="2807208"/>
            <a:ext cx="438912" cy="438912"/>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a:t>
            </a:r>
          </a:p>
        </p:txBody>
      </p:sp>
      <p:sp>
        <p:nvSpPr>
          <p:cNvPr id="13" name="TextBox 12"/>
          <p:cNvSpPr txBox="1"/>
          <p:nvPr/>
        </p:nvSpPr>
        <p:spPr>
          <a:xfrm>
            <a:off x="7086600" y="2788920"/>
            <a:ext cx="4572000" cy="320040"/>
          </a:xfrm>
          <a:prstGeom prst="rect">
            <a:avLst/>
          </a:prstGeom>
          <a:noFill/>
        </p:spPr>
        <p:txBody>
          <a:bodyPr wrap="square" anchor="t" lIns="0" rIns="0" tIns="0" bIns="0">
            <a:spAutoFit/>
          </a:bodyPr>
          <a:lstStyle/>
          <a:p>
            <a:pPr algn="l">
              <a:spcAft>
                <a:spcPts val="600"/>
              </a:spcAft>
            </a:pPr>
            <a:r>
              <a:rPr sz="1600" b="1" i="0">
                <a:solidFill>
                  <a:srgbClr val="0B1F3A"/>
                </a:solidFill>
                <a:latin typeface="Calibri"/>
              </a:rPr>
              <a:t>Validated</a:t>
            </a:r>
          </a:p>
        </p:txBody>
      </p:sp>
      <p:sp>
        <p:nvSpPr>
          <p:cNvPr id="14" name="TextBox 13"/>
          <p:cNvSpPr txBox="1"/>
          <p:nvPr/>
        </p:nvSpPr>
        <p:spPr>
          <a:xfrm>
            <a:off x="7086600" y="3127248"/>
            <a:ext cx="4572000" cy="548640"/>
          </a:xfrm>
          <a:prstGeom prst="rect">
            <a:avLst/>
          </a:prstGeom>
          <a:noFill/>
        </p:spPr>
        <p:txBody>
          <a:bodyPr wrap="square" anchor="t" lIns="0" rIns="0" tIns="0" bIns="0">
            <a:spAutoFit/>
          </a:bodyPr>
          <a:lstStyle/>
          <a:p>
            <a:pPr algn="l">
              <a:spcAft>
                <a:spcPts val="600"/>
              </a:spcAft>
            </a:pPr>
            <a:r>
              <a:rPr sz="1300" b="0" i="0">
                <a:solidFill>
                  <a:srgbClr val="1A1A19"/>
                </a:solidFill>
                <a:latin typeface="Calibri"/>
              </a:rPr>
              <a:t>99.8–100 % prediction agreement with scikit-learn</a:t>
            </a:r>
          </a:p>
        </p:txBody>
      </p:sp>
      <p:sp>
        <p:nvSpPr>
          <p:cNvPr id="15" name="Oval 14"/>
          <p:cNvSpPr/>
          <p:nvPr/>
        </p:nvSpPr>
        <p:spPr>
          <a:xfrm>
            <a:off x="6492240" y="3831336"/>
            <a:ext cx="438912" cy="438912"/>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a:t>
            </a:r>
          </a:p>
        </p:txBody>
      </p:sp>
      <p:sp>
        <p:nvSpPr>
          <p:cNvPr id="16" name="TextBox 15"/>
          <p:cNvSpPr txBox="1"/>
          <p:nvPr/>
        </p:nvSpPr>
        <p:spPr>
          <a:xfrm>
            <a:off x="7086600" y="3813048"/>
            <a:ext cx="4572000" cy="320040"/>
          </a:xfrm>
          <a:prstGeom prst="rect">
            <a:avLst/>
          </a:prstGeom>
          <a:noFill/>
        </p:spPr>
        <p:txBody>
          <a:bodyPr wrap="square" anchor="t" lIns="0" rIns="0" tIns="0" bIns="0">
            <a:spAutoFit/>
          </a:bodyPr>
          <a:lstStyle/>
          <a:p>
            <a:pPr algn="l">
              <a:spcAft>
                <a:spcPts val="600"/>
              </a:spcAft>
            </a:pPr>
            <a:r>
              <a:rPr sz="1600" b="1" i="0">
                <a:solidFill>
                  <a:srgbClr val="0B1F3A"/>
                </a:solidFill>
                <a:latin typeface="Calibri"/>
              </a:rPr>
              <a:t>Tested</a:t>
            </a:r>
          </a:p>
        </p:txBody>
      </p:sp>
      <p:sp>
        <p:nvSpPr>
          <p:cNvPr id="17" name="TextBox 16"/>
          <p:cNvSpPr txBox="1"/>
          <p:nvPr/>
        </p:nvSpPr>
        <p:spPr>
          <a:xfrm>
            <a:off x="7086600" y="4151376"/>
            <a:ext cx="4572000" cy="548640"/>
          </a:xfrm>
          <a:prstGeom prst="rect">
            <a:avLst/>
          </a:prstGeom>
          <a:noFill/>
        </p:spPr>
        <p:txBody>
          <a:bodyPr wrap="square" anchor="t" lIns="0" rIns="0" tIns="0" bIns="0">
            <a:spAutoFit/>
          </a:bodyPr>
          <a:lstStyle/>
          <a:p>
            <a:pPr algn="l">
              <a:spcAft>
                <a:spcPts val="600"/>
              </a:spcAft>
            </a:pPr>
            <a:r>
              <a:rPr sz="1300" b="0" i="0">
                <a:solidFill>
                  <a:srgbClr val="1A1A19"/>
                </a:solidFill>
                <a:latin typeface="Calibri"/>
              </a:rPr>
              <a:t>physics, interpolation, Eq. 2 identity, localisation</a:t>
            </a:r>
          </a:p>
        </p:txBody>
      </p:sp>
      <p:sp>
        <p:nvSpPr>
          <p:cNvPr id="18" name="Oval 17"/>
          <p:cNvSpPr/>
          <p:nvPr/>
        </p:nvSpPr>
        <p:spPr>
          <a:xfrm>
            <a:off x="6492240" y="4855464"/>
            <a:ext cx="438912" cy="438912"/>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400" b="1" i="0">
                <a:solidFill>
                  <a:srgbClr val="FFFFFF"/>
                </a:solidFill>
                <a:latin typeface="Calibri"/>
              </a:rPr>
              <a:t>✓</a:t>
            </a:r>
          </a:p>
        </p:txBody>
      </p:sp>
      <p:sp>
        <p:nvSpPr>
          <p:cNvPr id="19" name="TextBox 18"/>
          <p:cNvSpPr txBox="1"/>
          <p:nvPr/>
        </p:nvSpPr>
        <p:spPr>
          <a:xfrm>
            <a:off x="7086600" y="4837176"/>
            <a:ext cx="4572000" cy="320040"/>
          </a:xfrm>
          <a:prstGeom prst="rect">
            <a:avLst/>
          </a:prstGeom>
          <a:noFill/>
        </p:spPr>
        <p:txBody>
          <a:bodyPr wrap="square" anchor="t" lIns="0" rIns="0" tIns="0" bIns="0">
            <a:spAutoFit/>
          </a:bodyPr>
          <a:lstStyle/>
          <a:p>
            <a:pPr algn="l">
              <a:spcAft>
                <a:spcPts val="600"/>
              </a:spcAft>
            </a:pPr>
            <a:r>
              <a:rPr sz="1600" b="1" i="0">
                <a:solidFill>
                  <a:srgbClr val="0B1F3A"/>
                </a:solidFill>
                <a:latin typeface="Calibri"/>
              </a:rPr>
              <a:t>Honest evaluation</a:t>
            </a:r>
          </a:p>
        </p:txBody>
      </p:sp>
      <p:sp>
        <p:nvSpPr>
          <p:cNvPr id="20" name="TextBox 19"/>
          <p:cNvSpPr txBox="1"/>
          <p:nvPr/>
        </p:nvSpPr>
        <p:spPr>
          <a:xfrm>
            <a:off x="7086600" y="5175504"/>
            <a:ext cx="4572000" cy="548640"/>
          </a:xfrm>
          <a:prstGeom prst="rect">
            <a:avLst/>
          </a:prstGeom>
          <a:noFill/>
        </p:spPr>
        <p:txBody>
          <a:bodyPr wrap="square" anchor="t" lIns="0" rIns="0" tIns="0" bIns="0">
            <a:spAutoFit/>
          </a:bodyPr>
          <a:lstStyle/>
          <a:p>
            <a:pPr algn="l">
              <a:spcAft>
                <a:spcPts val="600"/>
              </a:spcAft>
            </a:pPr>
            <a:r>
              <a:rPr sz="1300" b="0" i="0">
                <a:solidFill>
                  <a:srgbClr val="1A1A19"/>
                </a:solidFill>
                <a:latin typeface="Calibri"/>
              </a:rPr>
              <a:t>held-out test, 5-fold CV, unseen-route CV, out-of-fold timelines</a:t>
            </a:r>
          </a:p>
        </p:txBody>
      </p:sp>
      <p:sp>
        <p:nvSpPr>
          <p:cNvPr id="21" name="TextBox 20"/>
          <p:cNvSpPr txBox="1"/>
          <p:nvPr/>
        </p:nvSpPr>
        <p:spPr>
          <a:xfrm>
            <a:off x="6492240" y="5897880"/>
            <a:ext cx="5120640" cy="365760"/>
          </a:xfrm>
          <a:prstGeom prst="rect">
            <a:avLst/>
          </a:prstGeom>
          <a:noFill/>
        </p:spPr>
        <p:txBody>
          <a:bodyPr wrap="square" anchor="t" lIns="0" rIns="0" tIns="0" bIns="0">
            <a:spAutoFit/>
          </a:bodyPr>
          <a:lstStyle/>
          <a:p>
            <a:pPr algn="l">
              <a:spcAft>
                <a:spcPts val="600"/>
              </a:spcAft>
            </a:pPr>
            <a:r>
              <a:rPr sz="1100" b="0" i="0">
                <a:solidFill>
                  <a:srgbClr val="52514E"/>
                </a:solidFill>
                <a:latin typeface="Calibri"/>
              </a:rPr>
              <a:t>Contributions — J Sanjay Varma: simulator, preprocessing, localisation, demo  ·  Kanak Pandey: models, evaluation, extensions, report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B1F3A"/>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16335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CADCFC"/>
                </a:solidFill>
                <a:latin typeface="Calibri"/>
              </a:rPr>
              <a:t>WRAP-UP</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CADCFC"/>
                </a:solidFill>
                <a:latin typeface="Calibri"/>
              </a:rPr>
              <a:t>17</a:t>
            </a:r>
          </a:p>
        </p:txBody>
      </p:sp>
      <p:sp>
        <p:nvSpPr>
          <p:cNvPr id="4" name="TextBox 3"/>
          <p:cNvSpPr txBox="1"/>
          <p:nvPr/>
        </p:nvSpPr>
        <p:spPr>
          <a:xfrm>
            <a:off x="548640" y="6419088"/>
            <a:ext cx="5486400" cy="274320"/>
          </a:xfrm>
          <a:prstGeom prst="rect">
            <a:avLst/>
          </a:prstGeom>
          <a:noFill/>
        </p:spPr>
        <p:txBody>
          <a:bodyPr wrap="square" anchor="t" lIns="0" rIns="0" tIns="0" bIns="0">
            <a:spAutoFit/>
          </a:bodyPr>
          <a:lstStyle/>
          <a:p>
            <a:pPr algn="l">
              <a:spcAft>
                <a:spcPts val="600"/>
              </a:spcAft>
            </a:pPr>
            <a:r>
              <a:rPr sz="1000" b="0" i="0">
                <a:solidFill>
                  <a:srgbClr val="CADCFC"/>
                </a:solidFill>
                <a:latin typeface="Calibri"/>
              </a:rPr>
              <a:t>Presenter · Kanak Pandey</a:t>
            </a:r>
          </a:p>
        </p:txBody>
      </p:sp>
      <p:sp>
        <p:nvSpPr>
          <p:cNvPr id="5" name="TextBox 4"/>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FFFFFF"/>
                </a:solidFill>
                <a:latin typeface="Cambria"/>
              </a:rPr>
              <a:t>Conclusions</a:t>
            </a:r>
          </a:p>
        </p:txBody>
      </p:sp>
      <p:sp>
        <p:nvSpPr>
          <p:cNvPr id="6" name="Oval 5"/>
          <p:cNvSpPr/>
          <p:nvPr/>
        </p:nvSpPr>
        <p:spPr>
          <a:xfrm>
            <a:off x="640080" y="1417320"/>
            <a:ext cx="502920" cy="502920"/>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1</a:t>
            </a:r>
          </a:p>
        </p:txBody>
      </p:sp>
      <p:sp>
        <p:nvSpPr>
          <p:cNvPr id="7" name="TextBox 6"/>
          <p:cNvSpPr txBox="1"/>
          <p:nvPr/>
        </p:nvSpPr>
        <p:spPr>
          <a:xfrm>
            <a:off x="1371600" y="1380744"/>
            <a:ext cx="10058400" cy="411480"/>
          </a:xfrm>
          <a:prstGeom prst="rect">
            <a:avLst/>
          </a:prstGeom>
          <a:noFill/>
        </p:spPr>
        <p:txBody>
          <a:bodyPr wrap="square" anchor="t" lIns="0" rIns="0" tIns="0" bIns="0">
            <a:spAutoFit/>
          </a:bodyPr>
          <a:lstStyle/>
          <a:p>
            <a:pPr algn="l">
              <a:spcAft>
                <a:spcPts val="600"/>
              </a:spcAft>
            </a:pPr>
            <a:r>
              <a:rPr sz="2100" b="1" i="0">
                <a:solidFill>
                  <a:srgbClr val="FFFFFF"/>
                </a:solidFill>
                <a:latin typeface="Cambria"/>
              </a:rPr>
              <a:t>Two telemetry features + a linear model</a:t>
            </a:r>
          </a:p>
        </p:txBody>
      </p:sp>
      <p:sp>
        <p:nvSpPr>
          <p:cNvPr id="8" name="TextBox 7"/>
          <p:cNvSpPr txBox="1"/>
          <p:nvPr/>
        </p:nvSpPr>
        <p:spPr>
          <a:xfrm>
            <a:off x="1371600" y="1837944"/>
            <a:ext cx="10058400" cy="457200"/>
          </a:xfrm>
          <a:prstGeom prst="rect">
            <a:avLst/>
          </a:prstGeom>
          <a:noFill/>
        </p:spPr>
        <p:txBody>
          <a:bodyPr wrap="square" anchor="t" lIns="0" rIns="0" tIns="0" bIns="0">
            <a:spAutoFit/>
          </a:bodyPr>
          <a:lstStyle/>
          <a:p>
            <a:pPr algn="l">
              <a:spcAft>
                <a:spcPts val="600"/>
              </a:spcAft>
            </a:pPr>
            <a:r>
              <a:rPr sz="1500" b="0" i="0">
                <a:solidFill>
                  <a:srgbClr val="CADCFC"/>
                </a:solidFill>
                <a:latin typeface="Calibri"/>
              </a:rPr>
              <a:t>detect failing links at 96.6%, equally well on links never seen in training</a:t>
            </a:r>
          </a:p>
        </p:txBody>
      </p:sp>
      <p:sp>
        <p:nvSpPr>
          <p:cNvPr id="9" name="Oval 8"/>
          <p:cNvSpPr/>
          <p:nvPr/>
        </p:nvSpPr>
        <p:spPr>
          <a:xfrm>
            <a:off x="640080" y="2560320"/>
            <a:ext cx="502920" cy="502920"/>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2</a:t>
            </a:r>
          </a:p>
        </p:txBody>
      </p:sp>
      <p:sp>
        <p:nvSpPr>
          <p:cNvPr id="10" name="TextBox 9"/>
          <p:cNvSpPr txBox="1"/>
          <p:nvPr/>
        </p:nvSpPr>
        <p:spPr>
          <a:xfrm>
            <a:off x="1371600" y="2523744"/>
            <a:ext cx="10058400" cy="411480"/>
          </a:xfrm>
          <a:prstGeom prst="rect">
            <a:avLst/>
          </a:prstGeom>
          <a:noFill/>
        </p:spPr>
        <p:txBody>
          <a:bodyPr wrap="square" anchor="t" lIns="0" rIns="0" tIns="0" bIns="0">
            <a:spAutoFit/>
          </a:bodyPr>
          <a:lstStyle/>
          <a:p>
            <a:pPr algn="l">
              <a:spcAft>
                <a:spcPts val="600"/>
              </a:spcAft>
            </a:pPr>
            <a:r>
              <a:rPr sz="2100" b="1" i="0">
                <a:solidFill>
                  <a:srgbClr val="FFFFFF"/>
                </a:solidFill>
                <a:latin typeface="Cambria"/>
              </a:rPr>
              <a:t>The paper's ranking reproduced</a:t>
            </a:r>
          </a:p>
        </p:txBody>
      </p:sp>
      <p:sp>
        <p:nvSpPr>
          <p:cNvPr id="11" name="TextBox 10"/>
          <p:cNvSpPr txBox="1"/>
          <p:nvPr/>
        </p:nvSpPr>
        <p:spPr>
          <a:xfrm>
            <a:off x="1371600" y="2980944"/>
            <a:ext cx="10058400" cy="457200"/>
          </a:xfrm>
          <a:prstGeom prst="rect">
            <a:avLst/>
          </a:prstGeom>
          <a:noFill/>
        </p:spPr>
        <p:txBody>
          <a:bodyPr wrap="square" anchor="t" lIns="0" rIns="0" tIns="0" bIns="0">
            <a:spAutoFit/>
          </a:bodyPr>
          <a:lstStyle/>
          <a:p>
            <a:pPr algn="l">
              <a:spcAft>
                <a:spcPts val="600"/>
              </a:spcAft>
            </a:pPr>
            <a:r>
              <a:rPr sz="1500" b="0" i="0">
                <a:solidFill>
                  <a:srgbClr val="CADCFC"/>
                </a:solidFill>
                <a:latin typeface="Calibri"/>
              </a:rPr>
              <a:t>LR ≈ linear SVM &gt; GDA; GDA's Gaussian assumption fails on multi-cluster failures</a:t>
            </a:r>
          </a:p>
        </p:txBody>
      </p:sp>
      <p:sp>
        <p:nvSpPr>
          <p:cNvPr id="12" name="Oval 11"/>
          <p:cNvSpPr/>
          <p:nvPr/>
        </p:nvSpPr>
        <p:spPr>
          <a:xfrm>
            <a:off x="640080" y="3703320"/>
            <a:ext cx="502920" cy="502920"/>
          </a:xfrm>
          <a:prstGeom prst="ellipse">
            <a:avLst/>
          </a:prstGeom>
          <a:solidFill>
            <a:srgbClr val="1BAF7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3</a:t>
            </a:r>
          </a:p>
        </p:txBody>
      </p:sp>
      <p:sp>
        <p:nvSpPr>
          <p:cNvPr id="13" name="TextBox 12"/>
          <p:cNvSpPr txBox="1"/>
          <p:nvPr/>
        </p:nvSpPr>
        <p:spPr>
          <a:xfrm>
            <a:off x="1371600" y="3666744"/>
            <a:ext cx="10058400" cy="411480"/>
          </a:xfrm>
          <a:prstGeom prst="rect">
            <a:avLst/>
          </a:prstGeom>
          <a:noFill/>
        </p:spPr>
        <p:txBody>
          <a:bodyPr wrap="square" anchor="t" lIns="0" rIns="0" tIns="0" bIns="0">
            <a:spAutoFit/>
          </a:bodyPr>
          <a:lstStyle/>
          <a:p>
            <a:pPr algn="l">
              <a:spcAft>
                <a:spcPts val="600"/>
              </a:spcAft>
            </a:pPr>
            <a:r>
              <a:rPr sz="2100" b="1" i="0">
                <a:solidFill>
                  <a:srgbClr val="FFFFFF"/>
                </a:solidFill>
                <a:latin typeface="Cambria"/>
              </a:rPr>
              <a:t>Localisation comes almost free</a:t>
            </a:r>
          </a:p>
        </p:txBody>
      </p:sp>
      <p:sp>
        <p:nvSpPr>
          <p:cNvPr id="14" name="TextBox 13"/>
          <p:cNvSpPr txBox="1"/>
          <p:nvPr/>
        </p:nvSpPr>
        <p:spPr>
          <a:xfrm>
            <a:off x="1371600" y="4123944"/>
            <a:ext cx="10058400" cy="457200"/>
          </a:xfrm>
          <a:prstGeom prst="rect">
            <a:avLst/>
          </a:prstGeom>
          <a:noFill/>
        </p:spPr>
        <p:txBody>
          <a:bodyPr wrap="square" anchor="t" lIns="0" rIns="0" tIns="0" bIns="0">
            <a:spAutoFit/>
          </a:bodyPr>
          <a:lstStyle/>
          <a:p>
            <a:pPr algn="l">
              <a:spcAft>
                <a:spcPts val="600"/>
              </a:spcAft>
            </a:pPr>
            <a:r>
              <a:rPr sz="1500" b="0" i="0">
                <a:solidFill>
                  <a:srgbClr val="CADCFC"/>
                </a:solidFill>
                <a:latin typeface="Calibri"/>
              </a:rPr>
              <a:t>per-span residuals pinpoint the span and the element: fibre, amplifier or cut</a:t>
            </a:r>
          </a:p>
        </p:txBody>
      </p:sp>
      <p:sp>
        <p:nvSpPr>
          <p:cNvPr id="15" name="Oval 14"/>
          <p:cNvSpPr/>
          <p:nvPr/>
        </p:nvSpPr>
        <p:spPr>
          <a:xfrm>
            <a:off x="640080" y="4846320"/>
            <a:ext cx="502920" cy="502920"/>
          </a:xfrm>
          <a:prstGeom prst="ellipse">
            <a:avLst/>
          </a:prstGeom>
          <a:solidFill>
            <a:srgbClr val="EB68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600" b="1" i="0">
                <a:solidFill>
                  <a:srgbClr val="FFFFFF"/>
                </a:solidFill>
                <a:latin typeface="Calibri"/>
              </a:rPr>
              <a:t>4</a:t>
            </a:r>
          </a:p>
        </p:txBody>
      </p:sp>
      <p:sp>
        <p:nvSpPr>
          <p:cNvPr id="16" name="TextBox 15"/>
          <p:cNvSpPr txBox="1"/>
          <p:nvPr/>
        </p:nvSpPr>
        <p:spPr>
          <a:xfrm>
            <a:off x="1371600" y="4809744"/>
            <a:ext cx="10058400" cy="411480"/>
          </a:xfrm>
          <a:prstGeom prst="rect">
            <a:avLst/>
          </a:prstGeom>
          <a:noFill/>
        </p:spPr>
        <p:txBody>
          <a:bodyPr wrap="square" anchor="t" lIns="0" rIns="0" tIns="0" bIns="0">
            <a:spAutoFit/>
          </a:bodyPr>
          <a:lstStyle/>
          <a:p>
            <a:pPr algn="l">
              <a:spcAft>
                <a:spcPts val="600"/>
              </a:spcAft>
            </a:pPr>
            <a:r>
              <a:rPr sz="2100" b="1" i="0">
                <a:solidFill>
                  <a:srgbClr val="FFFFFF"/>
                </a:solidFill>
                <a:latin typeface="Cambria"/>
              </a:rPr>
              <a:t>Next</a:t>
            </a:r>
          </a:p>
        </p:txBody>
      </p:sp>
      <p:sp>
        <p:nvSpPr>
          <p:cNvPr id="17" name="TextBox 16"/>
          <p:cNvSpPr txBox="1"/>
          <p:nvPr/>
        </p:nvSpPr>
        <p:spPr>
          <a:xfrm>
            <a:off x="1371600" y="5266944"/>
            <a:ext cx="10058400" cy="457200"/>
          </a:xfrm>
          <a:prstGeom prst="rect">
            <a:avLst/>
          </a:prstGeom>
          <a:noFill/>
        </p:spPr>
        <p:txBody>
          <a:bodyPr wrap="square" anchor="t" lIns="0" rIns="0" tIns="0" bIns="0">
            <a:spAutoFit/>
          </a:bodyPr>
          <a:lstStyle/>
          <a:p>
            <a:pPr algn="l">
              <a:spcAft>
                <a:spcPts val="600"/>
              </a:spcAft>
            </a:pPr>
            <a:r>
              <a:rPr sz="1500" b="0" i="0">
                <a:solidFill>
                  <a:srgbClr val="CADCFC"/>
                </a:solidFill>
                <a:latin typeface="Calibri"/>
              </a:rPr>
              <a:t>forecast OSNR for longer lead time · position-aware features · validate on real operator data</a:t>
            </a:r>
          </a:p>
        </p:txBody>
      </p:sp>
      <p:sp>
        <p:nvSpPr>
          <p:cNvPr id="18" name="TextBox 17"/>
          <p:cNvSpPr txBox="1"/>
          <p:nvPr/>
        </p:nvSpPr>
        <p:spPr>
          <a:xfrm>
            <a:off x="640080" y="5989320"/>
            <a:ext cx="10515600" cy="365760"/>
          </a:xfrm>
          <a:prstGeom prst="rect">
            <a:avLst/>
          </a:prstGeom>
          <a:noFill/>
        </p:spPr>
        <p:txBody>
          <a:bodyPr wrap="square" anchor="t" lIns="0" rIns="0" tIns="0" bIns="0">
            <a:spAutoFit/>
          </a:bodyPr>
          <a:lstStyle/>
          <a:p>
            <a:pPr algn="l">
              <a:spcAft>
                <a:spcPts val="600"/>
              </a:spcAft>
            </a:pPr>
            <a:r>
              <a:rPr sz="2000" b="1" i="0">
                <a:solidFill>
                  <a:srgbClr val="FFFFFF"/>
                </a:solidFill>
                <a:latin typeface="Calibri"/>
              </a:rPr>
              <a:t>Thank you — questions?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BACKUP</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18</a:t>
            </a:r>
          </a:p>
        </p:txBody>
      </p:sp>
      <p:sp>
        <p:nvSpPr>
          <p:cNvPr id="4" name="TextBox 3"/>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Backup · likely questions</a:t>
            </a:r>
          </a:p>
        </p:txBody>
      </p:sp>
      <p:sp>
        <p:nvSpPr>
          <p:cNvPr id="5" name="TextBox 4"/>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Short answers, with the evidence behind them</a:t>
            </a:r>
          </a:p>
        </p:txBody>
      </p:sp>
      <p:sp>
        <p:nvSpPr>
          <p:cNvPr id="6" name="Rounded Rectangle 5"/>
          <p:cNvSpPr/>
          <p:nvPr/>
        </p:nvSpPr>
        <p:spPr>
          <a:xfrm>
            <a:off x="548640" y="1645920"/>
            <a:ext cx="5440680" cy="102412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49808" y="1737360"/>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Why synthetic data?</a:t>
            </a:r>
          </a:p>
        </p:txBody>
      </p:sp>
      <p:sp>
        <p:nvSpPr>
          <p:cNvPr id="8" name="TextBox 7"/>
          <p:cNvSpPr txBox="1"/>
          <p:nvPr/>
        </p:nvSpPr>
        <p:spPr>
          <a:xfrm>
            <a:off x="749808" y="2057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Paper's data is private; its link is dead. Same format, plus true fault spans — which let us measure localisation.</a:t>
            </a:r>
          </a:p>
        </p:txBody>
      </p:sp>
      <p:sp>
        <p:nvSpPr>
          <p:cNvPr id="9" name="Rounded Rectangle 8"/>
          <p:cNvSpPr/>
          <p:nvPr/>
        </p:nvSpPr>
        <p:spPr>
          <a:xfrm>
            <a:off x="6144768" y="1645920"/>
            <a:ext cx="5440680" cy="10241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44768" y="1645920"/>
            <a:ext cx="5440680" cy="1024128"/>
          </a:xfrm>
          <a:prstGeom prst="roundRect">
            <a:avLst>
              <a:gd name="adj" fmla="val 6000"/>
            </a:avLst>
          </a:prstGeom>
          <a:noFill/>
          <a:ln w="15875">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45936" y="1737360"/>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Isn't 96 % worse than 99 %?</a:t>
            </a:r>
          </a:p>
        </p:txBody>
      </p:sp>
      <p:sp>
        <p:nvSpPr>
          <p:cNvPr id="12" name="TextBox 11"/>
          <p:cNvSpPr txBox="1"/>
          <p:nvPr/>
        </p:nvSpPr>
        <p:spPr>
          <a:xfrm>
            <a:off x="6345936" y="2057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Our labels follow OSNR physics where fault position matters; the RBF SVM barely helps, so the linear model isn't the limit.</a:t>
            </a:r>
          </a:p>
        </p:txBody>
      </p:sp>
      <p:sp>
        <p:nvSpPr>
          <p:cNvPr id="13" name="Rounded Rectangle 12"/>
          <p:cNvSpPr/>
          <p:nvPr/>
        </p:nvSpPr>
        <p:spPr>
          <a:xfrm>
            <a:off x="548640" y="2788920"/>
            <a:ext cx="5440680" cy="10241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48640" y="2788920"/>
            <a:ext cx="5440680" cy="1024128"/>
          </a:xfrm>
          <a:prstGeom prst="roundRect">
            <a:avLst>
              <a:gd name="adj" fmla="val 6000"/>
            </a:avLst>
          </a:prstGeom>
          <a:noFill/>
          <a:ln w="15875">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9808" y="2880360"/>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Any data leakage?</a:t>
            </a:r>
          </a:p>
        </p:txBody>
      </p:sp>
      <p:sp>
        <p:nvSpPr>
          <p:cNvPr id="16" name="TextBox 15"/>
          <p:cNvSpPr txBox="1"/>
          <p:nvPr/>
        </p:nvSpPr>
        <p:spPr>
          <a:xfrm>
            <a:off x="749808" y="3200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Unseen-route CV holds out whole routes: 96.9 %, same as the random split.</a:t>
            </a:r>
          </a:p>
        </p:txBody>
      </p:sp>
      <p:sp>
        <p:nvSpPr>
          <p:cNvPr id="17" name="Rounded Rectangle 16"/>
          <p:cNvSpPr/>
          <p:nvPr/>
        </p:nvSpPr>
        <p:spPr>
          <a:xfrm>
            <a:off x="6144768" y="2788920"/>
            <a:ext cx="5440680" cy="102412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45936" y="2880360"/>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Why Newton, not gradient descent?</a:t>
            </a:r>
          </a:p>
        </p:txBody>
      </p:sp>
      <p:sp>
        <p:nvSpPr>
          <p:cNvPr id="19" name="TextBox 18"/>
          <p:cNvSpPr txBox="1"/>
          <p:nvPr/>
        </p:nvSpPr>
        <p:spPr>
          <a:xfrm>
            <a:off x="6345936" y="3200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3×3 Hessian is free to invert; quadratic convergence in 11 steps.</a:t>
            </a:r>
          </a:p>
        </p:txBody>
      </p:sp>
      <p:sp>
        <p:nvSpPr>
          <p:cNvPr id="20" name="Rounded Rectangle 19"/>
          <p:cNvSpPr/>
          <p:nvPr/>
        </p:nvSpPr>
        <p:spPr>
          <a:xfrm>
            <a:off x="548640" y="3931920"/>
            <a:ext cx="5440680" cy="102412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9808" y="4023359"/>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Why does GDA lose?</a:t>
            </a:r>
          </a:p>
        </p:txBody>
      </p:sp>
      <p:sp>
        <p:nvSpPr>
          <p:cNvPr id="22" name="TextBox 21"/>
          <p:cNvSpPr txBox="1"/>
          <p:nvPr/>
        </p:nvSpPr>
        <p:spPr>
          <a:xfrm>
            <a:off x="749808" y="4343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Failures form 3 clusters; one Gaussian + shared Σ tilts the boundary. Recall 0.59.</a:t>
            </a:r>
          </a:p>
        </p:txBody>
      </p:sp>
      <p:sp>
        <p:nvSpPr>
          <p:cNvPr id="23" name="Rounded Rectangle 22"/>
          <p:cNvSpPr/>
          <p:nvPr/>
        </p:nvSpPr>
        <p:spPr>
          <a:xfrm>
            <a:off x="6144768" y="3931920"/>
            <a:ext cx="5440680" cy="10241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6144768" y="3931920"/>
            <a:ext cx="5440680" cy="1024128"/>
          </a:xfrm>
          <a:prstGeom prst="roundRect">
            <a:avLst>
              <a:gd name="adj" fmla="val 6000"/>
            </a:avLst>
          </a:prstGeom>
          <a:noFill/>
          <a:ln w="15875">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45936" y="4023359"/>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Class imbalance?</a:t>
            </a:r>
          </a:p>
        </p:txBody>
      </p:sp>
      <p:sp>
        <p:nvSpPr>
          <p:cNvPr id="26" name="TextBox 25"/>
          <p:cNvSpPr txBox="1"/>
          <p:nvPr/>
        </p:nvSpPr>
        <p:spPr>
          <a:xfrm>
            <a:off x="6345936" y="4343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24.5 % positive; we report precision, recall, F1 and AUC, not only accuracy.</a:t>
            </a:r>
          </a:p>
        </p:txBody>
      </p:sp>
      <p:sp>
        <p:nvSpPr>
          <p:cNvPr id="27" name="Rounded Rectangle 26"/>
          <p:cNvSpPr/>
          <p:nvPr/>
        </p:nvSpPr>
        <p:spPr>
          <a:xfrm>
            <a:off x="548640" y="5074920"/>
            <a:ext cx="5440680" cy="1024128"/>
          </a:xfrm>
          <a:prstGeom prst="roundRect">
            <a:avLst>
              <a:gd name="adj" fmla="val 6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48640" y="5074920"/>
            <a:ext cx="5440680" cy="1024128"/>
          </a:xfrm>
          <a:prstGeom prst="roundRect">
            <a:avLst>
              <a:gd name="adj" fmla="val 6000"/>
            </a:avLst>
          </a:prstGeom>
          <a:noFill/>
          <a:ln w="15875">
            <a:solidFill>
              <a:srgbClr val="E4E3D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49808" y="5166359"/>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How are labels made?</a:t>
            </a:r>
          </a:p>
        </p:txBody>
      </p:sp>
      <p:sp>
        <p:nvSpPr>
          <p:cNvPr id="30" name="TextBox 29"/>
          <p:cNvSpPr txBox="1"/>
          <p:nvPr/>
        </p:nvSpPr>
        <p:spPr>
          <a:xfrm>
            <a:off x="749808" y="5486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OSNR &lt; 17 dB, Rx power &gt; 7 dB low, or LOS — from an ASE + GN-model budget.</a:t>
            </a:r>
          </a:p>
        </p:txBody>
      </p:sp>
      <p:sp>
        <p:nvSpPr>
          <p:cNvPr id="31" name="Rounded Rectangle 30"/>
          <p:cNvSpPr/>
          <p:nvPr/>
        </p:nvSpPr>
        <p:spPr>
          <a:xfrm>
            <a:off x="6144768" y="5074920"/>
            <a:ext cx="5440680" cy="1024128"/>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45936" y="5166359"/>
            <a:ext cx="5029200" cy="320040"/>
          </a:xfrm>
          <a:prstGeom prst="rect">
            <a:avLst/>
          </a:prstGeom>
          <a:noFill/>
        </p:spPr>
        <p:txBody>
          <a:bodyPr wrap="square" anchor="t" lIns="0" rIns="0" tIns="0" bIns="0">
            <a:spAutoFit/>
          </a:bodyPr>
          <a:lstStyle/>
          <a:p>
            <a:pPr algn="l">
              <a:spcAft>
                <a:spcPts val="600"/>
              </a:spcAft>
            </a:pPr>
            <a:r>
              <a:rPr sz="1400" b="1" i="0">
                <a:solidFill>
                  <a:srgbClr val="0B1F3A"/>
                </a:solidFill>
                <a:latin typeface="Calibri"/>
              </a:rPr>
              <a:t>Real-world deployment?</a:t>
            </a:r>
          </a:p>
        </p:txBody>
      </p:sp>
      <p:sp>
        <p:nvSpPr>
          <p:cNvPr id="33" name="TextBox 32"/>
          <p:cNvSpPr txBox="1"/>
          <p:nvPr/>
        </p:nvSpPr>
        <p:spPr>
          <a:xfrm>
            <a:off x="6345936" y="5486400"/>
            <a:ext cx="5074920" cy="594360"/>
          </a:xfrm>
          <a:prstGeom prst="rect">
            <a:avLst/>
          </a:prstGeom>
          <a:noFill/>
        </p:spPr>
        <p:txBody>
          <a:bodyPr wrap="square" anchor="t" lIns="0" rIns="0" tIns="0" bIns="0">
            <a:spAutoFit/>
          </a:bodyPr>
          <a:lstStyle/>
          <a:p>
            <a:pPr algn="l">
              <a:spcAft>
                <a:spcPts val="600"/>
              </a:spcAft>
            </a:pPr>
            <a:r>
              <a:rPr sz="1200" b="0" i="0">
                <a:solidFill>
                  <a:srgbClr val="1A1A19"/>
                </a:solidFill>
                <a:latin typeface="Calibri"/>
              </a:rPr>
              <a:t>Features are sums of existing telemetry: O(19) per link per 2 min.</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ounded Rectangle 1"/>
          <p:cNvSpPr/>
          <p:nvPr/>
        </p:nvSpPr>
        <p:spPr>
          <a:xfrm>
            <a:off x="10104120" y="457200"/>
            <a:ext cx="1536192" cy="329184"/>
          </a:xfrm>
          <a:prstGeom prst="roundRect">
            <a:avLst>
              <a:gd name="adj" fmla="val 50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r>
              <a:rPr sz="1000" b="1" i="0">
                <a:solidFill>
                  <a:srgbClr val="2A78D6"/>
                </a:solidFill>
                <a:latin typeface="Calibri"/>
              </a:rPr>
              <a:t>BACKUP</a:t>
            </a:r>
          </a:p>
        </p:txBody>
      </p:sp>
      <p:sp>
        <p:nvSpPr>
          <p:cNvPr id="3" name="TextBox 2"/>
          <p:cNvSpPr txBox="1"/>
          <p:nvPr/>
        </p:nvSpPr>
        <p:spPr>
          <a:xfrm>
            <a:off x="10972800" y="6419088"/>
            <a:ext cx="667512" cy="274320"/>
          </a:xfrm>
          <a:prstGeom prst="rect">
            <a:avLst/>
          </a:prstGeom>
          <a:noFill/>
        </p:spPr>
        <p:txBody>
          <a:bodyPr wrap="square" anchor="t" lIns="0" rIns="0" tIns="0" bIns="0">
            <a:spAutoFit/>
          </a:bodyPr>
          <a:lstStyle/>
          <a:p>
            <a:pPr algn="r">
              <a:spcAft>
                <a:spcPts val="600"/>
              </a:spcAft>
            </a:pPr>
            <a:r>
              <a:rPr sz="1100" b="0" i="0">
                <a:solidFill>
                  <a:srgbClr val="52514E"/>
                </a:solidFill>
                <a:latin typeface="Calibri"/>
              </a:rPr>
              <a:t>19</a:t>
            </a:r>
          </a:p>
        </p:txBody>
      </p:sp>
      <p:sp>
        <p:nvSpPr>
          <p:cNvPr id="4" name="TextBox 3"/>
          <p:cNvSpPr txBox="1"/>
          <p:nvPr/>
        </p:nvSpPr>
        <p:spPr>
          <a:xfrm>
            <a:off x="548640" y="384048"/>
            <a:ext cx="9326880" cy="731520"/>
          </a:xfrm>
          <a:prstGeom prst="rect">
            <a:avLst/>
          </a:prstGeom>
          <a:noFill/>
        </p:spPr>
        <p:txBody>
          <a:bodyPr wrap="square" anchor="t" lIns="0" rIns="0" tIns="0" bIns="0">
            <a:spAutoFit/>
          </a:bodyPr>
          <a:lstStyle/>
          <a:p>
            <a:pPr algn="l">
              <a:spcAft>
                <a:spcPts val="600"/>
              </a:spcAft>
            </a:pPr>
            <a:r>
              <a:rPr sz="3200" b="1" i="0">
                <a:solidFill>
                  <a:srgbClr val="0B1F3A"/>
                </a:solidFill>
                <a:latin typeface="Cambria"/>
              </a:rPr>
              <a:t>Backup · equations &amp; settings</a:t>
            </a:r>
          </a:p>
        </p:txBody>
      </p:sp>
      <p:sp>
        <p:nvSpPr>
          <p:cNvPr id="5" name="TextBox 4"/>
          <p:cNvSpPr txBox="1"/>
          <p:nvPr/>
        </p:nvSpPr>
        <p:spPr>
          <a:xfrm>
            <a:off x="548640" y="1042415"/>
            <a:ext cx="10515600" cy="411480"/>
          </a:xfrm>
          <a:prstGeom prst="rect">
            <a:avLst/>
          </a:prstGeom>
          <a:noFill/>
        </p:spPr>
        <p:txBody>
          <a:bodyPr wrap="square" anchor="t" lIns="0" rIns="0" tIns="0" bIns="0">
            <a:spAutoFit/>
          </a:bodyPr>
          <a:lstStyle/>
          <a:p>
            <a:pPr algn="l">
              <a:spcAft>
                <a:spcPts val="600"/>
              </a:spcAft>
            </a:pPr>
            <a:r>
              <a:rPr sz="1600" b="0" i="0">
                <a:solidFill>
                  <a:srgbClr val="52514E"/>
                </a:solidFill>
                <a:latin typeface="Calibri"/>
              </a:rPr>
              <a:t>Everything needed to reproduce the models by hand</a:t>
            </a:r>
          </a:p>
        </p:txBody>
      </p:sp>
      <p:sp>
        <p:nvSpPr>
          <p:cNvPr id="6" name="Rounded Rectangle 5"/>
          <p:cNvSpPr/>
          <p:nvPr/>
        </p:nvSpPr>
        <p:spPr>
          <a:xfrm>
            <a:off x="548640" y="1645920"/>
            <a:ext cx="5440680" cy="137160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764792"/>
            <a:ext cx="4937760"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Features (Eq. 1–2)</a:t>
            </a:r>
          </a:p>
        </p:txBody>
      </p:sp>
      <p:sp>
        <p:nvSpPr>
          <p:cNvPr id="8" name="TextBox 7"/>
          <p:cNvSpPr txBox="1"/>
          <p:nvPr/>
        </p:nvSpPr>
        <p:spPr>
          <a:xfrm>
            <a:off x="777240" y="2148840"/>
            <a:ext cx="5029200" cy="822960"/>
          </a:xfrm>
          <a:prstGeom prst="rect">
            <a:avLst/>
          </a:prstGeom>
          <a:noFill/>
        </p:spPr>
        <p:txBody>
          <a:bodyPr wrap="square" anchor="t" lIns="0" rIns="0" tIns="0" bIns="0">
            <a:spAutoFit/>
          </a:bodyPr>
          <a:lstStyle/>
          <a:p>
            <a:pPr algn="l">
              <a:spcAft>
                <a:spcPts val="400"/>
              </a:spcAft>
            </a:pPr>
            <a:r>
              <a:rPr sz="1400" b="0" i="0">
                <a:solidFill>
                  <a:srgbClr val="1A1A19"/>
                </a:solidFill>
                <a:latin typeface="Cambria Math"/>
              </a:rPr>
              <a:t>x1ₙ = Gₙ − G*ₙ ,   x2ₙ = L*ₙ − Lₙ</a:t>
            </a:r>
          </a:p>
          <a:p>
            <a:pPr algn="l">
              <a:spcAft>
                <a:spcPts val="400"/>
              </a:spcAft>
            </a:pPr>
            <a:r>
              <a:rPr sz="1400" b="0" i="0">
                <a:solidFill>
                  <a:srgbClr val="1A1A19"/>
                </a:solidFill>
                <a:latin typeface="Cambria Math"/>
              </a:rPr>
              <a:t>X1 = Σₙ x1ₙ ,   X2 = Σₙ x2ₙ   (n = 1…19)</a:t>
            </a:r>
          </a:p>
        </p:txBody>
      </p:sp>
      <p:sp>
        <p:nvSpPr>
          <p:cNvPr id="9" name="Rounded Rectangle 8"/>
          <p:cNvSpPr/>
          <p:nvPr/>
        </p:nvSpPr>
        <p:spPr>
          <a:xfrm>
            <a:off x="6144768" y="1645920"/>
            <a:ext cx="5440680" cy="137160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73368" y="1764792"/>
            <a:ext cx="4937760"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Logistic regression</a:t>
            </a:r>
          </a:p>
        </p:txBody>
      </p:sp>
      <p:sp>
        <p:nvSpPr>
          <p:cNvPr id="11" name="TextBox 10"/>
          <p:cNvSpPr txBox="1"/>
          <p:nvPr/>
        </p:nvSpPr>
        <p:spPr>
          <a:xfrm>
            <a:off x="6373368" y="2148840"/>
            <a:ext cx="5029200" cy="822960"/>
          </a:xfrm>
          <a:prstGeom prst="rect">
            <a:avLst/>
          </a:prstGeom>
          <a:noFill/>
        </p:spPr>
        <p:txBody>
          <a:bodyPr wrap="square" anchor="t" lIns="0" rIns="0" tIns="0" bIns="0">
            <a:spAutoFit/>
          </a:bodyPr>
          <a:lstStyle/>
          <a:p>
            <a:pPr algn="l">
              <a:spcAft>
                <a:spcPts val="400"/>
              </a:spcAft>
            </a:pPr>
            <a:r>
              <a:rPr sz="1400" b="0" i="0">
                <a:solidFill>
                  <a:srgbClr val="1A1A19"/>
                </a:solidFill>
                <a:latin typeface="Cambria Math"/>
              </a:rPr>
              <a:t>h = σ(θᵀx),  ∇J = Xᵀ(h − y)/n + λθ</a:t>
            </a:r>
          </a:p>
          <a:p>
            <a:pPr algn="l">
              <a:spcAft>
                <a:spcPts val="400"/>
              </a:spcAft>
            </a:pPr>
            <a:r>
              <a:rPr sz="1400" b="0" i="0">
                <a:solidFill>
                  <a:srgbClr val="1A1A19"/>
                </a:solidFill>
                <a:latin typeface="Cambria Math"/>
              </a:rPr>
              <a:t>H = XᵀSX/n + λI,  S = diag(h(1−h)),  λ = 10⁻⁴</a:t>
            </a:r>
          </a:p>
        </p:txBody>
      </p:sp>
      <p:sp>
        <p:nvSpPr>
          <p:cNvPr id="12" name="Rounded Rectangle 11"/>
          <p:cNvSpPr/>
          <p:nvPr/>
        </p:nvSpPr>
        <p:spPr>
          <a:xfrm>
            <a:off x="548640" y="3182112"/>
            <a:ext cx="5440680" cy="137160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300984"/>
            <a:ext cx="4937760"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GDA</a:t>
            </a:r>
          </a:p>
        </p:txBody>
      </p:sp>
      <p:sp>
        <p:nvSpPr>
          <p:cNvPr id="14" name="TextBox 13"/>
          <p:cNvSpPr txBox="1"/>
          <p:nvPr/>
        </p:nvSpPr>
        <p:spPr>
          <a:xfrm>
            <a:off x="777240" y="3685032"/>
            <a:ext cx="5029200" cy="822960"/>
          </a:xfrm>
          <a:prstGeom prst="rect">
            <a:avLst/>
          </a:prstGeom>
          <a:noFill/>
        </p:spPr>
        <p:txBody>
          <a:bodyPr wrap="square" anchor="t" lIns="0" rIns="0" tIns="0" bIns="0">
            <a:spAutoFit/>
          </a:bodyPr>
          <a:lstStyle/>
          <a:p>
            <a:pPr algn="l">
              <a:spcAft>
                <a:spcPts val="400"/>
              </a:spcAft>
            </a:pPr>
            <a:r>
              <a:rPr sz="1400" b="0" i="0">
                <a:solidFill>
                  <a:srgbClr val="1A1A19"/>
                </a:solidFill>
                <a:latin typeface="Cambria Math"/>
              </a:rPr>
              <a:t>φ = mean(y),  μₖ = mean(x | y = k)</a:t>
            </a:r>
          </a:p>
          <a:p>
            <a:pPr algn="l">
              <a:spcAft>
                <a:spcPts val="400"/>
              </a:spcAft>
            </a:pPr>
            <a:r>
              <a:rPr sz="1400" b="0" i="0">
                <a:solidFill>
                  <a:srgbClr val="1A1A19"/>
                </a:solidFill>
                <a:latin typeface="Cambria Math"/>
              </a:rPr>
              <a:t>Σ = 1/n Σᵢ (xᵢ − μ_yᵢ)(xᵢ − μ_yᵢ)ᵀ,  w = Σ⁻¹(μ₁ − μ₀)</a:t>
            </a:r>
          </a:p>
        </p:txBody>
      </p:sp>
      <p:sp>
        <p:nvSpPr>
          <p:cNvPr id="15" name="Rounded Rectangle 14"/>
          <p:cNvSpPr/>
          <p:nvPr/>
        </p:nvSpPr>
        <p:spPr>
          <a:xfrm>
            <a:off x="6144768" y="3182112"/>
            <a:ext cx="5440680" cy="137160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373368" y="3300984"/>
            <a:ext cx="4937760"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Linear SVM (Pegasos)</a:t>
            </a:r>
          </a:p>
        </p:txBody>
      </p:sp>
      <p:sp>
        <p:nvSpPr>
          <p:cNvPr id="17" name="TextBox 16"/>
          <p:cNvSpPr txBox="1"/>
          <p:nvPr/>
        </p:nvSpPr>
        <p:spPr>
          <a:xfrm>
            <a:off x="6373368" y="3685032"/>
            <a:ext cx="5029200" cy="822960"/>
          </a:xfrm>
          <a:prstGeom prst="rect">
            <a:avLst/>
          </a:prstGeom>
          <a:noFill/>
        </p:spPr>
        <p:txBody>
          <a:bodyPr wrap="square" anchor="t" lIns="0" rIns="0" tIns="0" bIns="0">
            <a:spAutoFit/>
          </a:bodyPr>
          <a:lstStyle/>
          <a:p>
            <a:pPr algn="l">
              <a:spcAft>
                <a:spcPts val="400"/>
              </a:spcAft>
            </a:pPr>
            <a:r>
              <a:rPr sz="1400" b="0" i="0">
                <a:solidFill>
                  <a:srgbClr val="1A1A19"/>
                </a:solidFill>
                <a:latin typeface="Cambria Math"/>
              </a:rPr>
              <a:t>λ = 1/(C·n),  C = 1,  ηₜ = 1/(λt)</a:t>
            </a:r>
          </a:p>
          <a:p>
            <a:pPr algn="l">
              <a:spcAft>
                <a:spcPts val="400"/>
              </a:spcAft>
            </a:pPr>
            <a:r>
              <a:rPr sz="1400" b="0" i="0">
                <a:solidFill>
                  <a:srgbClr val="1A1A19"/>
                </a:solidFill>
                <a:latin typeface="Cambria Math"/>
              </a:rPr>
              <a:t>batch 64, 200 epochs, average 2nd half</a:t>
            </a:r>
          </a:p>
        </p:txBody>
      </p:sp>
      <p:sp>
        <p:nvSpPr>
          <p:cNvPr id="18" name="Rounded Rectangle 17"/>
          <p:cNvSpPr/>
          <p:nvPr/>
        </p:nvSpPr>
        <p:spPr>
          <a:xfrm>
            <a:off x="548640" y="4718304"/>
            <a:ext cx="5440680" cy="137160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77240" y="4837176"/>
            <a:ext cx="4937760"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Labels / physics</a:t>
            </a:r>
          </a:p>
        </p:txBody>
      </p:sp>
      <p:sp>
        <p:nvSpPr>
          <p:cNvPr id="20" name="TextBox 19"/>
          <p:cNvSpPr txBox="1"/>
          <p:nvPr/>
        </p:nvSpPr>
        <p:spPr>
          <a:xfrm>
            <a:off x="777240" y="5221224"/>
            <a:ext cx="5029200" cy="822960"/>
          </a:xfrm>
          <a:prstGeom prst="rect">
            <a:avLst/>
          </a:prstGeom>
          <a:noFill/>
        </p:spPr>
        <p:txBody>
          <a:bodyPr wrap="square" anchor="t" lIns="0" rIns="0" tIns="0" bIns="0">
            <a:spAutoFit/>
          </a:bodyPr>
          <a:lstStyle/>
          <a:p>
            <a:pPr algn="l">
              <a:spcAft>
                <a:spcPts val="400"/>
              </a:spcAft>
            </a:pPr>
            <a:r>
              <a:rPr sz="1400" b="0" i="0">
                <a:solidFill>
                  <a:srgbClr val="1A1A19"/>
                </a:solidFill>
                <a:latin typeface="Cambria Math"/>
              </a:rPr>
              <a:t>OSNRᵢ = 58 + P_in,i − NFᵢ ;  SNR_NLI = −η − 2P</a:t>
            </a:r>
          </a:p>
          <a:p>
            <a:pPr algn="l">
              <a:spcAft>
                <a:spcPts val="400"/>
              </a:spcAft>
            </a:pPr>
            <a:r>
              <a:rPr sz="1400" b="0" i="0">
                <a:solidFill>
                  <a:srgbClr val="1A1A19"/>
                </a:solidFill>
                <a:latin typeface="Cambria Math"/>
              </a:rPr>
              <a:t>unhealthy: OSNR &lt; 17 dB ∨ Rx &lt; −6 dBm ∨ LOS</a:t>
            </a:r>
          </a:p>
        </p:txBody>
      </p:sp>
      <p:sp>
        <p:nvSpPr>
          <p:cNvPr id="21" name="Rounded Rectangle 20"/>
          <p:cNvSpPr/>
          <p:nvPr/>
        </p:nvSpPr>
        <p:spPr>
          <a:xfrm>
            <a:off x="6144768" y="4718304"/>
            <a:ext cx="5440680" cy="1371600"/>
          </a:xfrm>
          <a:prstGeom prst="roundRect">
            <a:avLst>
              <a:gd name="adj" fmla="val 6000"/>
            </a:avLst>
          </a:prstGeom>
          <a:solidFill>
            <a:srgbClr val="EEF3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73368" y="4837176"/>
            <a:ext cx="4937760" cy="320040"/>
          </a:xfrm>
          <a:prstGeom prst="rect">
            <a:avLst/>
          </a:prstGeom>
          <a:noFill/>
        </p:spPr>
        <p:txBody>
          <a:bodyPr wrap="square" anchor="t" lIns="0" rIns="0" tIns="0" bIns="0">
            <a:spAutoFit/>
          </a:bodyPr>
          <a:lstStyle/>
          <a:p>
            <a:pPr algn="l">
              <a:spcAft>
                <a:spcPts val="600"/>
              </a:spcAft>
            </a:pPr>
            <a:r>
              <a:rPr sz="1400" b="1" i="0">
                <a:solidFill>
                  <a:srgbClr val="2A78D6"/>
                </a:solidFill>
                <a:latin typeface="Calibri"/>
              </a:rPr>
              <a:t>Localisation</a:t>
            </a:r>
          </a:p>
        </p:txBody>
      </p:sp>
      <p:sp>
        <p:nvSpPr>
          <p:cNvPr id="23" name="TextBox 22"/>
          <p:cNvSpPr txBox="1"/>
          <p:nvPr/>
        </p:nvSpPr>
        <p:spPr>
          <a:xfrm>
            <a:off x="6373368" y="5221224"/>
            <a:ext cx="5029200" cy="822960"/>
          </a:xfrm>
          <a:prstGeom prst="rect">
            <a:avLst/>
          </a:prstGeom>
          <a:noFill/>
        </p:spPr>
        <p:txBody>
          <a:bodyPr wrap="square" anchor="t" lIns="0" rIns="0" tIns="0" bIns="0">
            <a:spAutoFit/>
          </a:bodyPr>
          <a:lstStyle/>
          <a:p>
            <a:pPr algn="l">
              <a:spcAft>
                <a:spcPts val="400"/>
              </a:spcAft>
            </a:pPr>
            <a:r>
              <a:rPr sz="1400" b="0" i="0">
                <a:solidFill>
                  <a:srgbClr val="1A1A19"/>
                </a:solidFill>
                <a:latin typeface="Cambria Math"/>
              </a:rPr>
              <a:t>k* = argmaxₙ max(Lₙ − L*ₙ , G*ₙ − Gₙ)</a:t>
            </a:r>
          </a:p>
          <a:p>
            <a:pPr algn="l">
              <a:spcAft>
                <a:spcPts val="400"/>
              </a:spcAft>
            </a:pPr>
            <a:r>
              <a:rPr sz="1400" b="0" i="0">
                <a:solidFill>
                  <a:srgbClr val="1A1A19"/>
                </a:solidFill>
                <a:latin typeface="Cambria Math"/>
              </a:rPr>
              <a:t>flapping: ≥ 4 toggles in 15 bins (30 min)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