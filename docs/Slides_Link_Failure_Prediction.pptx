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team and the problem: we reproduce and extend a Stanford paper that predicts optical link failures from span-loss and amplifier-gain telemetry, and then localises the failing span.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why proactive detection matters for cloud providers. The four raw metrics are exactly the ones the paper uses.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Q&amp;A prep: Why simulate? The paper's data is from a private time-series DB and its appendix link is dead. The simulator reproduces the paper's format exactly and gives ground-truth fault locations, which the paper never had, so localisation can be scored. Physics: constant-gain amplifiers, so a power deficit propagates downstream; ASE OSNR per amp = 58 + P_in - NF; NLI via GN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linkfail/preprocessing.py. Mention the fibre-cut special case is straight from the paper: missing because of a root-cause failure is filled with the expected cut value, not interpolated.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Q&amp;A prep: Why Newton? Two features means a 3×3 Hessian, so each step is cheap and convergence is quadratic. GDA vs LR: GDA makes stronger assumptions (Gaussian classes), which help when true, hurt when not. Pegasos: projected stochastic sub-gradient on the primal; step 1/(λt).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LR coefficients θ = (-10.44, -1.61, -1.50). θ1 ≈ θ2, so the learnt rule is 'alarm when X1 + X2 is below about −7 dB', i.e. net power deficit, which is the physically right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Unseen routes = GroupKFold where entire fibre routes (both directions) are held out, so this is the accuracy on a link the model has never seen. GDA's precision is fine but recall is only 0.59: it misses many failures.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Q&amp;A point: our labels come from a real OSNR link budget, in which the position of the fault matters. The aggregated features cannot see position, so a fraction of the boundary points are ambiguous. That is information loss, not a failure of linear models: the nonlinear RBF SVM barely helps.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script: (1) none → all healthy. (2) fiber_degradation span 8, 4 dB → healthy; raise to 9 dB → LR &amp; SVM flag it, localised to span 8. (3) Same severity at span 19 → OSNR barely moves (position effect). (4) amplifier_degradation 6 dB → borderline, GDA disagrees. (5) fiber_cut → everyone flags, 'fiber_cut' localised. Then switch to Network replay R07-ZA.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CADCFC"/>
                </a:solidFill>
                <a:latin typeface="Calibri"/>
              </a:rPr>
              <a:t>UE24CS352A  ·  MACHINE LEARNING MINI-PROJECT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mbria"/>
              </a:rPr>
              <a:t>Link Failure Prediction &amp; Localization in Cloud-Scale Networks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290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CADCFC"/>
                </a:solidFill>
                <a:latin typeface="Calibri"/>
              </a:rPr>
              <a:t>Supervised learning on optical-line telemetry: Logistic Regression · GDA · Linear SVM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4800600"/>
            <a:ext cx="292608" cy="292608"/>
          </a:xfrm>
          <a:prstGeom prst="ellipse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024128" y="4946904"/>
            <a:ext cx="786384" cy="0"/>
          </a:xfrm>
          <a:prstGeom prst="line">
            <a:avLst/>
          </a:prstGeom>
          <a:ln w="25400">
            <a:solidFill>
              <a:srgbClr val="CADCF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810512" y="4800600"/>
            <a:ext cx="292608" cy="292608"/>
          </a:xfrm>
          <a:prstGeom prst="ellipse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2103120" y="4946904"/>
            <a:ext cx="786384" cy="0"/>
          </a:xfrm>
          <a:prstGeom prst="line">
            <a:avLst/>
          </a:prstGeom>
          <a:ln w="25400">
            <a:solidFill>
              <a:srgbClr val="CADCF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2889504" y="4800600"/>
            <a:ext cx="292608" cy="292608"/>
          </a:xfrm>
          <a:prstGeom prst="ellipse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3182112" y="4946904"/>
            <a:ext cx="786384" cy="0"/>
          </a:xfrm>
          <a:prstGeom prst="line">
            <a:avLst/>
          </a:prstGeom>
          <a:ln w="25400">
            <a:solidFill>
              <a:srgbClr val="CADCF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3968496" y="4800600"/>
            <a:ext cx="292608" cy="292608"/>
          </a:xfrm>
          <a:prstGeom prst="ellipse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4261104" y="4946904"/>
            <a:ext cx="786384" cy="0"/>
          </a:xfrm>
          <a:prstGeom prst="line">
            <a:avLst/>
          </a:prstGeom>
          <a:ln w="25400">
            <a:solidFill>
              <a:srgbClr val="CADCF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047488" y="4800600"/>
            <a:ext cx="292608" cy="292608"/>
          </a:xfrm>
          <a:prstGeom prst="ellipse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5340096" y="4946904"/>
            <a:ext cx="786383" cy="0"/>
          </a:xfrm>
          <a:prstGeom prst="line">
            <a:avLst/>
          </a:prstGeom>
          <a:ln w="25400">
            <a:solidFill>
              <a:srgbClr val="CADCF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6126479" y="4800600"/>
            <a:ext cx="292608" cy="292608"/>
          </a:xfrm>
          <a:prstGeom prst="ellipse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6419088" y="4946904"/>
            <a:ext cx="786383" cy="0"/>
          </a:xfrm>
          <a:prstGeom prst="line">
            <a:avLst/>
          </a:prstGeom>
          <a:ln w="25400">
            <a:solidFill>
              <a:srgbClr val="CADCF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7205472" y="4800600"/>
            <a:ext cx="292608" cy="292608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7498079" y="4946904"/>
            <a:ext cx="786385" cy="0"/>
          </a:xfrm>
          <a:prstGeom prst="line">
            <a:avLst/>
          </a:prstGeom>
          <a:ln w="25400">
            <a:solidFill>
              <a:srgbClr val="CADCF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8284464" y="4800600"/>
            <a:ext cx="292608" cy="292608"/>
          </a:xfrm>
          <a:prstGeom prst="ellipse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577072" y="4946904"/>
            <a:ext cx="786384" cy="0"/>
          </a:xfrm>
          <a:prstGeom prst="line">
            <a:avLst/>
          </a:prstGeom>
          <a:ln w="25400">
            <a:solidFill>
              <a:srgbClr val="CADCF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9363456" y="4800600"/>
            <a:ext cx="292608" cy="292608"/>
          </a:xfrm>
          <a:prstGeom prst="ellipse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9656064" y="4946904"/>
            <a:ext cx="786384" cy="0"/>
          </a:xfrm>
          <a:prstGeom prst="line">
            <a:avLst/>
          </a:prstGeom>
          <a:ln w="25400">
            <a:solidFill>
              <a:srgbClr val="CADCF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10442448" y="4800600"/>
            <a:ext cx="292608" cy="292608"/>
          </a:xfrm>
          <a:prstGeom prst="ellipse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257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CADCFC"/>
                </a:solidFill>
                <a:latin typeface="Calibri"/>
              </a:rPr>
              <a:t>fibre span  ●  amplifier  ●  the orange one is failing — can we spot it from telemetry?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9436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Team: J Sanjay Varma (PES1UG24CS194)  ·  Kanak Pandey (PES1UG24CS212)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B1F3A"/>
                </a:solidFill>
                <a:latin typeface="Cambria"/>
              </a:rPr>
              <a:t>The problem: failing links hurt customers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2514E"/>
                </a:solidFill>
                <a:latin typeface="Calibri"/>
              </a:rPr>
              <a:t>Every E2E link crosses 19 fibre spans and amplifiers — any one can degrade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548640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EB6834"/>
                </a:solidFill>
                <a:latin typeface="Calibri"/>
              </a:rPr>
              <a:t>▸  </a:t>
            </a:r>
            <a:r>
              <a:rPr sz="1700" b="0">
                <a:solidFill>
                  <a:srgbClr val="1A1A19"/>
                </a:solidFill>
                <a:latin typeface="Calibri"/>
              </a:rPr>
              <a:t>Cloud services ride on </a:t>
            </a:r>
            <a:r>
              <a:rPr sz="1700" b="1">
                <a:solidFill>
                  <a:srgbClr val="1A1A19"/>
                </a:solidFill>
                <a:latin typeface="Calibri"/>
              </a:rPr>
              <a:t>IP-over-optical</a:t>
            </a:r>
            <a:r>
              <a:rPr sz="1700" b="0">
                <a:solidFill>
                  <a:srgbClr val="1A1A19"/>
                </a:solidFill>
                <a:latin typeface="Calibri"/>
              </a:rPr>
              <a:t> links spanning hundreds of km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EB6834"/>
                </a:solidFill>
                <a:latin typeface="Calibri"/>
              </a:rPr>
              <a:t>▸  </a:t>
            </a:r>
            <a:r>
              <a:rPr sz="1700" b="0">
                <a:solidFill>
                  <a:srgbClr val="1A1A19"/>
                </a:solidFill>
                <a:latin typeface="Calibri"/>
              </a:rPr>
              <a:t>Fibres age, bend or get cut; amplifiers lose gain; connectors </a:t>
            </a:r>
            <a:r>
              <a:rPr sz="1700" b="1">
                <a:solidFill>
                  <a:srgbClr val="1A1A19"/>
                </a:solidFill>
                <a:latin typeface="Calibri"/>
              </a:rPr>
              <a:t>flap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EB6834"/>
                </a:solidFill>
                <a:latin typeface="Calibri"/>
              </a:rPr>
              <a:t>▸  </a:t>
            </a:r>
            <a:r>
              <a:rPr sz="1700" b="0">
                <a:solidFill>
                  <a:srgbClr val="1A1A19"/>
                </a:solidFill>
                <a:latin typeface="Calibri"/>
              </a:rPr>
              <a:t>Each fault lowers the </a:t>
            </a:r>
            <a:r>
              <a:rPr sz="1700" b="1">
                <a:solidFill>
                  <a:srgbClr val="1A1A19"/>
                </a:solidFill>
                <a:latin typeface="Calibri"/>
              </a:rPr>
              <a:t>OSNR</a:t>
            </a:r>
            <a:r>
              <a:rPr sz="1700" b="0">
                <a:solidFill>
                  <a:srgbClr val="1A1A19"/>
                </a:solidFill>
                <a:latin typeface="Calibri"/>
              </a:rPr>
              <a:t> until traffic fails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EB6834"/>
                </a:solidFill>
                <a:latin typeface="Calibri"/>
              </a:rPr>
              <a:t>▸  </a:t>
            </a:r>
            <a:r>
              <a:rPr sz="1700" b="0">
                <a:solidFill>
                  <a:srgbClr val="1A1A19"/>
                </a:solidFill>
                <a:latin typeface="Calibri"/>
              </a:rPr>
              <a:t>Reactive repair = outage + long maintenance window + hard to find </a:t>
            </a:r>
            <a:r>
              <a:rPr sz="1700" b="1">
                <a:solidFill>
                  <a:srgbClr val="1A1A19"/>
                </a:solidFill>
                <a:latin typeface="Calibri"/>
              </a:rPr>
              <a:t>where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EB6834"/>
                </a:solidFill>
                <a:latin typeface="Calibri"/>
              </a:rPr>
              <a:t>▸  </a:t>
            </a:r>
            <a:r>
              <a:rPr sz="1700" b="1">
                <a:solidFill>
                  <a:srgbClr val="EB6834"/>
                </a:solidFill>
                <a:latin typeface="Calibri"/>
              </a:rPr>
              <a:t>Goal: </a:t>
            </a:r>
            <a:r>
              <a:rPr sz="1700" b="1">
                <a:solidFill>
                  <a:srgbClr val="1A1A19"/>
                </a:solidFill>
                <a:latin typeface="Calibri"/>
              </a:rPr>
              <a:t>flag marginal links </a:t>
            </a:r>
            <a:r>
              <a:rPr sz="1700" b="1">
                <a:solidFill>
                  <a:srgbClr val="EB6834"/>
                </a:solidFill>
                <a:latin typeface="Calibri"/>
              </a:rPr>
              <a:t>before</a:t>
            </a:r>
            <a:r>
              <a:rPr sz="1700" b="0">
                <a:solidFill>
                  <a:srgbClr val="1A1A19"/>
                </a:solidFill>
                <a:latin typeface="Calibri"/>
              </a:rPr>
              <a:t> the outage and </a:t>
            </a:r>
            <a:r>
              <a:rPr sz="1700" b="1">
                <a:solidFill>
                  <a:srgbClr val="1A1A19"/>
                </a:solidFill>
                <a:latin typeface="Calibri"/>
              </a:rPr>
              <a:t>localise</a:t>
            </a:r>
            <a:r>
              <a:rPr sz="1700" b="0">
                <a:solidFill>
                  <a:srgbClr val="1A1A19"/>
                </a:solidFill>
                <a:latin typeface="Calibri"/>
              </a:rPr>
              <a:t> the faulty span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783080"/>
            <a:ext cx="5257800" cy="4206240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1F3A"/>
                </a:solidFill>
                <a:latin typeface="Calibri"/>
              </a:rPr>
              <a:t>What the network gives us every 2 minutes</a:t>
            </a:r>
          </a:p>
        </p:txBody>
      </p:sp>
      <p:sp>
        <p:nvSpPr>
          <p:cNvPr id="7" name="Oval 6"/>
          <p:cNvSpPr/>
          <p:nvPr/>
        </p:nvSpPr>
        <p:spPr>
          <a:xfrm>
            <a:off x="6675120" y="2560320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2578608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A1A19"/>
                </a:solidFill>
                <a:latin typeface="Calibri"/>
              </a:rPr>
              <a:t>Span loss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2852927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measured fibre attenuation</a:t>
            </a:r>
          </a:p>
        </p:txBody>
      </p:sp>
      <p:sp>
        <p:nvSpPr>
          <p:cNvPr id="10" name="Oval 9"/>
          <p:cNvSpPr/>
          <p:nvPr/>
        </p:nvSpPr>
        <p:spPr>
          <a:xfrm>
            <a:off x="6675120" y="3273552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329184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A1A19"/>
                </a:solidFill>
                <a:latin typeface="Calibri"/>
              </a:rPr>
              <a:t>Target span loss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356616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planned value</a:t>
            </a:r>
          </a:p>
        </p:txBody>
      </p:sp>
      <p:sp>
        <p:nvSpPr>
          <p:cNvPr id="13" name="Oval 12"/>
          <p:cNvSpPr/>
          <p:nvPr/>
        </p:nvSpPr>
        <p:spPr>
          <a:xfrm>
            <a:off x="6675120" y="3986783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4005071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A1A19"/>
                </a:solidFill>
                <a:latin typeface="Calibri"/>
              </a:rPr>
              <a:t>Amplifier gain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427939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measured</a:t>
            </a:r>
          </a:p>
        </p:txBody>
      </p:sp>
      <p:sp>
        <p:nvSpPr>
          <p:cNvPr id="16" name="Oval 15"/>
          <p:cNvSpPr/>
          <p:nvPr/>
        </p:nvSpPr>
        <p:spPr>
          <a:xfrm>
            <a:off x="6675120" y="4700016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4718303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A1A19"/>
                </a:solidFill>
                <a:latin typeface="Calibri"/>
              </a:rPr>
              <a:t>Target gain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4992624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planned value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544068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0B1F3A"/>
                </a:solidFill>
                <a:latin typeface="Calibri"/>
              </a:rPr>
              <a:t>× 19 spans × 20 links  →  can ML read link health from this?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52514E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B1F3A"/>
                </a:solidFill>
                <a:latin typeface="Cambria"/>
              </a:rPr>
              <a:t>Dataset: same shape as the paper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2514E"/>
                </a:solidFill>
                <a:latin typeface="Calibri"/>
              </a:rPr>
              <a:t>Live operator data is private, so we built a physics-based telemetry simulator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2606040" cy="1234440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47088"/>
            <a:ext cx="2240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2A78D6"/>
                </a:solidFill>
                <a:latin typeface="Cambria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05456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directional E2E links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64992" y="1737360"/>
            <a:ext cx="2606040" cy="1234440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47872" y="1847088"/>
            <a:ext cx="2240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2A78D6"/>
                </a:solidFill>
                <a:latin typeface="Cambria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7872" y="2505456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spans per link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1737360"/>
            <a:ext cx="2606040" cy="1234440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64224" y="1847088"/>
            <a:ext cx="2240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2A78D6"/>
                </a:solidFill>
                <a:latin typeface="Cambria"/>
              </a:rPr>
              <a:t>6,000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4224" y="2505456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samples (2-min bins)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97696" y="1737360"/>
            <a:ext cx="2606040" cy="1234440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80576" y="1847088"/>
            <a:ext cx="2240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EB6834"/>
                </a:solidFill>
                <a:latin typeface="Cambria"/>
              </a:rPr>
              <a:t>24.5%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80576" y="2505456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labelled not healthy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2461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B1F3A"/>
                </a:solidFill>
                <a:latin typeface="Calibri"/>
              </a:rPr>
              <a:t>Injected faults (with ground-truth span)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703320"/>
            <a:ext cx="548640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EB6834"/>
                </a:solidFill>
                <a:latin typeface="Calibri"/>
              </a:rPr>
              <a:t>▸  </a:t>
            </a:r>
            <a:r>
              <a:rPr sz="1500" b="1">
                <a:solidFill>
                  <a:srgbClr val="1A1A19"/>
                </a:solidFill>
                <a:latin typeface="Calibri"/>
              </a:rPr>
              <a:t>Fibre degradation</a:t>
            </a:r>
            <a:r>
              <a:rPr sz="1500" b="0">
                <a:solidFill>
                  <a:srgbClr val="1A1A19"/>
                </a:solidFill>
                <a:latin typeface="Calibri"/>
              </a:rPr>
              <a:t>  1–14 dB, ramps or steps (1538 bins)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EB6834"/>
                </a:solidFill>
                <a:latin typeface="Calibri"/>
              </a:rPr>
              <a:t>▸  </a:t>
            </a:r>
            <a:r>
              <a:rPr sz="1500" b="1">
                <a:solidFill>
                  <a:srgbClr val="1A1A19"/>
                </a:solidFill>
                <a:latin typeface="Calibri"/>
              </a:rPr>
              <a:t>Amplifier degradation</a:t>
            </a:r>
            <a:r>
              <a:rPr sz="1500" b="0">
                <a:solidFill>
                  <a:srgbClr val="1A1A19"/>
                </a:solidFill>
                <a:latin typeface="Calibri"/>
              </a:rPr>
              <a:t>  gain ↓, noise figure ↑ (1165)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EB6834"/>
                </a:solidFill>
                <a:latin typeface="Calibri"/>
              </a:rPr>
              <a:t>▸  </a:t>
            </a:r>
            <a:r>
              <a:rPr sz="1500" b="1">
                <a:solidFill>
                  <a:srgbClr val="1A1A19"/>
                </a:solidFill>
                <a:latin typeface="Calibri"/>
              </a:rPr>
              <a:t>Flapping connector</a:t>
            </a:r>
            <a:r>
              <a:rPr sz="1500" b="0">
                <a:solidFill>
                  <a:srgbClr val="1A1A19"/>
                </a:solidFill>
                <a:latin typeface="Calibri"/>
              </a:rPr>
              <a:t>  intermittent loss (368)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EB6834"/>
                </a:solidFill>
                <a:latin typeface="Calibri"/>
              </a:rPr>
              <a:t>▸  </a:t>
            </a:r>
            <a:r>
              <a:rPr sz="1500" b="1">
                <a:solidFill>
                  <a:srgbClr val="1A1A19"/>
                </a:solidFill>
                <a:latin typeface="Calibri"/>
              </a:rPr>
              <a:t>Fibre cut</a:t>
            </a:r>
            <a:r>
              <a:rPr sz="1500" b="0">
                <a:solidFill>
                  <a:srgbClr val="1A1A19"/>
                </a:solidFill>
                <a:latin typeface="Calibri"/>
              </a:rPr>
              <a:t>  +40 dB, no loss reading / LOS (224)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B1F3A"/>
                </a:solidFill>
                <a:latin typeface="Calibri"/>
              </a:rPr>
              <a:t>Labels from OSNR (as in the paper)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703320"/>
            <a:ext cx="539496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EB6834"/>
                </a:solidFill>
                <a:latin typeface="Calibri"/>
              </a:rPr>
              <a:t>▸  </a:t>
            </a:r>
            <a:r>
              <a:rPr sz="1500" b="0">
                <a:solidFill>
                  <a:srgbClr val="1A1A19"/>
                </a:solidFill>
                <a:latin typeface="Calibri"/>
              </a:rPr>
              <a:t>Generalised OSNR = ASE noise + GN-model nonlinear noise over all 19 amplifiers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EB6834"/>
                </a:solidFill>
                <a:latin typeface="Calibri"/>
              </a:rPr>
              <a:t>▸  </a:t>
            </a:r>
            <a:r>
              <a:rPr sz="1500" b="1">
                <a:solidFill>
                  <a:srgbClr val="EB6834"/>
                </a:solidFill>
                <a:latin typeface="Calibri"/>
              </a:rPr>
              <a:t>Not healthy</a:t>
            </a:r>
            <a:r>
              <a:rPr sz="1500" b="0">
                <a:solidFill>
                  <a:srgbClr val="1A1A19"/>
                </a:solidFill>
                <a:latin typeface="Calibri"/>
              </a:rPr>
              <a:t> if OSNR &lt; 17 dB, Rx power &gt; 7 dB low, or loss of signal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EB6834"/>
                </a:solidFill>
                <a:latin typeface="Calibri"/>
              </a:rPr>
              <a:t>▸  </a:t>
            </a:r>
            <a:r>
              <a:rPr sz="1500" b="0">
                <a:solidFill>
                  <a:srgbClr val="1A1A19"/>
                </a:solidFill>
                <a:latin typeface="Calibri"/>
              </a:rPr>
              <a:t>Realistic mess: 0.12 dB noise, ~2 % missing cells, missing bins, no data during cuts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EB6834"/>
                </a:solidFill>
                <a:latin typeface="Calibri"/>
              </a:rPr>
              <a:t>▸  </a:t>
            </a:r>
            <a:r>
              <a:rPr sz="1500" b="0">
                <a:solidFill>
                  <a:srgbClr val="1A1A19"/>
                </a:solidFill>
                <a:latin typeface="Calibri"/>
              </a:rPr>
              <a:t>75 / 25 split → 4500 train, 1500 test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52514E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B1F3A"/>
                </a:solidFill>
                <a:latin typeface="Cambria"/>
              </a:rPr>
              <a:t>Preprocessing &amp; feature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2514E"/>
                </a:solidFill>
                <a:latin typeface="Calibri"/>
              </a:rPr>
              <a:t>Paper §III: from 4 × 19 raw values to 2 features per link per bin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20240"/>
            <a:ext cx="2011680" cy="2103120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31520" y="2103120"/>
            <a:ext cx="502920" cy="502920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1691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1F3A"/>
                </a:solidFill>
                <a:latin typeface="Calibri"/>
              </a:rPr>
              <a:t>Fibre-cut fill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54680"/>
            <a:ext cx="1691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A19"/>
                </a:solidFill>
                <a:latin typeface="Calibri"/>
              </a:rPr>
              <a:t>LOS-flagged gaps ← target + 40 dB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78608" y="2834640"/>
            <a:ext cx="237744" cy="274320"/>
          </a:xfrm>
          <a:prstGeom prst="rightArrow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34640" y="1920240"/>
            <a:ext cx="2011680" cy="2103120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017520" y="2103120"/>
            <a:ext cx="502920" cy="502920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743200"/>
            <a:ext cx="1691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1F3A"/>
                </a:solidFill>
                <a:latin typeface="Calibri"/>
              </a:rPr>
              <a:t>Interpolate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3154680"/>
            <a:ext cx="1691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A19"/>
                </a:solidFill>
                <a:latin typeface="Calibri"/>
              </a:rPr>
              <a:t>linear in time, per link direction &amp; span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864608" y="2834640"/>
            <a:ext cx="237744" cy="274320"/>
          </a:xfrm>
          <a:prstGeom prst="rightArrow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0" y="1920240"/>
            <a:ext cx="2011680" cy="2103120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303520" y="2103120"/>
            <a:ext cx="502920" cy="502920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743200"/>
            <a:ext cx="1691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1F3A"/>
                </a:solidFill>
                <a:latin typeface="Calibri"/>
              </a:rPr>
              <a:t>Span diffs (Eq. 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3154680"/>
            <a:ext cx="1691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A19"/>
                </a:solidFill>
                <a:latin typeface="Calibri"/>
              </a:rPr>
              <a:t>x1 = gain − target gain
x2 = target loss − span loss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150608" y="2834640"/>
            <a:ext cx="237744" cy="274320"/>
          </a:xfrm>
          <a:prstGeom prst="rightArrow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406640" y="1920240"/>
            <a:ext cx="2011680" cy="2103120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589519" y="2103120"/>
            <a:ext cx="502920" cy="502920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19" y="2743200"/>
            <a:ext cx="1691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1F3A"/>
                </a:solidFill>
                <a:latin typeface="Calibri"/>
              </a:rPr>
              <a:t>Aggregate (Eq. 2)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19" y="3154680"/>
            <a:ext cx="1691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A19"/>
                </a:solidFill>
                <a:latin typeface="Calibri"/>
              </a:rPr>
              <a:t>X1 = Σ x1 ,  X2 = Σ x2
over 19 spans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436608" y="2834640"/>
            <a:ext cx="237744" cy="274320"/>
          </a:xfrm>
          <a:prstGeom prst="rightArrow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692640" y="1920240"/>
            <a:ext cx="2011680" cy="2103120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75519" y="2103120"/>
            <a:ext cx="502920" cy="502920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5519" y="2743200"/>
            <a:ext cx="1691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1F3A"/>
                </a:solidFill>
                <a:latin typeface="Calibri"/>
              </a:rPr>
              <a:t>Join labels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19" y="3154680"/>
            <a:ext cx="1691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A19"/>
                </a:solidFill>
                <a:latin typeface="Calibri"/>
              </a:rPr>
              <a:t>OSNR-based y ∈ {0, 1}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434840"/>
            <a:ext cx="11064240" cy="160020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61772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Why these two features?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502920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CADCFC"/>
                </a:solidFill>
                <a:latin typeface="Calibri"/>
              </a:rPr>
              <a:t>X1 + X2 is the net optical power the link has lost versus its design. A healthy link sits near (0, 0); fibre problems push X2 negative, amplifier problems push X1 negative. The features are independent of each link's absolute span lengths, so one model works for every link.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52514E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B1F3A"/>
                </a:solidFill>
                <a:latin typeface="Cambria"/>
              </a:rPr>
              <a:t>Three linear classifiers, written from scratch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2514E"/>
                </a:solidFill>
                <a:latin typeface="Calibri"/>
              </a:rPr>
              <a:t>NumPy implementations in linkfail/models.py, checked against scikit-learn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3520440" cy="3566160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59" y="2011680"/>
            <a:ext cx="365760" cy="36576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25880" y="1993392"/>
            <a:ext cx="2651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B1F3A"/>
                </a:solidFill>
                <a:latin typeface="Cambria"/>
              </a:rPr>
              <a:t>Logistic Regression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51460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52514E"/>
                </a:solidFill>
                <a:latin typeface="Calibri"/>
              </a:rPr>
              <a:t>DISCRIMINATIVE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926080"/>
            <a:ext cx="30632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>
                <a:solidFill>
                  <a:srgbClr val="EB6834"/>
                </a:solidFill>
                <a:latin typeface="Calibri"/>
              </a:rPr>
              <a:t>▸  </a:t>
            </a:r>
            <a:r>
              <a:rPr sz="1300" b="0">
                <a:solidFill>
                  <a:srgbClr val="1A1A19"/>
                </a:solidFill>
                <a:latin typeface="Calibri"/>
              </a:rPr>
              <a:t>J(θ) = −1/n Σ [y log h + (1−y) log(1−h)]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EB6834"/>
                </a:solidFill>
                <a:latin typeface="Calibri"/>
              </a:rPr>
              <a:t>▸  </a:t>
            </a:r>
            <a:r>
              <a:rPr sz="1300" b="0">
                <a:solidFill>
                  <a:srgbClr val="1A1A19"/>
                </a:solidFill>
                <a:latin typeface="Calibri"/>
              </a:rPr>
              <a:t>Newton's method: θ ← θ − H⁻¹∇J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EB6834"/>
                </a:solidFill>
                <a:latin typeface="Calibri"/>
              </a:rPr>
              <a:t>▸  </a:t>
            </a:r>
            <a:r>
              <a:rPr sz="1300" b="0">
                <a:solidFill>
                  <a:srgbClr val="1A1A19"/>
                </a:solidFill>
                <a:latin typeface="Calibri"/>
              </a:rPr>
              <a:t>Converged in 11 iterations, J = 0.0662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484632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A78D6"/>
                </a:solidFill>
                <a:latin typeface="Calibri"/>
              </a:rPr>
              <a:t>sklearn agreement: 99.8%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79" y="1783080"/>
            <a:ext cx="3520440" cy="3566160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71999" y="2011680"/>
            <a:ext cx="365760" cy="365760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74919" y="1993392"/>
            <a:ext cx="2651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B1F3A"/>
                </a:solidFill>
                <a:latin typeface="Cambria"/>
              </a:rPr>
              <a:t>GDA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1999" y="251460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52514E"/>
                </a:solidFill>
                <a:latin typeface="Calibri"/>
              </a:rPr>
              <a:t>GENERATIVE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1999" y="2926080"/>
            <a:ext cx="30632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>
                <a:solidFill>
                  <a:srgbClr val="EB6834"/>
                </a:solidFill>
                <a:latin typeface="Calibri"/>
              </a:rPr>
              <a:t>▸  </a:t>
            </a:r>
            <a:r>
              <a:rPr sz="1300" b="0">
                <a:solidFill>
                  <a:srgbClr val="1A1A19"/>
                </a:solidFill>
                <a:latin typeface="Calibri"/>
              </a:rPr>
              <a:t>y ~ Bernoulli(φ),  x | y ~ N(μ_y, Σ)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EB6834"/>
                </a:solidFill>
                <a:latin typeface="Calibri"/>
              </a:rPr>
              <a:t>▸  </a:t>
            </a:r>
            <a:r>
              <a:rPr sz="1300" b="0">
                <a:solidFill>
                  <a:srgbClr val="1A1A19"/>
                </a:solidFill>
                <a:latin typeface="Calibri"/>
              </a:rPr>
              <a:t>Closed-form MLE for φ, μ₀, μ₁, shared Σ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EB6834"/>
                </a:solidFill>
                <a:latin typeface="Calibri"/>
              </a:rPr>
              <a:t>▸  </a:t>
            </a:r>
            <a:r>
              <a:rPr sz="1300" b="0">
                <a:solidFill>
                  <a:srgbClr val="1A1A19"/>
                </a:solidFill>
                <a:latin typeface="Calibri"/>
              </a:rPr>
              <a:t>Shared Σ ⇒ linear boundary at p(y|x) = 0.5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1999" y="484632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B6834"/>
                </a:solidFill>
                <a:latin typeface="Calibri"/>
              </a:rPr>
              <a:t>sklearn agreement: 100.0%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19" y="1783080"/>
            <a:ext cx="3520440" cy="3566160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21040" y="2011680"/>
            <a:ext cx="365760" cy="365760"/>
          </a:xfrm>
          <a:prstGeom prst="ellipse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59" y="1993392"/>
            <a:ext cx="2651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B1F3A"/>
                </a:solidFill>
                <a:latin typeface="Cambria"/>
              </a:rPr>
              <a:t>Linear SVM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51460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52514E"/>
                </a:solidFill>
                <a:latin typeface="Calibri"/>
              </a:rPr>
              <a:t>MAX-MARGIN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926080"/>
            <a:ext cx="30632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>
                <a:solidFill>
                  <a:srgbClr val="EB6834"/>
                </a:solidFill>
                <a:latin typeface="Calibri"/>
              </a:rPr>
              <a:t>▸  </a:t>
            </a:r>
            <a:r>
              <a:rPr sz="1300" b="0">
                <a:solidFill>
                  <a:srgbClr val="1A1A19"/>
                </a:solidFill>
                <a:latin typeface="Calibri"/>
              </a:rPr>
              <a:t>min λ/2‖w‖² + 1/n Σ max(0, 1 − y(wᵀx + b))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EB6834"/>
                </a:solidFill>
                <a:latin typeface="Calibri"/>
              </a:rPr>
              <a:t>▸  </a:t>
            </a:r>
            <a:r>
              <a:rPr sz="1300" b="0">
                <a:solidFill>
                  <a:srgbClr val="1A1A19"/>
                </a:solidFill>
                <a:latin typeface="Calibri"/>
              </a:rPr>
              <a:t>Mini-batch Pegasos sub-gradient solver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EB6834"/>
                </a:solidFill>
                <a:latin typeface="Calibri"/>
              </a:rPr>
              <a:t>▸  </a:t>
            </a:r>
            <a:r>
              <a:rPr sz="1300" b="0">
                <a:solidFill>
                  <a:srgbClr val="1A1A19"/>
                </a:solidFill>
                <a:latin typeface="Calibri"/>
              </a:rPr>
              <a:t>Iterate averaging, 200 epochs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484632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BAF7A"/>
                </a:solidFill>
                <a:latin typeface="Calibri"/>
              </a:rPr>
              <a:t>sklearn agreement: 100.0%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2514E"/>
                </a:solidFill>
                <a:latin typeface="Calibri"/>
              </a:rPr>
              <a:t>All three take raw (X1, X2); LR and SVM standardise internally and report θ in raw dB units.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52514E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B1F3A"/>
                </a:solidFill>
                <a:latin typeface="Cambria"/>
              </a:rPr>
              <a:t>What the data looks like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2514E"/>
                </a:solidFill>
                <a:latin typeface="Calibri"/>
              </a:rPr>
              <a:t>Each dot is one link in one 2-minute bin</a:t>
            </a:r>
          </a:p>
        </p:txBody>
      </p:sp>
      <p:pic>
        <p:nvPicPr>
          <p:cNvPr id="4" name="Picture 3" descr="dataset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37360"/>
            <a:ext cx="7863840" cy="310588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0" y="1783080"/>
            <a:ext cx="329184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EB6834"/>
                </a:solidFill>
                <a:latin typeface="Calibri"/>
              </a:rPr>
              <a:t>▸  </a:t>
            </a:r>
            <a:r>
              <a:rPr sz="1500" b="1">
                <a:solidFill>
                  <a:srgbClr val="2A78D6"/>
                </a:solidFill>
                <a:latin typeface="Calibri"/>
              </a:rPr>
              <a:t>Healthy</a:t>
            </a:r>
            <a:r>
              <a:rPr sz="1500" b="0">
                <a:solidFill>
                  <a:srgbClr val="1A1A19"/>
                </a:solidFill>
                <a:latin typeface="Calibri"/>
              </a:rPr>
              <a:t> links cluster at (0, 0)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EB6834"/>
                </a:solidFill>
                <a:latin typeface="Calibri"/>
              </a:rPr>
              <a:t>▸  </a:t>
            </a:r>
            <a:r>
              <a:rPr sz="1500" b="1">
                <a:solidFill>
                  <a:srgbClr val="1A1A19"/>
                </a:solidFill>
                <a:latin typeface="Calibri"/>
              </a:rPr>
              <a:t>Amplifier faults</a:t>
            </a:r>
            <a:r>
              <a:rPr sz="1500" b="0">
                <a:solidFill>
                  <a:srgbClr val="1A1A19"/>
                </a:solidFill>
                <a:latin typeface="Calibri"/>
              </a:rPr>
              <a:t> spread left (X1 ≪ 0)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EB6834"/>
                </a:solidFill>
                <a:latin typeface="Calibri"/>
              </a:rPr>
              <a:t>▸  </a:t>
            </a:r>
            <a:r>
              <a:rPr sz="1500" b="1">
                <a:solidFill>
                  <a:srgbClr val="1A1A19"/>
                </a:solidFill>
                <a:latin typeface="Calibri"/>
              </a:rPr>
              <a:t>Fibre faults</a:t>
            </a:r>
            <a:r>
              <a:rPr sz="1500" b="0">
                <a:solidFill>
                  <a:srgbClr val="1A1A19"/>
                </a:solidFill>
                <a:latin typeface="Calibri"/>
              </a:rPr>
              <a:t> spread down (X2 ≪ 0)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EB6834"/>
                </a:solidFill>
                <a:latin typeface="Calibri"/>
              </a:rPr>
              <a:t>▸  </a:t>
            </a:r>
            <a:r>
              <a:rPr sz="1500" b="1">
                <a:solidFill>
                  <a:srgbClr val="1A1A19"/>
                </a:solidFill>
                <a:latin typeface="Calibri"/>
              </a:rPr>
              <a:t>Fibre cuts</a:t>
            </a:r>
            <a:r>
              <a:rPr sz="1500" b="0">
                <a:solidFill>
                  <a:srgbClr val="1A1A19"/>
                </a:solidFill>
                <a:latin typeface="Calibri"/>
              </a:rPr>
              <a:t> form a separate cluster at X2 ≈ −40 dB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EB6834"/>
                </a:solidFill>
                <a:latin typeface="Calibri"/>
              </a:rPr>
              <a:t>▸  </a:t>
            </a:r>
            <a:r>
              <a:rPr sz="1500" b="0">
                <a:solidFill>
                  <a:srgbClr val="1A1A19"/>
                </a:solidFill>
                <a:latin typeface="Calibri"/>
              </a:rPr>
              <a:t>The boundary is </a:t>
            </a:r>
            <a:r>
              <a:rPr sz="1500" b="1">
                <a:solidFill>
                  <a:srgbClr val="1A1A19"/>
                </a:solidFill>
                <a:latin typeface="Calibri"/>
              </a:rPr>
              <a:t>nearly linear</a:t>
            </a:r>
            <a:r>
              <a:rPr sz="1500" b="0">
                <a:solidFill>
                  <a:srgbClr val="1A1A19"/>
                </a:solidFill>
                <a:latin typeface="Calibri"/>
              </a:rPr>
              <a:t>, but points near it overlap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52514E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B1F3A"/>
                </a:solidFill>
                <a:latin typeface="Cambria"/>
              </a:rPr>
              <a:t>Results: decision boundaries on the test 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2514E"/>
                </a:solidFill>
                <a:latin typeface="Calibri"/>
              </a:rPr>
              <a:t>1500 held-out samples; compare with Fig. 4–5 of the paper</a:t>
            </a:r>
          </a:p>
        </p:txBody>
      </p:sp>
      <p:pic>
        <p:nvPicPr>
          <p:cNvPr id="4" name="Picture 3" descr="decision_bounda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600200"/>
            <a:ext cx="11338560" cy="335164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4983480"/>
            <a:ext cx="3566160" cy="1234440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93208"/>
            <a:ext cx="3200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A78D6"/>
                </a:solidFill>
                <a:latin typeface="Cambria"/>
              </a:rPr>
              <a:t>96.5%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751576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Logistic Regression  (paper: 99 %)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4983480"/>
            <a:ext cx="3566160" cy="1234440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98848" y="5093208"/>
            <a:ext cx="3200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EB6834"/>
                </a:solidFill>
                <a:latin typeface="Cambria"/>
              </a:rPr>
              <a:t>88.9%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98848" y="5751576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GDA  (paper: 97 %)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3296" y="4983480"/>
            <a:ext cx="3566160" cy="1234440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66175" y="5093208"/>
            <a:ext cx="3200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1BAF7A"/>
                </a:solidFill>
                <a:latin typeface="Cambria"/>
              </a:rPr>
              <a:t>96.6%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66175" y="5751576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Linear SVM  (paper: 99 %)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52514E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B1F3A"/>
                </a:solidFill>
                <a:latin typeface="Cambria"/>
              </a:rPr>
              <a:t>Beyond accuracy: robust on unseen links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2514E"/>
                </a:solidFill>
                <a:latin typeface="Calibri"/>
              </a:rPr>
              <a:t>Precision/recall on the test set, and cross-validation over the whole dataset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737360"/>
          <a:ext cx="110185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005840"/>
                <a:gridCol w="1143000"/>
                <a:gridCol w="1005840"/>
                <a:gridCol w="914400"/>
                <a:gridCol w="914400"/>
                <a:gridCol w="1737360"/>
                <a:gridCol w="1920240"/>
              </a:tblGrid>
              <a:tr h="4114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Classifier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Acc.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AUC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5-fold CV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Unseen routes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A1A19"/>
                          </a:solidFill>
                          <a:latin typeface="Calibri"/>
                        </a:rPr>
                        <a:t>Logistic Regression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9"/>
                          </a:solidFill>
                          <a:latin typeface="Calibri"/>
                        </a:rPr>
                        <a:t>96.5%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9"/>
                          </a:solidFill>
                          <a:latin typeface="Calibri"/>
                        </a:rPr>
                        <a:t>0.927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9"/>
                          </a:solidFill>
                          <a:latin typeface="Calibri"/>
                        </a:rPr>
                        <a:t>0.929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9"/>
                          </a:solidFill>
                          <a:latin typeface="Calibri"/>
                        </a:rPr>
                        <a:t>0.928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9"/>
                          </a:solidFill>
                          <a:latin typeface="Calibri"/>
                        </a:rPr>
                        <a:t>0.995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9"/>
                          </a:solidFill>
                          <a:latin typeface="Calibri"/>
                        </a:rPr>
                        <a:t>97.0% ± 0.7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9"/>
                          </a:solidFill>
                          <a:latin typeface="Calibri"/>
                        </a:rPr>
                        <a:t>96.9% ± 0.8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A1A19"/>
                          </a:solidFill>
                          <a:latin typeface="Calibri"/>
                        </a:rPr>
                        <a:t>GDA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9"/>
                          </a:solidFill>
                          <a:latin typeface="Calibri"/>
                        </a:rPr>
                        <a:t>88.9%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9"/>
                          </a:solidFill>
                          <a:latin typeface="Calibri"/>
                        </a:rPr>
                        <a:t>0.935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9"/>
                          </a:solidFill>
                          <a:latin typeface="Calibri"/>
                        </a:rPr>
                        <a:t>0.589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9"/>
                          </a:solidFill>
                          <a:latin typeface="Calibri"/>
                        </a:rPr>
                        <a:t>0.722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9"/>
                          </a:solidFill>
                          <a:latin typeface="Calibri"/>
                        </a:rPr>
                        <a:t>0.964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9"/>
                          </a:solidFill>
                          <a:latin typeface="Calibri"/>
                        </a:rPr>
                        <a:t>89.9% ± 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9"/>
                          </a:solidFill>
                          <a:latin typeface="Calibri"/>
                        </a:rPr>
                        <a:t>89.9% ± 2.9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A1A19"/>
                          </a:solidFill>
                          <a:latin typeface="Calibri"/>
                        </a:rPr>
                        <a:t>Linear SVM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9"/>
                          </a:solidFill>
                          <a:latin typeface="Calibri"/>
                        </a:rPr>
                        <a:t>96.6%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9"/>
                          </a:solidFill>
                          <a:latin typeface="Calibri"/>
                        </a:rPr>
                        <a:t>0.927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9"/>
                          </a:solidFill>
                          <a:latin typeface="Calibri"/>
                        </a:rPr>
                        <a:t>0.935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9"/>
                          </a:solidFill>
                          <a:latin typeface="Calibri"/>
                        </a:rPr>
                        <a:t>0.931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9"/>
                          </a:solidFill>
                          <a:latin typeface="Calibri"/>
                        </a:rPr>
                        <a:t>0.995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9"/>
                          </a:solidFill>
                          <a:latin typeface="Calibri"/>
                        </a:rPr>
                        <a:t>97.0% ± 0.6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9"/>
                          </a:solidFill>
                          <a:latin typeface="Calibri"/>
                        </a:rPr>
                        <a:t>96.9% ± 0.8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confusion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657600"/>
            <a:ext cx="8554130" cy="2514600"/>
          </a:xfrm>
          <a:prstGeom prst="rect">
            <a:avLst/>
          </a:prstGeom>
        </p:spPr>
      </p:pic>
      <p:pic>
        <p:nvPicPr>
          <p:cNvPr id="6" name="Picture 5" descr="roc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0" y="3611880"/>
            <a:ext cx="3053317" cy="2606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52514E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B1F3A"/>
                </a:solidFill>
                <a:latin typeface="Cambria"/>
              </a:rPr>
              <a:t>Why GDA trails — and why we're below 99 %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2514E"/>
                </a:solidFill>
                <a:latin typeface="Calibri"/>
              </a:rPr>
              <a:t>The ranking matches the paper; the gap has a physical cause</a:t>
            </a:r>
          </a:p>
        </p:txBody>
      </p:sp>
      <p:pic>
        <p:nvPicPr>
          <p:cNvPr id="4" name="Picture 3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011680"/>
            <a:ext cx="6263640" cy="264869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812280" y="1691640"/>
            <a:ext cx="4846320" cy="2057400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0" y="182880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EB6834"/>
                </a:solidFill>
                <a:latin typeface="Calibri"/>
              </a:rPr>
              <a:t>GDA's assumption breaks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0" y="2240280"/>
            <a:ext cx="4480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A1A19"/>
                </a:solidFill>
                <a:latin typeface="Calibri"/>
              </a:rPr>
              <a:t>'Not healthy' is not one Gaussian: amplifier, fibre and cut clusters stretch the shared Σ and tilt the boundary, so recall falls to 0.59.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12280" y="3931920"/>
            <a:ext cx="4846320" cy="2240280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0" y="406908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2A78D6"/>
                </a:solidFill>
                <a:latin typeface="Calibri"/>
              </a:rPr>
              <a:t>Σ over spans hides where the fault 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0" y="4480560"/>
            <a:ext cx="44805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A1A19"/>
                </a:solidFill>
                <a:latin typeface="Calibri"/>
              </a:rPr>
              <a:t>A 7 dB loss in span 1 degrades all 19 downstream amplifiers; the same loss in span 19 affects only one. The RBF SVM adds just 0.6 pts, while per-span features reach 97.4%.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52514E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B1F3A"/>
                </a:solidFill>
                <a:latin typeface="Cambria"/>
              </a:rPr>
              <a:t>Localisation, flapping &amp; early warning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2514E"/>
                </a:solidFill>
                <a:latin typeface="Calibri"/>
              </a:rPr>
              <a:t>Turning a red flag into a work order</a:t>
            </a:r>
          </a:p>
        </p:txBody>
      </p:sp>
      <p:pic>
        <p:nvPicPr>
          <p:cNvPr id="4" name="Picture 3" descr="localization_ex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6949440" cy="25487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343400"/>
            <a:ext cx="6766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A1A19"/>
                </a:solidFill>
                <a:latin typeface="Calibri"/>
              </a:rPr>
              <a:t>Rule: </a:t>
            </a:r>
            <a:r>
              <a:rPr sz="1400" b="0" i="0">
                <a:solidFill>
                  <a:srgbClr val="1A1A19"/>
                </a:solidFill>
                <a:latin typeface="Calibri"/>
              </a:rPr>
              <a:t>the faulty element is the span with the largest positive residual — loss residual means fibre, gain residual means amplifier, ≥ 25 dB means cut.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A1A19"/>
                </a:solidFill>
                <a:latin typeface="Calibri"/>
              </a:rPr>
              <a:t>Flapping: </a:t>
            </a:r>
            <a:r>
              <a:rPr sz="1400" b="0" i="0">
                <a:solidFill>
                  <a:srgbClr val="1A1A19"/>
                </a:solidFill>
                <a:latin typeface="Calibri"/>
              </a:rPr>
              <a:t>≥ 4 health toggles within 30 minutes.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1645920"/>
            <a:ext cx="3886200" cy="1234440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79" y="1755648"/>
            <a:ext cx="3520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AF7A"/>
                </a:solidFill>
                <a:latin typeface="Cambria"/>
              </a:rPr>
              <a:t>100.0%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2414016"/>
            <a:ext cx="3520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span + element correct (n = 341 detected failures)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0" y="3063240"/>
            <a:ext cx="3886200" cy="1234440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79" y="3172968"/>
            <a:ext cx="3520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2A78D6"/>
                </a:solidFill>
                <a:latin typeface="Cambria"/>
              </a:rPr>
              <a:t>9/9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3831336"/>
            <a:ext cx="3520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flapping events caught (7.1% false-alarm rate)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4480560"/>
            <a:ext cx="3886200" cy="1234440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79" y="4590288"/>
            <a:ext cx="3520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EB6834"/>
                </a:solidFill>
                <a:latin typeface="Cambria"/>
              </a:rPr>
              <a:t>18/18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5248656"/>
            <a:ext cx="3520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outages flagged in time (12 early, mean 8 min ahead)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Harder test, every fault incl. minor ones: 91.6% span accuracy · learnt multinomial-LR localiser: 99.7%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52514E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B1F3A"/>
                </a:solidFill>
                <a:latin typeface="Cambria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2514E"/>
                </a:solidFill>
                <a:latin typeface="Calibri"/>
              </a:rPr>
              <a:t>streamlit run app.py</a:t>
            </a:r>
          </a:p>
        </p:txBody>
      </p:sp>
      <p:pic>
        <p:nvPicPr>
          <p:cNvPr id="4" name="Picture 3" descr="link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554480"/>
            <a:ext cx="5669280" cy="3382511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48640" y="1691640"/>
            <a:ext cx="502920" cy="502920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67335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B1F3A"/>
                </a:solidFill>
                <a:latin typeface="Calibri"/>
              </a:rPr>
              <a:t>Fault injection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039112"/>
            <a:ext cx="4480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9"/>
                </a:solidFill>
                <a:latin typeface="Calibri"/>
              </a:rPr>
              <a:t>Pick a fault type, span and severity → see each model's verdict, the point on the decision boundaries, and the localised span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788920"/>
            <a:ext cx="502920" cy="502920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7063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B1F3A"/>
                </a:solidFill>
                <a:latin typeface="Calibri"/>
              </a:rPr>
              <a:t>Network replay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136391"/>
            <a:ext cx="4480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9"/>
                </a:solidFill>
                <a:latin typeface="Calibri"/>
              </a:rPr>
              <a:t>10 h of any link with out-of-fold predictions and flapping alarms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886200"/>
            <a:ext cx="502920" cy="502920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86791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B1F3A"/>
                </a:solidFill>
                <a:latin typeface="Calibri"/>
              </a:rPr>
              <a:t>Model performance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233672"/>
            <a:ext cx="4480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9"/>
                </a:solidFill>
                <a:latin typeface="Calibri"/>
              </a:rPr>
              <a:t>Metrics table and every figure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983479"/>
            <a:ext cx="502920" cy="502920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96519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B1F3A"/>
                </a:solidFill>
                <a:latin typeface="Calibri"/>
              </a:rPr>
              <a:t>CLI fallback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5330951"/>
            <a:ext cx="4480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9"/>
                </a:solidFill>
                <a:latin typeface="Calibri"/>
              </a:rPr>
              <a:t>python predict.py --snapshot examples/degraded_span7.csv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5212080"/>
            <a:ext cx="5669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Replay view: the model tracks a slow fibre degradation, a hard outage and a flapping amplifier.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52514E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B1F3A"/>
                </a:solidFill>
                <a:latin typeface="Cambria"/>
              </a:rPr>
              <a:t>Implementation &amp; repository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78992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2514E"/>
                </a:solidFill>
                <a:latin typeface="Calibri"/>
              </a:rPr>
              <a:t>One command reproduces every number in this deck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91640"/>
            <a:ext cx="5577840" cy="4160520"/>
          </a:xfrm>
          <a:prstGeom prst="roundRect">
            <a:avLst>
              <a:gd name="adj" fmla="val 4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512064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run_pipeline.py      one-command experiment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app.py               Streamlit live demo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predict.py           CLI inference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linkfail/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simulator.py       telemetry + link budget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preprocessing.py   Eq. 1 / Eq. 2 features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models.py          LR · GDA · SVM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localization.py    span + flapping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evaluation.py      metrics, lead time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pipeline.py        CV, extensions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tests/               12 pytest tests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docs/                write-up + slides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1783080"/>
            <a:ext cx="512064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EB6834"/>
                </a:solidFill>
                <a:latin typeface="Calibri"/>
              </a:rPr>
              <a:t>▸  </a:t>
            </a:r>
            <a:r>
              <a:rPr sz="1500" b="1">
                <a:solidFill>
                  <a:srgbClr val="1A1A19"/>
                </a:solidFill>
                <a:latin typeface="Calibri"/>
              </a:rPr>
              <a:t>Reproducible: </a:t>
            </a:r>
            <a:r>
              <a:rPr sz="1500" b="0">
                <a:solidFill>
                  <a:srgbClr val="1A1A19"/>
                </a:solidFill>
                <a:latin typeface="Calibri"/>
              </a:rPr>
              <a:t>fixed seed, whole pipeline in ~20 s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EB6834"/>
                </a:solidFill>
                <a:latin typeface="Calibri"/>
              </a:rPr>
              <a:t>▸  </a:t>
            </a:r>
            <a:r>
              <a:rPr sz="1500" b="1">
                <a:solidFill>
                  <a:srgbClr val="1A1A19"/>
                </a:solidFill>
                <a:latin typeface="Calibri"/>
              </a:rPr>
              <a:t>Validated: </a:t>
            </a:r>
            <a:r>
              <a:rPr sz="1500" b="0">
                <a:solidFill>
                  <a:srgbClr val="1A1A19"/>
                </a:solidFill>
                <a:latin typeface="Calibri"/>
              </a:rPr>
              <a:t>our models agree with scikit-learn on 99.8–100 % of test predictions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EB6834"/>
                </a:solidFill>
                <a:latin typeface="Calibri"/>
              </a:rPr>
              <a:t>▸  </a:t>
            </a:r>
            <a:r>
              <a:rPr sz="1500" b="1">
                <a:solidFill>
                  <a:srgbClr val="1A1A19"/>
                </a:solidFill>
                <a:latin typeface="Calibri"/>
              </a:rPr>
              <a:t>Tested: </a:t>
            </a:r>
            <a:r>
              <a:rPr sz="1500" b="0">
                <a:solidFill>
                  <a:srgbClr val="1A1A19"/>
                </a:solidFill>
                <a:latin typeface="Calibri"/>
              </a:rPr>
              <a:t>physics, interpolation, Eq. 2 identity, localisation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EB6834"/>
                </a:solidFill>
                <a:latin typeface="Calibri"/>
              </a:rPr>
              <a:t>▸  </a:t>
            </a:r>
            <a:r>
              <a:rPr sz="1500" b="1">
                <a:solidFill>
                  <a:srgbClr val="1A1A19"/>
                </a:solidFill>
                <a:latin typeface="Calibri"/>
              </a:rPr>
              <a:t>Honest evaluation: </a:t>
            </a:r>
            <a:r>
              <a:rPr sz="1500" b="0">
                <a:solidFill>
                  <a:srgbClr val="1A1A19"/>
                </a:solidFill>
                <a:latin typeface="Calibri"/>
              </a:rPr>
              <a:t>held-out test set, 5-fold CV, unseen-route CV, out-of-fold timeline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EB6834"/>
                </a:solidFill>
                <a:latin typeface="Calibri"/>
              </a:rPr>
              <a:t>▸  </a:t>
            </a:r>
            <a:r>
              <a:rPr sz="1500" b="1">
                <a:solidFill>
                  <a:srgbClr val="1A1A19"/>
                </a:solidFill>
                <a:latin typeface="Calibri"/>
              </a:rPr>
              <a:t>Contributions: </a:t>
            </a:r>
            <a:r>
              <a:rPr sz="1500" b="0">
                <a:solidFill>
                  <a:srgbClr val="1A1A19"/>
                </a:solidFill>
                <a:latin typeface="Calibri"/>
              </a:rPr>
              <a:t>J Sanjay Varma — simulator, preprocessing, localisation, demo · Kanak Pandey — models, evaluation, extensions,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52514E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Conclusions</a:t>
            </a:r>
          </a:p>
        </p:txBody>
      </p:sp>
      <p:sp>
        <p:nvSpPr>
          <p:cNvPr id="3" name="Oval 2"/>
          <p:cNvSpPr/>
          <p:nvPr/>
        </p:nvSpPr>
        <p:spPr>
          <a:xfrm>
            <a:off x="640080" y="1463040"/>
            <a:ext cx="502920" cy="502920"/>
          </a:xfrm>
          <a:prstGeom prst="ellipse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426464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mbria"/>
              </a:rPr>
              <a:t>Two telemetry features + a linear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865376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CADCFC"/>
                </a:solidFill>
                <a:latin typeface="Calibri"/>
              </a:rPr>
              <a:t>detect failing links at 96.6% accuracy, and are just as accurate on links never seen in training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51760"/>
            <a:ext cx="502920" cy="502920"/>
          </a:xfrm>
          <a:prstGeom prst="ellipse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615184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mbria"/>
              </a:rPr>
              <a:t>Paper's ranking reproduced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054096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CADCFC"/>
                </a:solidFill>
                <a:latin typeface="Calibri"/>
              </a:rPr>
              <a:t>LR ≈ Linear SVM &gt; GDA; GDA's Gaussian assumption fails on multi-modal faults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840480"/>
            <a:ext cx="502920" cy="502920"/>
          </a:xfrm>
          <a:prstGeom prst="ellipse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803904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mbria"/>
              </a:rPr>
              <a:t>Localisation is nearly free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242816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CADCFC"/>
                </a:solidFill>
                <a:latin typeface="Calibri"/>
              </a:rPr>
              <a:t>per-span residuals pinpoint the span and the element (fibre, amplifier or cut)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5029200"/>
            <a:ext cx="502920" cy="502920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992624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mbria"/>
              </a:rPr>
              <a:t>Future 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5431536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CADCFC"/>
                </a:solidFill>
                <a:latin typeface="Calibri"/>
              </a:rPr>
              <a:t>OSNR forecasting for longer lead time · position-aware features · real operator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172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Thank you — questions?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 i="0">
                <a:solidFill>
                  <a:srgbClr val="CADCFC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